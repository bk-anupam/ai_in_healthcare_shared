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F287616-24EA-6663-9A01-7825EAD14CE5}">
          <p14:sldIdLst>
            <p14:sldId id="256"/>
            <p14:sldId id="257"/>
            <p14:sldId id="258"/>
            <p14:sldId id="259"/>
            <p14:sldId id="260"/>
          </p14:sldIdLst>
        </p14:section>
        <p14:section name="Approach" id="{46252A30-292E-3043-7FD1-1DBE73793842}">
          <p14:sldIdLst>
            <p14:sldId id="261"/>
            <p14:sldId id="262"/>
            <p14:sldId id="263"/>
          </p14:sldIdLst>
        </p14:section>
        <p14:section name="Experiments" id="{4EB94517-8865-E1FB-5F5D-0ED751E4B5F5}">
          <p14:sldIdLst>
            <p14:sldId id="264"/>
            <p14:sldId id="265"/>
            <p14:sldId id="266"/>
            <p14:sldId id="267"/>
            <p14:sldId id="268"/>
            <p14:sldId id="269"/>
          </p14:sldIdLst>
        </p14:section>
        <p14:section name="Results" id="{B7E17D00-48C7-0128-9B4D-96AFB684B4A7}">
          <p14:sldIdLst>
            <p14:sldId id="270"/>
            <p14:sldId id="271"/>
            <p14:sldId id="272"/>
          </p14:sldIdLst>
        </p14:section>
        <p14:section name="Conclusion" id="{B6E59E61-2EF8-6F3E-AEFF-2063203AAC22}">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400" b="0" i="0" u="none" strike="noStrike">
                <a:solidFill>
                  <a:srgbClr val="12263A"/>
                </a:solidFill>
                <a:latin typeface="+mn-lt"/>
              </a:defRPr>
            </a:pPr>
            <a:r>
              <a:rPr lang="en-IN" sz="1400" b="0" i="0" u="none" strike="noStrike">
                <a:solidFill>
                  <a:srgbClr val="12263A"/>
                </a:solidFill>
                <a:latin typeface="+mn-lt"/>
              </a:rPr>
              <a:t>Training beats per class</a:t>
            </a:r>
          </a:p>
        </c:rich>
      </c:tx>
      <c:overlay val="0"/>
    </c:title>
    <c:autoTitleDeleted val="0"/>
    <c:plotArea>
      <c:layout/>
      <c:barChart>
        <c:barDir val="col"/>
        <c:grouping val="clustered"/>
        <c:varyColors val="0"/>
        <c:ser>
          <c:idx val="0"/>
          <c:order val="0"/>
          <c:tx>
            <c:strRef>
              <c:f>Sheet1!$B$1</c:f>
              <c:strCache>
                <c:ptCount val="1"/>
                <c:pt idx="0">
                  <c:v>Training beats</c:v>
                </c:pt>
              </c:strCache>
            </c:strRef>
          </c:tx>
          <c:spPr>
            <a:solidFill>
              <a:srgbClr val="0F8B8D"/>
            </a:solidFill>
            <a:effectLst/>
          </c:spPr>
          <c:invertIfNegative val="0"/>
          <c:dLbls>
            <c:numFmt formatCode="#,##0" sourceLinked="0"/>
            <c:spPr>
              <a:noFill/>
              <a:ln>
                <a:noFill/>
              </a:ln>
              <a:effectLst/>
            </c:spPr>
            <c:txPr>
              <a:bodyPr/>
              <a:lstStyle/>
              <a:p>
                <a:pPr>
                  <a:defRPr sz="1100" b="0" i="0" u="none" strike="noStrike">
                    <a:solidFill>
                      <a:srgbClr val="1B1F2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 (Normal)</c:v>
                </c:pt>
                <c:pt idx="1">
                  <c:v>S</c:v>
                </c:pt>
                <c:pt idx="2">
                  <c:v>V</c:v>
                </c:pt>
                <c:pt idx="3">
                  <c:v>F</c:v>
                </c:pt>
                <c:pt idx="4">
                  <c:v>Q</c:v>
                </c:pt>
              </c:strCache>
            </c:strRef>
          </c:cat>
          <c:val>
            <c:numRef>
              <c:f>Sheet1!$B$2:$B$6</c:f>
              <c:numCache>
                <c:formatCode>General</c:formatCode>
                <c:ptCount val="5"/>
                <c:pt idx="0">
                  <c:v>72471</c:v>
                </c:pt>
                <c:pt idx="1">
                  <c:v>2223</c:v>
                </c:pt>
                <c:pt idx="2">
                  <c:v>5788</c:v>
                </c:pt>
                <c:pt idx="3">
                  <c:v>641</c:v>
                </c:pt>
                <c:pt idx="4">
                  <c:v>6431</c:v>
                </c:pt>
              </c:numCache>
            </c:numRef>
          </c:val>
          <c:extLst>
            <c:ext xmlns:c16="http://schemas.microsoft.com/office/drawing/2014/chart" uri="{C3380CC4-5D6E-409C-BE32-E72D297353CC}">
              <c16:uniqueId val="{00000000-58E5-4C09-8EAE-099A89478C8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3"/>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3E8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56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400" b="0" i="0" u="none" strike="noStrike">
                <a:solidFill>
                  <a:srgbClr val="12263A"/>
                </a:solidFill>
                <a:latin typeface="+mn-lt"/>
              </a:defRPr>
            </a:pPr>
            <a:r>
              <a:rPr lang="en-US" sz="1400" b="0" i="0" u="none" strike="noStrike">
                <a:solidFill>
                  <a:srgbClr val="12263A"/>
                </a:solidFill>
                <a:latin typeface="+mn-lt"/>
              </a:rPr>
              <a:t>Loss weight per class (balanced)</a:t>
            </a:r>
          </a:p>
        </c:rich>
      </c:tx>
      <c:overlay val="0"/>
    </c:title>
    <c:autoTitleDeleted val="0"/>
    <c:plotArea>
      <c:layout/>
      <c:barChart>
        <c:barDir val="col"/>
        <c:grouping val="clustered"/>
        <c:varyColors val="0"/>
        <c:ser>
          <c:idx val="0"/>
          <c:order val="0"/>
          <c:tx>
            <c:strRef>
              <c:f>Sheet1!$B$1</c:f>
              <c:strCache>
                <c:ptCount val="1"/>
                <c:pt idx="0">
                  <c:v>Weight</c:v>
                </c:pt>
              </c:strCache>
            </c:strRef>
          </c:tx>
          <c:spPr>
            <a:solidFill>
              <a:srgbClr val="D9822B"/>
            </a:solidFill>
            <a:effectLst/>
          </c:spPr>
          <c:invertIfNegative val="0"/>
          <c:dLbls>
            <c:numFmt formatCode="0.00" sourceLinked="0"/>
            <c:spPr>
              <a:noFill/>
              <a:ln>
                <a:noFill/>
              </a:ln>
              <a:effectLst/>
            </c:spPr>
            <c:txPr>
              <a:bodyPr/>
              <a:lstStyle/>
              <a:p>
                <a:pPr>
                  <a:defRPr sz="1100" b="0" i="0" u="none" strike="noStrike">
                    <a:solidFill>
                      <a:srgbClr val="1B1F2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c:v>
                </c:pt>
                <c:pt idx="1">
                  <c:v>S</c:v>
                </c:pt>
                <c:pt idx="2">
                  <c:v>V</c:v>
                </c:pt>
                <c:pt idx="3">
                  <c:v>F</c:v>
                </c:pt>
                <c:pt idx="4">
                  <c:v>Q</c:v>
                </c:pt>
              </c:strCache>
            </c:strRef>
          </c:cat>
          <c:val>
            <c:numRef>
              <c:f>Sheet1!$B$2:$B$6</c:f>
              <c:numCache>
                <c:formatCode>General</c:formatCode>
                <c:ptCount val="5"/>
                <c:pt idx="0">
                  <c:v>0.24</c:v>
                </c:pt>
                <c:pt idx="1">
                  <c:v>7.88</c:v>
                </c:pt>
                <c:pt idx="2">
                  <c:v>3.03</c:v>
                </c:pt>
                <c:pt idx="3">
                  <c:v>27.31</c:v>
                </c:pt>
                <c:pt idx="4">
                  <c:v>2.72</c:v>
                </c:pt>
              </c:numCache>
            </c:numRef>
          </c:val>
          <c:extLst>
            <c:ext xmlns:c16="http://schemas.microsoft.com/office/drawing/2014/chart" uri="{C3380CC4-5D6E-409C-BE32-E72D297353CC}">
              <c16:uniqueId val="{00000000-B83A-4681-AD47-067368D6E39F}"/>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3"/>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3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56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400" b="0" i="0" u="none" strike="noStrike">
                <a:solidFill>
                  <a:srgbClr val="12263A"/>
                </a:solidFill>
                <a:latin typeface="+mn-lt"/>
              </a:defRPr>
            </a:pPr>
            <a:r>
              <a:rPr lang="en-IN" sz="1400" b="0" i="0" u="none" strike="noStrike">
                <a:solidFill>
                  <a:srgbClr val="12263A"/>
                </a:solidFill>
                <a:latin typeface="+mn-lt"/>
              </a:rPr>
              <a:t>Loss weight per class</a:t>
            </a:r>
          </a:p>
        </c:rich>
      </c:tx>
      <c:overlay val="0"/>
    </c:title>
    <c:autoTitleDeleted val="0"/>
    <c:plotArea>
      <c:layout/>
      <c:barChart>
        <c:barDir val="col"/>
        <c:grouping val="clustered"/>
        <c:varyColors val="0"/>
        <c:ser>
          <c:idx val="0"/>
          <c:order val="0"/>
          <c:tx>
            <c:strRef>
              <c:f>Sheet1!$B$1</c:f>
              <c:strCache>
                <c:ptCount val="1"/>
                <c:pt idx="0">
                  <c:v>Balanced (Step 2)</c:v>
                </c:pt>
              </c:strCache>
            </c:strRef>
          </c:tx>
          <c:spPr>
            <a:solidFill>
              <a:srgbClr val="D9822B"/>
            </a:solidFill>
            <a:effectLst/>
          </c:spPr>
          <c:invertIfNegative val="0"/>
          <c:dLbls>
            <c:numFmt formatCode="0.0" sourceLinked="0"/>
            <c:spPr>
              <a:noFill/>
              <a:ln>
                <a:noFill/>
              </a:ln>
              <a:effectLst/>
            </c:spPr>
            <c:txPr>
              <a:bodyPr/>
              <a:lstStyle/>
              <a:p>
                <a:pPr>
                  <a:defRPr sz="1100" b="0" i="0" u="none" strike="noStrike">
                    <a:solidFill>
                      <a:srgbClr val="1B1F2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c:v>
                </c:pt>
                <c:pt idx="1">
                  <c:v>S</c:v>
                </c:pt>
                <c:pt idx="2">
                  <c:v>V</c:v>
                </c:pt>
                <c:pt idx="3">
                  <c:v>F</c:v>
                </c:pt>
                <c:pt idx="4">
                  <c:v>Q</c:v>
                </c:pt>
              </c:strCache>
            </c:strRef>
          </c:cat>
          <c:val>
            <c:numRef>
              <c:f>Sheet1!$B$2:$B$6</c:f>
              <c:numCache>
                <c:formatCode>General</c:formatCode>
                <c:ptCount val="5"/>
                <c:pt idx="0">
                  <c:v>0.24</c:v>
                </c:pt>
                <c:pt idx="1">
                  <c:v>7.88</c:v>
                </c:pt>
                <c:pt idx="2">
                  <c:v>3.03</c:v>
                </c:pt>
                <c:pt idx="3">
                  <c:v>27.31</c:v>
                </c:pt>
                <c:pt idx="4">
                  <c:v>2.72</c:v>
                </c:pt>
              </c:numCache>
            </c:numRef>
          </c:val>
          <c:extLst>
            <c:ext xmlns:c16="http://schemas.microsoft.com/office/drawing/2014/chart" uri="{C3380CC4-5D6E-409C-BE32-E72D297353CC}">
              <c16:uniqueId val="{00000000-D945-4602-9933-EDCBA7EAE0CB}"/>
            </c:ext>
          </c:extLst>
        </c:ser>
        <c:ser>
          <c:idx val="1"/>
          <c:order val="1"/>
          <c:tx>
            <c:strRef>
              <c:f>Sheet1!$C$1</c:f>
              <c:strCache>
                <c:ptCount val="1"/>
                <c:pt idx="0">
                  <c:v>Square root (Step 4)</c:v>
                </c:pt>
              </c:strCache>
            </c:strRef>
          </c:tx>
          <c:spPr>
            <a:solidFill>
              <a:srgbClr val="0F8B8D"/>
            </a:solidFill>
            <a:effectLst/>
          </c:spPr>
          <c:invertIfNegative val="0"/>
          <c:dLbls>
            <c:numFmt formatCode="0.0" sourceLinked="0"/>
            <c:spPr>
              <a:noFill/>
              <a:ln>
                <a:noFill/>
              </a:ln>
              <a:effectLst/>
            </c:spPr>
            <c:txPr>
              <a:bodyPr/>
              <a:lstStyle/>
              <a:p>
                <a:pPr>
                  <a:defRPr sz="1100" b="0" i="0" u="none" strike="noStrike">
                    <a:solidFill>
                      <a:srgbClr val="1B1F2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c:v>
                </c:pt>
                <c:pt idx="1">
                  <c:v>S</c:v>
                </c:pt>
                <c:pt idx="2">
                  <c:v>V</c:v>
                </c:pt>
                <c:pt idx="3">
                  <c:v>F</c:v>
                </c:pt>
                <c:pt idx="4">
                  <c:v>Q</c:v>
                </c:pt>
              </c:strCache>
            </c:strRef>
          </c:cat>
          <c:val>
            <c:numRef>
              <c:f>Sheet1!$C$2:$C$6</c:f>
              <c:numCache>
                <c:formatCode>General</c:formatCode>
                <c:ptCount val="5"/>
                <c:pt idx="0">
                  <c:v>0.49</c:v>
                </c:pt>
                <c:pt idx="1">
                  <c:v>2.81</c:v>
                </c:pt>
                <c:pt idx="2">
                  <c:v>1.74</c:v>
                </c:pt>
                <c:pt idx="3">
                  <c:v>5.23</c:v>
                </c:pt>
                <c:pt idx="4">
                  <c:v>1.65</c:v>
                </c:pt>
              </c:numCache>
            </c:numRef>
          </c:val>
          <c:extLst>
            <c:ext xmlns:c16="http://schemas.microsoft.com/office/drawing/2014/chart" uri="{C3380CC4-5D6E-409C-BE32-E72D297353CC}">
              <c16:uniqueId val="{00000001-D945-4602-9933-EDCBA7EAE0CB}"/>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3"/>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3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5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Macro F1</c:v>
                </c:pt>
              </c:strCache>
            </c:strRef>
          </c:tx>
          <c:spPr>
            <a:solidFill>
              <a:srgbClr val="12263A"/>
            </a:solidFill>
            <a:effectLst/>
          </c:spPr>
          <c:invertIfNegative val="0"/>
          <c:dLbls>
            <c:numFmt formatCode="0.00" sourceLinked="0"/>
            <c:spPr>
              <a:noFill/>
              <a:ln>
                <a:noFill/>
              </a:ln>
              <a:effectLst/>
            </c:spPr>
            <c:txPr>
              <a:bodyPr/>
              <a:lstStyle/>
              <a:p>
                <a:pPr>
                  <a:defRPr sz="1100" b="0" i="0" u="none" strike="noStrike">
                    <a:solidFill>
                      <a:srgbClr val="1B1F2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 Simple CNN</c:v>
                </c:pt>
                <c:pt idx="1">
                  <c:v>2. + Class weights</c:v>
                </c:pt>
                <c:pt idx="2">
                  <c:v>3. CNN+BiLSTM+Att</c:v>
                </c:pt>
                <c:pt idx="3">
                  <c:v>4. + √ weights</c:v>
                </c:pt>
                <c:pt idx="4">
                  <c:v>5. 1D ResNet</c:v>
                </c:pt>
              </c:strCache>
            </c:strRef>
          </c:cat>
          <c:val>
            <c:numRef>
              <c:f>Sheet1!$B$2:$B$6</c:f>
              <c:numCache>
                <c:formatCode>General</c:formatCode>
                <c:ptCount val="5"/>
                <c:pt idx="0">
                  <c:v>0.77600000000000002</c:v>
                </c:pt>
                <c:pt idx="1">
                  <c:v>0.66100000000000003</c:v>
                </c:pt>
                <c:pt idx="2">
                  <c:v>0.88700000000000001</c:v>
                </c:pt>
                <c:pt idx="3">
                  <c:v>0.88300000000000001</c:v>
                </c:pt>
                <c:pt idx="4">
                  <c:v>0.92</c:v>
                </c:pt>
              </c:numCache>
            </c:numRef>
          </c:val>
          <c:extLst>
            <c:ext xmlns:c16="http://schemas.microsoft.com/office/drawing/2014/chart" uri="{C3380CC4-5D6E-409C-BE32-E72D297353CC}">
              <c16:uniqueId val="{00000000-B78C-45B7-B43F-FA17D7E9AC29}"/>
            </c:ext>
          </c:extLst>
        </c:ser>
        <c:ser>
          <c:idx val="1"/>
          <c:order val="1"/>
          <c:tx>
            <c:strRef>
              <c:f>Sheet1!$C$1</c:f>
              <c:strCache>
                <c:ptCount val="1"/>
                <c:pt idx="0">
                  <c:v>Recall S</c:v>
                </c:pt>
              </c:strCache>
            </c:strRef>
          </c:tx>
          <c:spPr>
            <a:solidFill>
              <a:srgbClr val="0F8B8D"/>
            </a:solidFill>
            <a:effectLst/>
          </c:spPr>
          <c:invertIfNegative val="0"/>
          <c:dLbls>
            <c:numFmt formatCode="0.00" sourceLinked="0"/>
            <c:spPr>
              <a:noFill/>
              <a:ln>
                <a:noFill/>
              </a:ln>
              <a:effectLst/>
            </c:spPr>
            <c:txPr>
              <a:bodyPr/>
              <a:lstStyle/>
              <a:p>
                <a:pPr>
                  <a:defRPr sz="1100" b="0" i="0" u="none" strike="noStrike">
                    <a:solidFill>
                      <a:srgbClr val="1B1F2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 Simple CNN</c:v>
                </c:pt>
                <c:pt idx="1">
                  <c:v>2. + Class weights</c:v>
                </c:pt>
                <c:pt idx="2">
                  <c:v>3. CNN+BiLSTM+Att</c:v>
                </c:pt>
                <c:pt idx="3">
                  <c:v>4. + √ weights</c:v>
                </c:pt>
                <c:pt idx="4">
                  <c:v>5. 1D ResNet</c:v>
                </c:pt>
              </c:strCache>
            </c:strRef>
          </c:cat>
          <c:val>
            <c:numRef>
              <c:f>Sheet1!$C$2:$C$6</c:f>
              <c:numCache>
                <c:formatCode>General</c:formatCode>
                <c:ptCount val="5"/>
                <c:pt idx="0">
                  <c:v>0.44</c:v>
                </c:pt>
                <c:pt idx="1">
                  <c:v>0.73</c:v>
                </c:pt>
                <c:pt idx="2">
                  <c:v>0.66</c:v>
                </c:pt>
                <c:pt idx="3">
                  <c:v>0.78</c:v>
                </c:pt>
                <c:pt idx="4">
                  <c:v>0.84</c:v>
                </c:pt>
              </c:numCache>
            </c:numRef>
          </c:val>
          <c:extLst>
            <c:ext xmlns:c16="http://schemas.microsoft.com/office/drawing/2014/chart" uri="{C3380CC4-5D6E-409C-BE32-E72D297353CC}">
              <c16:uniqueId val="{00000001-B78C-45B7-B43F-FA17D7E9AC29}"/>
            </c:ext>
          </c:extLst>
        </c:ser>
        <c:ser>
          <c:idx val="2"/>
          <c:order val="2"/>
          <c:tx>
            <c:strRef>
              <c:f>Sheet1!$D$1</c:f>
              <c:strCache>
                <c:ptCount val="1"/>
                <c:pt idx="0">
                  <c:v>Recall F</c:v>
                </c:pt>
              </c:strCache>
            </c:strRef>
          </c:tx>
          <c:spPr>
            <a:solidFill>
              <a:srgbClr val="D9822B"/>
            </a:solidFill>
            <a:effectLst/>
          </c:spPr>
          <c:invertIfNegative val="0"/>
          <c:dLbls>
            <c:numFmt formatCode="0.00" sourceLinked="0"/>
            <c:spPr>
              <a:noFill/>
              <a:ln>
                <a:noFill/>
              </a:ln>
              <a:effectLst/>
            </c:spPr>
            <c:txPr>
              <a:bodyPr/>
              <a:lstStyle/>
              <a:p>
                <a:pPr>
                  <a:defRPr sz="1100" b="0" i="0" u="none" strike="noStrike">
                    <a:solidFill>
                      <a:srgbClr val="1B1F2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 Simple CNN</c:v>
                </c:pt>
                <c:pt idx="1">
                  <c:v>2. + Class weights</c:v>
                </c:pt>
                <c:pt idx="2">
                  <c:v>3. CNN+BiLSTM+Att</c:v>
                </c:pt>
                <c:pt idx="3">
                  <c:v>4. + √ weights</c:v>
                </c:pt>
                <c:pt idx="4">
                  <c:v>5. 1D ResNet</c:v>
                </c:pt>
              </c:strCache>
            </c:strRef>
          </c:cat>
          <c:val>
            <c:numRef>
              <c:f>Sheet1!$D$2:$D$6</c:f>
              <c:numCache>
                <c:formatCode>General</c:formatCode>
                <c:ptCount val="5"/>
                <c:pt idx="0">
                  <c:v>0.39</c:v>
                </c:pt>
                <c:pt idx="1">
                  <c:v>0.84</c:v>
                </c:pt>
                <c:pt idx="2">
                  <c:v>0.71</c:v>
                </c:pt>
                <c:pt idx="3">
                  <c:v>0.8</c:v>
                </c:pt>
                <c:pt idx="4">
                  <c:v>0.86</c:v>
                </c:pt>
              </c:numCache>
            </c:numRef>
          </c:val>
          <c:extLst>
            <c:ext xmlns:c16="http://schemas.microsoft.com/office/drawing/2014/chart" uri="{C3380CC4-5D6E-409C-BE32-E72D297353CC}">
              <c16:uniqueId val="{00000002-B78C-45B7-B43F-FA17D7E9AC29}"/>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3"/>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9525" cap="flat">
              <a:solidFill>
                <a:srgbClr val="E3E8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563"/>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8071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task: we classify single ECG heartbeats into 5 types using deep learning. The key idea of this work is that we did not jump to one model; we improved step by step, and every change is backed by numbers.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ECG records the heart's electrical activity. The dataset already cut it into single beats. Each beat is 187 numbers. Our job: look at one beat and say which of 5 types it is. The picture shows one example per class: you can see that shapes and spike positions differ.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already clean: beats are cut, scaled 0 to 1, and padded to 187 points. 87 thousand training beats and 22 thousand test beats. The test set is used only at the very end. Look at the share column: S is only 2.5 percent and F only 0.7 percent.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fact about the data. 83 percent of the beats are Normal. A model can look very accurate just by guessing Normal. That is why we need better metrics, shown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answers: did we catch the sick beats? Precision answers: when we raise an alarm, is it real? F1 balances both. Macro F1 averages F1 over the 5 classes, so a rare class like F counts just as much as Normal. This is our main metric.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followed a simple scientific loop: build, measure, find the weakness, change only one thing, compare. Because only one thing changes, we know what caused each improvement. Everything else stayed fixed. The fixed seed matters: without it, the same model gave 0.799 once and 0.777 the next time.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architectures. The CNN looks at small windows of the signal. The CNN plus BiLSTM plus attention first finds shapes, then reads them in order, then focuses on the important part. The ResNet is a much deeper CNN; skip connections make the deep network trainable.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journey. Each step answers one question, and the question comes from the weakness of the previous step.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is a small CNN. Accuracy looks great at 96 percent, but macro F1 is only 0.776. The confusion matrix shows why: half of the S beats and 60 percent of the F beats are called Normal. The model learned that when in doubt, say Normal, because most training beats are Normal.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changed only the loss: mistakes on rare classes cost more. Recall of S and F went up a lot, but the model over-corrected: it started calling Normal beats abnormal, so precision fell to about 0.2 and macro F1 dropped. This failed experiment taught us the trade-off between recall and precision.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changed only the model. The CNN finds shapes, the BiLSTM reads them in order, and attention focuses on the useful part. The key insight is timing: in the Normal beat the next spike comes at about step 100, in the S beat at about step 47. A shallow CNN cannot measure that distance, a sequence model can. Macro F1 jumped from 0.776 to 0.887 with high precision.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attention plot. Be honest here: for most classes attention points at the very start. That is not a bug. In a bidirectional LSTM the backward direction has already read the whole beat when it reaches step 0, so that position is a summary. The S beat is the interesting case: attention covers the gap between the spikes, which is where an early beat is visible.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took the square root of the weights, so F costs about 5 times instead of 27 times. Recall of S and F went up clearly while precision only dropped moderately. We changed two things here, so we checked: 30 epochs without weights gave the same F1 and did not raise recall. So the recall gain comes from the softer weights.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tried a deep residual CNN, the same idea as the original paper for this dataset. The diagram shows one residual block: two conv layers, and then the input x is added back to the output. This skip connection lets the learning signal flow through many layers. Result: best macro F1 of 0.920, and both recall and precision of S and F went up, with fewer parameters than Step 4.</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the whole story. Step 1 is the baseline. Step 2 raised recall but hurt F1. Step 3 was the big jump. Step 4 raised recall at the same F1. Step 5 is best overall.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results as a table, with precision and training time added. Notice step 2: high F recall but precision of only 0.21, so we should not pick it. Step 5 has the best balance.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final model. The confusion matrix diagonal is 0.84 or higher for every class. Only 14 percent of S beats are still called Normal, compared with more than half in the baseline.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question from our instructor: CNN or LSTM? A shallow CNN loses to the LSTM, because it cannot see timing. But a deep residual CNN wins, because it sees the whole beat too. For a single heartbeat, a deep CNN is enough.</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lessons. One: accuracy can lie on imbalanced data. Two: timing between beats is a key signal. Three: deep networks need skip connections. Four: handle imbalance gently, not with extreme weights.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open about limits: each model was trained once, so tiny differences may be noise. We only used one dataset. Next steps would be augmentation for the rare classes, a learning-rate scheduler, and testing on the PTB dataset.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step by step we went from macro F1 0.776 to 0.920. Thank the audience and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2263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863840" cy="1554480"/>
          </a:xfrm>
          <a:prstGeom prst="rect">
            <a:avLst/>
          </a:prstGeom>
          <a:noFill/>
          <a:ln/>
        </p:spPr>
        <p:txBody>
          <a:bodyPr wrap="square" rtlCol="0"/>
          <a:lstStyle>
            <a:lvl1pPr marL="0" indent="0" algn="l">
              <a:buNone/>
              <a:defRPr lang="en-US" sz="4400" b="1" dirty="0">
                <a:solidFill>
                  <a:srgbClr val="FFFFFF"/>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566160"/>
            <a:ext cx="7863840" cy="1188720"/>
          </a:xfrm>
          <a:prstGeom prst="rect">
            <a:avLst/>
          </a:prstGeom>
          <a:noFill/>
          <a:ln/>
        </p:spPr>
        <p:txBody>
          <a:bodyPr wrap="square" rtlCol="0"/>
          <a:lstStyle>
            <a:lvl1pPr marL="0" indent="0" algn="l">
              <a:buNone/>
              <a:defRPr lang="en-US" sz="2000" dirty="0">
                <a:solidFill>
                  <a:srgbClr val="CADCFC"/>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buNone/>
              <a:defRPr lang="en-US" sz="3200" b="1" dirty="0">
                <a:solidFill>
                  <a:srgbClr val="12263A"/>
                </a:solidFill>
              </a:defRPr>
            </a:lvl1pPr>
          </a:lstStyle>
          <a:p>
            <a:pPr marL="0" indent="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6C7A89"/>
                </a:solidFill>
              </a:rPr>
              <a:t>ECG Heartbeat Classification  |  Lab Task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C7A89"/>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C7A89"/>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chart" Target="../charts/char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chart" Target="../charts/chart3.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1.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863840" cy="1554480"/>
          </a:xfrm>
          <a:prstGeom prst="rect">
            <a:avLst/>
          </a:prstGeom>
          <a:noFill/>
          <a:ln/>
        </p:spPr>
        <p:txBody>
          <a:bodyPr wrap="square" lIns="0" tIns="0" rIns="0" bIns="0" rtlCol="0" anchor="b"/>
          <a:lstStyle/>
          <a:p>
            <a:pPr marL="0" indent="0" algn="l">
              <a:buNone/>
            </a:pPr>
            <a:r>
              <a:rPr lang="en-US" sz="4400" b="1" dirty="0">
                <a:solidFill>
                  <a:srgbClr val="FFFFFF"/>
                </a:solidFill>
              </a:rPr>
              <a:t>ECG Heartbeat Classification</a:t>
            </a:r>
            <a:endParaRPr lang="en-US" sz="4400" dirty="0"/>
          </a:p>
        </p:txBody>
      </p:sp>
      <p:sp>
        <p:nvSpPr>
          <p:cNvPr id="3" name="Text 0"/>
          <p:cNvSpPr>
            <a:spLocks noGrp="1"/>
          </p:cNvSpPr>
          <p:nvPr>
            <p:ph type="body" idx="101" hasCustomPrompt="1"/>
          </p:nvPr>
        </p:nvSpPr>
        <p:spPr>
          <a:xfrm>
            <a:off x="731520" y="3566160"/>
            <a:ext cx="7863840" cy="1188720"/>
          </a:xfrm>
          <a:prstGeom prst="rect">
            <a:avLst/>
          </a:prstGeom>
          <a:noFill/>
          <a:ln/>
        </p:spPr>
        <p:txBody>
          <a:bodyPr wrap="square" lIns="0" tIns="0" rIns="0" bIns="0" rtlCol="0" anchor="t"/>
          <a:lstStyle/>
          <a:p>
            <a:pPr marL="0" indent="0" algn="l">
              <a:buNone/>
            </a:pPr>
            <a:r>
              <a:rPr lang="en-US" sz="2000" dirty="0">
                <a:solidFill>
                  <a:srgbClr val="CADCFC"/>
                </a:solidFill>
              </a:rPr>
              <a:t>A step-by-step deep learning study: from a simple 1D CNN to a 1D ResNet</a:t>
            </a:r>
            <a:endParaRPr lang="en-US" sz="2000" dirty="0"/>
          </a:p>
        </p:txBody>
      </p:sp>
      <p:sp>
        <p:nvSpPr>
          <p:cNvPr id="4" name="Text 2"/>
          <p:cNvSpPr txBox="1"/>
          <p:nvPr/>
        </p:nvSpPr>
        <p:spPr>
          <a:xfrm>
            <a:off x="731520" y="5120640"/>
            <a:ext cx="7863840" cy="365760"/>
          </a:xfrm>
          <a:prstGeom prst="rect">
            <a:avLst/>
          </a:prstGeom>
          <a:noFill/>
          <a:ln/>
        </p:spPr>
        <p:txBody>
          <a:bodyPr wrap="square" lIns="0" tIns="0" rIns="0" bIns="0" rtlCol="0" anchor="t"/>
          <a:lstStyle/>
          <a:p>
            <a:pPr marL="0" indent="0">
              <a:buNone/>
            </a:pPr>
            <a:r>
              <a:rPr lang="en-US" sz="1400" dirty="0">
                <a:solidFill>
                  <a:srgbClr val="CADCFC"/>
                </a:solidFill>
              </a:rPr>
              <a:t>Healthcare AI Lab Task  |  MIT-BIH Arrhythmia dataset (Kaggle)</a:t>
            </a:r>
            <a:endParaRPr lang="en-US" sz="1400" dirty="0"/>
          </a:p>
        </p:txBody>
      </p:sp>
      <p:sp>
        <p:nvSpPr>
          <p:cNvPr id="5" name="Shape 3"/>
          <p:cNvSpPr/>
          <p:nvPr/>
        </p:nvSpPr>
        <p:spPr>
          <a:xfrm>
            <a:off x="9052560" y="1828800"/>
            <a:ext cx="2377440" cy="2377440"/>
          </a:xfrm>
          <a:prstGeom prst="ellipse">
            <a:avLst/>
          </a:prstGeom>
          <a:solidFill>
            <a:schemeClr val="accent2"/>
          </a:solidFill>
          <a:ln w="12700">
            <a:solidFill>
              <a:schemeClr val="accent2"/>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9555480" y="233172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rgbClr val="12263A"/>
                </a:solidFill>
              </a:rPr>
              <a:t>What is the problem?</a:t>
            </a:r>
            <a:endParaRPr lang="en-US" sz="3200" dirty="0"/>
          </a:p>
        </p:txBody>
      </p:sp>
      <p:sp>
        <p:nvSpPr>
          <p:cNvPr id="3" name="Shape 1"/>
          <p:cNvSpPr/>
          <p:nvPr/>
        </p:nvSpPr>
        <p:spPr>
          <a:xfrm>
            <a:off x="548640" y="1371600"/>
            <a:ext cx="640080" cy="640080"/>
          </a:xfrm>
          <a:prstGeom prst="ellipse">
            <a:avLst/>
          </a:prstGeom>
          <a:solidFill>
            <a:schemeClr val="accent1"/>
          </a:solidFill>
          <a:ln w="12700">
            <a:solidFill>
              <a:schemeClr val="accent1"/>
            </a:solidFill>
            <a:prstDash val="solid"/>
          </a:ln>
        </p:spPr>
        <p:txBody>
          <a:bodyPr/>
          <a:lstStyle/>
          <a:p>
            <a:endParaRPr lang="en-IN"/>
          </a:p>
        </p:txBody>
      </p:sp>
      <p:pic>
        <p:nvPicPr>
          <p:cNvPr id="4" name="Image 0" descr="preencoded.png"/>
          <p:cNvPicPr>
            <a:picLocks noChangeAspect="1"/>
          </p:cNvPicPr>
          <p:nvPr/>
        </p:nvPicPr>
        <p:blipFill>
          <a:blip r:embed="rId3"/>
          <a:stretch>
            <a:fillRect/>
          </a:stretch>
        </p:blipFill>
        <p:spPr>
          <a:xfrm>
            <a:off x="708660" y="1531620"/>
            <a:ext cx="320040" cy="320040"/>
          </a:xfrm>
          <a:prstGeom prst="rect">
            <a:avLst/>
          </a:prstGeom>
        </p:spPr>
      </p:pic>
      <p:sp>
        <p:nvSpPr>
          <p:cNvPr id="5" name="Text 2"/>
          <p:cNvSpPr txBox="1"/>
          <p:nvPr/>
        </p:nvSpPr>
        <p:spPr>
          <a:xfrm>
            <a:off x="1371600" y="1371600"/>
            <a:ext cx="2651760" cy="640080"/>
          </a:xfrm>
          <a:prstGeom prst="rect">
            <a:avLst/>
          </a:prstGeom>
          <a:noFill/>
          <a:ln/>
        </p:spPr>
        <p:txBody>
          <a:bodyPr wrap="square" lIns="0" tIns="0" rIns="0" bIns="0" rtlCol="0" anchor="ctr"/>
          <a:lstStyle/>
          <a:p>
            <a:pPr marL="0" indent="0">
              <a:buNone/>
            </a:pPr>
            <a:r>
              <a:rPr lang="en-US" sz="1800" b="1" dirty="0">
                <a:solidFill>
                  <a:schemeClr val="tx2"/>
                </a:solidFill>
              </a:rPr>
              <a:t>Input</a:t>
            </a:r>
            <a:endParaRPr lang="en-US" sz="1800" dirty="0"/>
          </a:p>
        </p:txBody>
      </p:sp>
      <p:sp>
        <p:nvSpPr>
          <p:cNvPr id="6" name="Text 3"/>
          <p:cNvSpPr txBox="1"/>
          <p:nvPr/>
        </p:nvSpPr>
        <p:spPr>
          <a:xfrm>
            <a:off x="548640" y="2148840"/>
            <a:ext cx="3474720" cy="1097280"/>
          </a:xfrm>
          <a:prstGeom prst="rect">
            <a:avLst/>
          </a:prstGeom>
          <a:noFill/>
          <a:ln/>
        </p:spPr>
        <p:txBody>
          <a:bodyPr wrap="square" lIns="0" tIns="0" rIns="0" bIns="0" rtlCol="0" anchor="t"/>
          <a:lstStyle/>
          <a:p>
            <a:pPr marL="0" indent="0">
              <a:buNone/>
            </a:pPr>
            <a:r>
              <a:rPr lang="en-US" sz="1400" dirty="0">
                <a:solidFill>
                  <a:schemeClr val="tx1"/>
                </a:solidFill>
              </a:rPr>
              <a:t>One heartbeat from an ECG signal, stored as 187 numbers (signal height over time).</a:t>
            </a:r>
            <a:endParaRPr lang="en-US" sz="1400" dirty="0"/>
          </a:p>
        </p:txBody>
      </p:sp>
      <p:sp>
        <p:nvSpPr>
          <p:cNvPr id="7" name="Shape 4"/>
          <p:cNvSpPr/>
          <p:nvPr/>
        </p:nvSpPr>
        <p:spPr>
          <a:xfrm>
            <a:off x="4297680" y="1371600"/>
            <a:ext cx="640080" cy="640080"/>
          </a:xfrm>
          <a:prstGeom prst="ellipse">
            <a:avLst/>
          </a:prstGeom>
          <a:solidFill>
            <a:schemeClr val="accent1"/>
          </a:solidFill>
          <a:ln w="12700">
            <a:solidFill>
              <a:schemeClr val="accent1"/>
            </a:solidFill>
            <a:prstDash val="solid"/>
          </a:ln>
        </p:spPr>
        <p:txBody>
          <a:bodyPr/>
          <a:lstStyle/>
          <a:p>
            <a:endParaRPr lang="en-IN"/>
          </a:p>
        </p:txBody>
      </p:sp>
      <p:pic>
        <p:nvPicPr>
          <p:cNvPr id="8" name="Image 1" descr="preencoded.png"/>
          <p:cNvPicPr>
            <a:picLocks noChangeAspect="1"/>
          </p:cNvPicPr>
          <p:nvPr/>
        </p:nvPicPr>
        <p:blipFill>
          <a:blip r:embed="rId4"/>
          <a:stretch>
            <a:fillRect/>
          </a:stretch>
        </p:blipFill>
        <p:spPr>
          <a:xfrm>
            <a:off x="4457700" y="1531620"/>
            <a:ext cx="320040" cy="320040"/>
          </a:xfrm>
          <a:prstGeom prst="rect">
            <a:avLst/>
          </a:prstGeom>
        </p:spPr>
      </p:pic>
      <p:sp>
        <p:nvSpPr>
          <p:cNvPr id="9" name="Text 5"/>
          <p:cNvSpPr txBox="1"/>
          <p:nvPr/>
        </p:nvSpPr>
        <p:spPr>
          <a:xfrm>
            <a:off x="5120640" y="1371600"/>
            <a:ext cx="2651760" cy="640080"/>
          </a:xfrm>
          <a:prstGeom prst="rect">
            <a:avLst/>
          </a:prstGeom>
          <a:noFill/>
          <a:ln/>
        </p:spPr>
        <p:txBody>
          <a:bodyPr wrap="square" lIns="0" tIns="0" rIns="0" bIns="0" rtlCol="0" anchor="ctr"/>
          <a:lstStyle/>
          <a:p>
            <a:pPr marL="0" indent="0">
              <a:buNone/>
            </a:pPr>
            <a:r>
              <a:rPr lang="en-US" sz="1800" b="1" dirty="0">
                <a:solidFill>
                  <a:schemeClr val="tx2"/>
                </a:solidFill>
              </a:rPr>
              <a:t>Output</a:t>
            </a:r>
            <a:endParaRPr lang="en-US" sz="1800" dirty="0"/>
          </a:p>
        </p:txBody>
      </p:sp>
      <p:sp>
        <p:nvSpPr>
          <p:cNvPr id="10" name="Text 6"/>
          <p:cNvSpPr txBox="1"/>
          <p:nvPr/>
        </p:nvSpPr>
        <p:spPr>
          <a:xfrm>
            <a:off x="4297680" y="2148840"/>
            <a:ext cx="3474720" cy="1097280"/>
          </a:xfrm>
          <a:prstGeom prst="rect">
            <a:avLst/>
          </a:prstGeom>
          <a:noFill/>
          <a:ln/>
        </p:spPr>
        <p:txBody>
          <a:bodyPr wrap="square" lIns="0" tIns="0" rIns="0" bIns="0" rtlCol="0" anchor="t"/>
          <a:lstStyle/>
          <a:p>
            <a:pPr marL="0" indent="0">
              <a:buNone/>
            </a:pPr>
            <a:r>
              <a:rPr lang="en-US" sz="1400" dirty="0">
                <a:solidFill>
                  <a:schemeClr val="tx1"/>
                </a:solidFill>
              </a:rPr>
              <a:t>Which of 5 beat types it is: Normal, S, V, F or Q.</a:t>
            </a:r>
            <a:endParaRPr lang="en-US" sz="1400" dirty="0"/>
          </a:p>
        </p:txBody>
      </p:sp>
      <p:sp>
        <p:nvSpPr>
          <p:cNvPr id="11" name="Shape 7"/>
          <p:cNvSpPr/>
          <p:nvPr/>
        </p:nvSpPr>
        <p:spPr>
          <a:xfrm>
            <a:off x="8046720" y="1371600"/>
            <a:ext cx="640080" cy="640080"/>
          </a:xfrm>
          <a:prstGeom prst="ellipse">
            <a:avLst/>
          </a:prstGeom>
          <a:solidFill>
            <a:schemeClr val="accent1"/>
          </a:solidFill>
          <a:ln w="12700">
            <a:solidFill>
              <a:schemeClr val="accent1"/>
            </a:solidFill>
            <a:prstDash val="solid"/>
          </a:ln>
        </p:spPr>
        <p:txBody>
          <a:bodyPr/>
          <a:lstStyle/>
          <a:p>
            <a:endParaRPr lang="en-IN"/>
          </a:p>
        </p:txBody>
      </p:sp>
      <p:pic>
        <p:nvPicPr>
          <p:cNvPr id="12" name="Image 2" descr="preencoded.png"/>
          <p:cNvPicPr>
            <a:picLocks noChangeAspect="1"/>
          </p:cNvPicPr>
          <p:nvPr/>
        </p:nvPicPr>
        <p:blipFill>
          <a:blip r:embed="rId5"/>
          <a:stretch>
            <a:fillRect/>
          </a:stretch>
        </p:blipFill>
        <p:spPr>
          <a:xfrm>
            <a:off x="8206740" y="1531620"/>
            <a:ext cx="320040" cy="320040"/>
          </a:xfrm>
          <a:prstGeom prst="rect">
            <a:avLst/>
          </a:prstGeom>
        </p:spPr>
      </p:pic>
      <p:sp>
        <p:nvSpPr>
          <p:cNvPr id="13" name="Text 8"/>
          <p:cNvSpPr txBox="1"/>
          <p:nvPr/>
        </p:nvSpPr>
        <p:spPr>
          <a:xfrm>
            <a:off x="8869680" y="1371600"/>
            <a:ext cx="2651760" cy="640080"/>
          </a:xfrm>
          <a:prstGeom prst="rect">
            <a:avLst/>
          </a:prstGeom>
          <a:noFill/>
          <a:ln/>
        </p:spPr>
        <p:txBody>
          <a:bodyPr wrap="square" lIns="0" tIns="0" rIns="0" bIns="0" rtlCol="0" anchor="ctr"/>
          <a:lstStyle/>
          <a:p>
            <a:pPr marL="0" indent="0">
              <a:buNone/>
            </a:pPr>
            <a:r>
              <a:rPr lang="en-US" sz="1800" b="1" dirty="0">
                <a:solidFill>
                  <a:schemeClr val="tx2"/>
                </a:solidFill>
              </a:rPr>
              <a:t>Why it matters</a:t>
            </a:r>
            <a:endParaRPr lang="en-US" sz="1800" dirty="0"/>
          </a:p>
        </p:txBody>
      </p:sp>
      <p:sp>
        <p:nvSpPr>
          <p:cNvPr id="14" name="Text 9"/>
          <p:cNvSpPr txBox="1"/>
          <p:nvPr/>
        </p:nvSpPr>
        <p:spPr>
          <a:xfrm>
            <a:off x="8046720" y="2148840"/>
            <a:ext cx="3474720" cy="1097280"/>
          </a:xfrm>
          <a:prstGeom prst="rect">
            <a:avLst/>
          </a:prstGeom>
          <a:noFill/>
          <a:ln/>
        </p:spPr>
        <p:txBody>
          <a:bodyPr wrap="square" lIns="0" tIns="0" rIns="0" bIns="0" rtlCol="0" anchor="t"/>
          <a:lstStyle/>
          <a:p>
            <a:pPr marL="0" indent="0">
              <a:buNone/>
            </a:pPr>
            <a:r>
              <a:rPr lang="en-US" sz="1400" dirty="0">
                <a:solidFill>
                  <a:schemeClr val="tx1"/>
                </a:solidFill>
              </a:rPr>
              <a:t>Abnormal beats (arrhythmias) can be a sign of heart disease. Automatic detection helps doctors.</a:t>
            </a:r>
            <a:endParaRPr lang="en-US" sz="1400" dirty="0"/>
          </a:p>
        </p:txBody>
      </p:sp>
      <p:pic>
        <p:nvPicPr>
          <p:cNvPr id="15" name="Image 3" descr="C:\Users\anshu\AppData\Local\Temp\claude\d--bennett-Healthcare-eeg\68424036-4cfe-451f-8594-ecba8073e5ad\scratchpad\img\c08_1.png"/>
          <p:cNvPicPr>
            <a:picLocks noChangeAspect="1"/>
          </p:cNvPicPr>
          <p:nvPr/>
        </p:nvPicPr>
        <p:blipFill>
          <a:blip r:embed="rId6"/>
          <a:stretch>
            <a:fillRect/>
          </a:stretch>
        </p:blipFill>
        <p:spPr>
          <a:xfrm>
            <a:off x="548640" y="3520440"/>
            <a:ext cx="11064240" cy="1891323"/>
          </a:xfrm>
          <a:prstGeom prst="rect">
            <a:avLst/>
          </a:prstGeom>
        </p:spPr>
      </p:pic>
      <p:sp>
        <p:nvSpPr>
          <p:cNvPr id="16" name="Text 10"/>
          <p:cNvSpPr txBox="1"/>
          <p:nvPr/>
        </p:nvSpPr>
        <p:spPr>
          <a:xfrm>
            <a:off x="548640" y="5486400"/>
            <a:ext cx="11064240" cy="320040"/>
          </a:xfrm>
          <a:prstGeom prst="rect">
            <a:avLst/>
          </a:prstGeom>
          <a:noFill/>
          <a:ln/>
        </p:spPr>
        <p:txBody>
          <a:bodyPr wrap="square" lIns="0" tIns="0" rIns="0" bIns="0" rtlCol="0" anchor="t"/>
          <a:lstStyle/>
          <a:p>
            <a:pPr marL="0" indent="0">
              <a:buNone/>
            </a:pPr>
            <a:r>
              <a:rPr lang="en-US" sz="1200" i="1" dirty="0">
                <a:solidFill>
                  <a:schemeClr val="accent5"/>
                </a:solidFill>
              </a:rPr>
              <a:t>One example beat from each class. The shapes and the timing of the spikes are different.</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C7A89"/>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rgbClr val="12263A"/>
                </a:solidFill>
              </a:rPr>
              <a:t>The dataset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766560" cy="2743200"/>
        </p:xfrm>
        <a:graphic>
          <a:graphicData uri="http://schemas.openxmlformats.org/drawingml/2006/table">
            <a:tbl>
              <a:tblPr/>
              <a:tblGrid>
                <a:gridCol w="7315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457200">
                <a:tc>
                  <a:txBody>
                    <a:bodyPr/>
                    <a:lstStyle/>
                    <a:p>
                      <a:pPr marL="0" indent="0">
                        <a:buNone/>
                      </a:pPr>
                      <a:r>
                        <a:rPr lang="en-US" sz="1400" b="1" dirty="0">
                          <a:solidFill>
                            <a:schemeClr val="bg1"/>
                          </a:solidFill>
                        </a:rPr>
                        <a:t>Label</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Class</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Meaning</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Train beats</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Share</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chemeClr val="tx1"/>
                          </a:solidFill>
                        </a:rPr>
                        <a:t>0</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N</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Normal beat</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72,471</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82.8%</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57200">
                <a:tc>
                  <a:txBody>
                    <a:bodyPr/>
                    <a:lstStyle/>
                    <a:p>
                      <a:pPr marL="0" indent="0">
                        <a:buNone/>
                      </a:pPr>
                      <a:r>
                        <a:rPr lang="en-US" sz="1400" dirty="0">
                          <a:solidFill>
                            <a:schemeClr val="tx1"/>
                          </a:solidFill>
                        </a:rPr>
                        <a:t>1</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Supraventricular premature beat</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2,223</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rPr>
                        <a:t>2.5%</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57200">
                <a:tc>
                  <a:txBody>
                    <a:bodyPr/>
                    <a:lstStyle/>
                    <a:p>
                      <a:pPr marL="0" indent="0">
                        <a:buNone/>
                      </a:pPr>
                      <a:r>
                        <a:rPr lang="en-US" sz="1400" dirty="0">
                          <a:solidFill>
                            <a:schemeClr val="tx1"/>
                          </a:solidFill>
                        </a:rPr>
                        <a:t>2</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V</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Premature ventricular contraction</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5,788</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6.6%</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57200">
                <a:tc>
                  <a:txBody>
                    <a:bodyPr/>
                    <a:lstStyle/>
                    <a:p>
                      <a:pPr marL="0" indent="0">
                        <a:buNone/>
                      </a:pPr>
                      <a:r>
                        <a:rPr lang="en-US" sz="1400" dirty="0">
                          <a:solidFill>
                            <a:schemeClr val="tx1"/>
                          </a:solidFill>
                        </a:rPr>
                        <a:t>3</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F</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Fusion of ventricular + normal</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641</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rPr>
                        <a:t>0.7%</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57200">
                <a:tc>
                  <a:txBody>
                    <a:bodyPr/>
                    <a:lstStyle/>
                    <a:p>
                      <a:pPr marL="0" indent="0">
                        <a:buNone/>
                      </a:pPr>
                      <a:r>
                        <a:rPr lang="en-US" sz="1400" dirty="0">
                          <a:solidFill>
                            <a:schemeClr val="tx1"/>
                          </a:solidFill>
                        </a:rPr>
                        <a:t>4</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Q</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Unclassifiable / paced beat</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6,431</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7.3%</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3" name="Text 1"/>
          <p:cNvSpPr txBox="1"/>
          <p:nvPr/>
        </p:nvSpPr>
        <p:spPr>
          <a:xfrm>
            <a:off x="548640" y="4343400"/>
            <a:ext cx="6766560" cy="640080"/>
          </a:xfrm>
          <a:prstGeom prst="rect">
            <a:avLst/>
          </a:prstGeom>
          <a:noFill/>
          <a:ln/>
        </p:spPr>
        <p:txBody>
          <a:bodyPr wrap="square" lIns="0" tIns="0" rIns="0" bIns="0" rtlCol="0" anchor="t"/>
          <a:lstStyle/>
          <a:p>
            <a:pPr marL="0" indent="0">
              <a:buNone/>
            </a:pPr>
            <a:r>
              <a:rPr lang="en-US" sz="1200" i="1" dirty="0">
                <a:solidFill>
                  <a:schemeClr val="accent5"/>
                </a:solidFill>
              </a:rPr>
              <a:t>Source: Kaggle "ECG Heartbeat Categorization" (MIT-BIH Arrhythmia). Signal sampled at 125 Hz, scaled to 0-1 and zero-padded to 187 steps.</a:t>
            </a:r>
            <a:endParaRPr lang="en-US" sz="1200" dirty="0"/>
          </a:p>
        </p:txBody>
      </p:sp>
      <p:sp>
        <p:nvSpPr>
          <p:cNvPr id="5" name="Shape 2"/>
          <p:cNvSpPr/>
          <p:nvPr/>
        </p:nvSpPr>
        <p:spPr>
          <a:xfrm>
            <a:off x="7772400" y="1371600"/>
            <a:ext cx="1828800" cy="1188720"/>
          </a:xfrm>
          <a:prstGeom prst="roundRect">
            <a:avLst>
              <a:gd name="adj" fmla="val 6154"/>
            </a:avLst>
          </a:prstGeom>
          <a:solidFill>
            <a:schemeClr val="bg2"/>
          </a:solidFill>
          <a:ln w="12700">
            <a:solidFill>
              <a:schemeClr val="bg2"/>
            </a:solidFill>
            <a:prstDash val="solid"/>
          </a:ln>
        </p:spPr>
        <p:txBody>
          <a:bodyPr/>
          <a:lstStyle/>
          <a:p>
            <a:endParaRPr lang="en-IN"/>
          </a:p>
        </p:txBody>
      </p:sp>
      <p:sp>
        <p:nvSpPr>
          <p:cNvPr id="6" name="Text 3"/>
          <p:cNvSpPr txBox="1"/>
          <p:nvPr/>
        </p:nvSpPr>
        <p:spPr>
          <a:xfrm>
            <a:off x="7955280" y="1463040"/>
            <a:ext cx="1463040" cy="653796"/>
          </a:xfrm>
          <a:prstGeom prst="rect">
            <a:avLst/>
          </a:prstGeom>
          <a:noFill/>
          <a:ln/>
        </p:spPr>
        <p:txBody>
          <a:bodyPr wrap="square" lIns="0" tIns="0" rIns="0" bIns="0" rtlCol="0" anchor="ctr"/>
          <a:lstStyle/>
          <a:p>
            <a:pPr marL="0" indent="0">
              <a:buNone/>
            </a:pPr>
            <a:r>
              <a:rPr lang="en-US" sz="2800" b="1" dirty="0">
                <a:solidFill>
                  <a:schemeClr val="tx2"/>
                </a:solidFill>
              </a:rPr>
              <a:t>87,554</a:t>
            </a:r>
            <a:endParaRPr lang="en-US" sz="2800" dirty="0"/>
          </a:p>
        </p:txBody>
      </p:sp>
      <p:sp>
        <p:nvSpPr>
          <p:cNvPr id="7" name="Text 4"/>
          <p:cNvSpPr txBox="1"/>
          <p:nvPr/>
        </p:nvSpPr>
        <p:spPr>
          <a:xfrm>
            <a:off x="7955280" y="2108606"/>
            <a:ext cx="1463040" cy="356616"/>
          </a:xfrm>
          <a:prstGeom prst="rect">
            <a:avLst/>
          </a:prstGeom>
          <a:noFill/>
          <a:ln/>
        </p:spPr>
        <p:txBody>
          <a:bodyPr wrap="square" lIns="0" tIns="0" rIns="0" bIns="0" rtlCol="0" anchor="ctr"/>
          <a:lstStyle/>
          <a:p>
            <a:pPr marL="0" indent="0">
              <a:buNone/>
            </a:pPr>
            <a:r>
              <a:rPr lang="en-US" sz="1200" dirty="0">
                <a:solidFill>
                  <a:schemeClr val="accent5"/>
                </a:solidFill>
              </a:rPr>
              <a:t>training beats</a:t>
            </a:r>
            <a:endParaRPr lang="en-US" sz="1200" dirty="0"/>
          </a:p>
        </p:txBody>
      </p:sp>
      <p:sp>
        <p:nvSpPr>
          <p:cNvPr id="8" name="Shape 5"/>
          <p:cNvSpPr/>
          <p:nvPr/>
        </p:nvSpPr>
        <p:spPr>
          <a:xfrm>
            <a:off x="9738360" y="1371600"/>
            <a:ext cx="1828800" cy="1188720"/>
          </a:xfrm>
          <a:prstGeom prst="roundRect">
            <a:avLst>
              <a:gd name="adj" fmla="val 6154"/>
            </a:avLst>
          </a:prstGeom>
          <a:solidFill>
            <a:schemeClr val="bg2"/>
          </a:solidFill>
          <a:ln w="12700">
            <a:solidFill>
              <a:schemeClr val="bg2"/>
            </a:solidFill>
            <a:prstDash val="solid"/>
          </a:ln>
        </p:spPr>
        <p:txBody>
          <a:bodyPr/>
          <a:lstStyle/>
          <a:p>
            <a:endParaRPr lang="en-IN"/>
          </a:p>
        </p:txBody>
      </p:sp>
      <p:sp>
        <p:nvSpPr>
          <p:cNvPr id="9" name="Text 6"/>
          <p:cNvSpPr txBox="1"/>
          <p:nvPr/>
        </p:nvSpPr>
        <p:spPr>
          <a:xfrm>
            <a:off x="9921240" y="1463040"/>
            <a:ext cx="1463040" cy="653796"/>
          </a:xfrm>
          <a:prstGeom prst="rect">
            <a:avLst/>
          </a:prstGeom>
          <a:noFill/>
          <a:ln/>
        </p:spPr>
        <p:txBody>
          <a:bodyPr wrap="square" lIns="0" tIns="0" rIns="0" bIns="0" rtlCol="0" anchor="ctr"/>
          <a:lstStyle/>
          <a:p>
            <a:pPr marL="0" indent="0">
              <a:buNone/>
            </a:pPr>
            <a:r>
              <a:rPr lang="en-US" sz="2800" b="1" dirty="0">
                <a:solidFill>
                  <a:schemeClr val="tx2"/>
                </a:solidFill>
              </a:rPr>
              <a:t>21,892</a:t>
            </a:r>
            <a:endParaRPr lang="en-US" sz="2800" dirty="0"/>
          </a:p>
        </p:txBody>
      </p:sp>
      <p:sp>
        <p:nvSpPr>
          <p:cNvPr id="10" name="Text 7"/>
          <p:cNvSpPr txBox="1"/>
          <p:nvPr/>
        </p:nvSpPr>
        <p:spPr>
          <a:xfrm>
            <a:off x="9921240" y="2108606"/>
            <a:ext cx="1463040" cy="356616"/>
          </a:xfrm>
          <a:prstGeom prst="rect">
            <a:avLst/>
          </a:prstGeom>
          <a:noFill/>
          <a:ln/>
        </p:spPr>
        <p:txBody>
          <a:bodyPr wrap="square" lIns="0" tIns="0" rIns="0" bIns="0" rtlCol="0" anchor="ctr"/>
          <a:lstStyle/>
          <a:p>
            <a:pPr marL="0" indent="0">
              <a:buNone/>
            </a:pPr>
            <a:r>
              <a:rPr lang="en-US" sz="1200" dirty="0">
                <a:solidFill>
                  <a:schemeClr val="accent5"/>
                </a:solidFill>
              </a:rPr>
              <a:t>test beats</a:t>
            </a:r>
            <a:endParaRPr lang="en-US" sz="1200" dirty="0"/>
          </a:p>
        </p:txBody>
      </p:sp>
      <p:sp>
        <p:nvSpPr>
          <p:cNvPr id="11" name="Shape 8"/>
          <p:cNvSpPr/>
          <p:nvPr/>
        </p:nvSpPr>
        <p:spPr>
          <a:xfrm>
            <a:off x="7772400" y="2697480"/>
            <a:ext cx="1828800" cy="1188720"/>
          </a:xfrm>
          <a:prstGeom prst="roundRect">
            <a:avLst>
              <a:gd name="adj" fmla="val 6154"/>
            </a:avLst>
          </a:prstGeom>
          <a:solidFill>
            <a:schemeClr val="bg2"/>
          </a:solidFill>
          <a:ln w="12700">
            <a:solidFill>
              <a:schemeClr val="bg2"/>
            </a:solidFill>
            <a:prstDash val="solid"/>
          </a:ln>
        </p:spPr>
        <p:txBody>
          <a:bodyPr/>
          <a:lstStyle/>
          <a:p>
            <a:endParaRPr lang="en-IN"/>
          </a:p>
        </p:txBody>
      </p:sp>
      <p:sp>
        <p:nvSpPr>
          <p:cNvPr id="12" name="Text 9"/>
          <p:cNvSpPr txBox="1"/>
          <p:nvPr/>
        </p:nvSpPr>
        <p:spPr>
          <a:xfrm>
            <a:off x="7955280" y="2788920"/>
            <a:ext cx="1463040" cy="653796"/>
          </a:xfrm>
          <a:prstGeom prst="rect">
            <a:avLst/>
          </a:prstGeom>
          <a:noFill/>
          <a:ln/>
        </p:spPr>
        <p:txBody>
          <a:bodyPr wrap="square" lIns="0" tIns="0" rIns="0" bIns="0" rtlCol="0" anchor="ctr"/>
          <a:lstStyle/>
          <a:p>
            <a:pPr marL="0" indent="0">
              <a:buNone/>
            </a:pPr>
            <a:r>
              <a:rPr lang="en-US" sz="2800" b="1" dirty="0">
                <a:solidFill>
                  <a:schemeClr val="tx2"/>
                </a:solidFill>
              </a:rPr>
              <a:t>187</a:t>
            </a:r>
            <a:endParaRPr lang="en-US" sz="2800" dirty="0"/>
          </a:p>
        </p:txBody>
      </p:sp>
      <p:sp>
        <p:nvSpPr>
          <p:cNvPr id="13" name="Text 10"/>
          <p:cNvSpPr txBox="1"/>
          <p:nvPr/>
        </p:nvSpPr>
        <p:spPr>
          <a:xfrm>
            <a:off x="7955280" y="3434486"/>
            <a:ext cx="1463040" cy="356616"/>
          </a:xfrm>
          <a:prstGeom prst="rect">
            <a:avLst/>
          </a:prstGeom>
          <a:noFill/>
          <a:ln/>
        </p:spPr>
        <p:txBody>
          <a:bodyPr wrap="square" lIns="0" tIns="0" rIns="0" bIns="0" rtlCol="0" anchor="ctr"/>
          <a:lstStyle/>
          <a:p>
            <a:pPr marL="0" indent="0">
              <a:buNone/>
            </a:pPr>
            <a:r>
              <a:rPr lang="en-US" sz="1200" dirty="0">
                <a:solidFill>
                  <a:schemeClr val="accent5"/>
                </a:solidFill>
              </a:rPr>
              <a:t>time steps per beat</a:t>
            </a:r>
            <a:endParaRPr lang="en-US" sz="1200" dirty="0"/>
          </a:p>
        </p:txBody>
      </p:sp>
      <p:sp>
        <p:nvSpPr>
          <p:cNvPr id="14" name="Shape 11"/>
          <p:cNvSpPr/>
          <p:nvPr/>
        </p:nvSpPr>
        <p:spPr>
          <a:xfrm>
            <a:off x="9738360" y="2697480"/>
            <a:ext cx="1828800" cy="1188720"/>
          </a:xfrm>
          <a:prstGeom prst="roundRect">
            <a:avLst>
              <a:gd name="adj" fmla="val 6154"/>
            </a:avLst>
          </a:prstGeom>
          <a:solidFill>
            <a:schemeClr val="bg2"/>
          </a:solidFill>
          <a:ln w="12700">
            <a:solidFill>
              <a:schemeClr val="bg2"/>
            </a:solidFill>
            <a:prstDash val="solid"/>
          </a:ln>
        </p:spPr>
        <p:txBody>
          <a:bodyPr/>
          <a:lstStyle/>
          <a:p>
            <a:endParaRPr lang="en-IN"/>
          </a:p>
        </p:txBody>
      </p:sp>
      <p:sp>
        <p:nvSpPr>
          <p:cNvPr id="15" name="Text 12"/>
          <p:cNvSpPr txBox="1"/>
          <p:nvPr/>
        </p:nvSpPr>
        <p:spPr>
          <a:xfrm>
            <a:off x="9921240" y="2788920"/>
            <a:ext cx="1463040" cy="653796"/>
          </a:xfrm>
          <a:prstGeom prst="rect">
            <a:avLst/>
          </a:prstGeom>
          <a:noFill/>
          <a:ln/>
        </p:spPr>
        <p:txBody>
          <a:bodyPr wrap="square" lIns="0" tIns="0" rIns="0" bIns="0" rtlCol="0" anchor="ctr"/>
          <a:lstStyle/>
          <a:p>
            <a:pPr marL="0" indent="0">
              <a:buNone/>
            </a:pPr>
            <a:r>
              <a:rPr lang="en-US" sz="2800" b="1" dirty="0">
                <a:solidFill>
                  <a:schemeClr val="tx2"/>
                </a:solidFill>
              </a:rPr>
              <a:t>5</a:t>
            </a:r>
            <a:endParaRPr lang="en-US" sz="2800" dirty="0"/>
          </a:p>
        </p:txBody>
      </p:sp>
      <p:sp>
        <p:nvSpPr>
          <p:cNvPr id="16" name="Text 13"/>
          <p:cNvSpPr txBox="1"/>
          <p:nvPr/>
        </p:nvSpPr>
        <p:spPr>
          <a:xfrm>
            <a:off x="9921240" y="3434486"/>
            <a:ext cx="1463040" cy="356616"/>
          </a:xfrm>
          <a:prstGeom prst="rect">
            <a:avLst/>
          </a:prstGeom>
          <a:noFill/>
          <a:ln/>
        </p:spPr>
        <p:txBody>
          <a:bodyPr wrap="square" lIns="0" tIns="0" rIns="0" bIns="0" rtlCol="0" anchor="ctr"/>
          <a:lstStyle/>
          <a:p>
            <a:pPr marL="0" indent="0">
              <a:buNone/>
            </a:pPr>
            <a:r>
              <a:rPr lang="en-US" sz="1200" dirty="0">
                <a:solidFill>
                  <a:schemeClr val="accent5"/>
                </a:solidFill>
              </a:rPr>
              <a:t>classes</a:t>
            </a:r>
            <a:endParaRPr lang="en-US" sz="1200" dirty="0"/>
          </a:p>
        </p:txBody>
      </p:sp>
      <p:sp>
        <p:nvSpPr>
          <p:cNvPr id="17" name="Shape 14"/>
          <p:cNvSpPr/>
          <p:nvPr/>
        </p:nvSpPr>
        <p:spPr>
          <a:xfrm>
            <a:off x="7772400" y="4114800"/>
            <a:ext cx="3794760" cy="1188720"/>
          </a:xfrm>
          <a:prstGeom prst="roundRect">
            <a:avLst>
              <a:gd name="adj" fmla="val 6154"/>
            </a:avLst>
          </a:prstGeom>
          <a:solidFill>
            <a:srgbClr val="E6F3F3"/>
          </a:solidFill>
          <a:ln w="12700">
            <a:solidFill>
              <a:srgbClr val="E6F3F3"/>
            </a:solidFill>
            <a:prstDash val="solid"/>
          </a:ln>
        </p:spPr>
        <p:txBody>
          <a:bodyPr/>
          <a:lstStyle/>
          <a:p>
            <a:endParaRPr lang="en-IN"/>
          </a:p>
        </p:txBody>
      </p:sp>
      <p:sp>
        <p:nvSpPr>
          <p:cNvPr id="18" name="Text 15"/>
          <p:cNvSpPr txBox="1"/>
          <p:nvPr/>
        </p:nvSpPr>
        <p:spPr>
          <a:xfrm>
            <a:off x="7955280" y="4224528"/>
            <a:ext cx="3429000" cy="969264"/>
          </a:xfrm>
          <a:prstGeom prst="rect">
            <a:avLst/>
          </a:prstGeom>
          <a:noFill/>
          <a:ln/>
        </p:spPr>
        <p:txBody>
          <a:bodyPr wrap="square" lIns="0" tIns="0" rIns="0" bIns="0" rtlCol="0" anchor="ctr"/>
          <a:lstStyle/>
          <a:p>
            <a:pPr marL="0" indent="0">
              <a:buNone/>
            </a:pPr>
            <a:r>
              <a:rPr lang="en-US" sz="1400" dirty="0">
                <a:solidFill>
                  <a:schemeClr val="tx2"/>
                </a:solidFill>
              </a:rPr>
              <a:t>We also split 10% of the training beats off as a validation set to choose the best epoch.</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C7A89"/>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rgbClr val="12263A"/>
                </a:solidFill>
              </a:rPr>
              <a:t>The main challenge: class imbalance</a:t>
            </a:r>
            <a:endParaRPr lang="en-US" sz="3200" dirty="0"/>
          </a:p>
        </p:txBody>
      </p:sp>
      <p:graphicFrame>
        <p:nvGraphicFramePr>
          <p:cNvPr id="3" name="Chart 0"/>
          <p:cNvGraphicFramePr/>
          <p:nvPr/>
        </p:nvGraphicFramePr>
        <p:xfrm>
          <a:off x="548640" y="1325880"/>
          <a:ext cx="676656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7772400" y="1371600"/>
            <a:ext cx="3840480" cy="1005840"/>
          </a:xfrm>
          <a:prstGeom prst="rect">
            <a:avLst/>
          </a:prstGeom>
          <a:noFill/>
          <a:ln/>
        </p:spPr>
        <p:txBody>
          <a:bodyPr wrap="square" lIns="0" tIns="0" rIns="0" bIns="0" rtlCol="0" anchor="ctr"/>
          <a:lstStyle/>
          <a:p>
            <a:pPr marL="0" indent="0">
              <a:buNone/>
            </a:pPr>
            <a:r>
              <a:rPr lang="en-US" sz="6600" b="1" dirty="0">
                <a:solidFill>
                  <a:schemeClr val="accent2"/>
                </a:solidFill>
              </a:rPr>
              <a:t>83%</a:t>
            </a:r>
            <a:endParaRPr lang="en-US" sz="6600" dirty="0"/>
          </a:p>
        </p:txBody>
      </p:sp>
      <p:sp>
        <p:nvSpPr>
          <p:cNvPr id="5" name="Text 2"/>
          <p:cNvSpPr txBox="1"/>
          <p:nvPr/>
        </p:nvSpPr>
        <p:spPr>
          <a:xfrm>
            <a:off x="7772400" y="2377440"/>
            <a:ext cx="3840480" cy="365760"/>
          </a:xfrm>
          <a:prstGeom prst="rect">
            <a:avLst/>
          </a:prstGeom>
          <a:noFill/>
          <a:ln/>
        </p:spPr>
        <p:txBody>
          <a:bodyPr wrap="square" lIns="0" tIns="0" rIns="0" bIns="0" rtlCol="0" anchor="t"/>
          <a:lstStyle/>
          <a:p>
            <a:pPr marL="0" indent="0">
              <a:buNone/>
            </a:pPr>
            <a:r>
              <a:rPr lang="en-US" sz="1600" dirty="0">
                <a:solidFill>
                  <a:schemeClr val="tx2"/>
                </a:solidFill>
              </a:rPr>
              <a:t>of all training beats are Normal</a:t>
            </a:r>
            <a:endParaRPr lang="en-US" sz="1600" dirty="0"/>
          </a:p>
        </p:txBody>
      </p:sp>
      <p:sp>
        <p:nvSpPr>
          <p:cNvPr id="6" name="Shape 3"/>
          <p:cNvSpPr/>
          <p:nvPr/>
        </p:nvSpPr>
        <p:spPr>
          <a:xfrm>
            <a:off x="7772400" y="3017520"/>
            <a:ext cx="3840480" cy="3108960"/>
          </a:xfrm>
          <a:prstGeom prst="roundRect">
            <a:avLst>
              <a:gd name="adj" fmla="val 2353"/>
            </a:avLst>
          </a:prstGeom>
          <a:solidFill>
            <a:schemeClr val="bg2"/>
          </a:solidFill>
          <a:ln w="12700">
            <a:solidFill>
              <a:schemeClr val="bg2"/>
            </a:solidFill>
            <a:prstDash val="solid"/>
          </a:ln>
        </p:spPr>
        <p:txBody>
          <a:bodyPr/>
          <a:lstStyle/>
          <a:p>
            <a:endParaRPr lang="en-IN"/>
          </a:p>
        </p:txBody>
      </p:sp>
      <p:sp>
        <p:nvSpPr>
          <p:cNvPr id="7" name="Text 4"/>
          <p:cNvSpPr txBox="1"/>
          <p:nvPr/>
        </p:nvSpPr>
        <p:spPr>
          <a:xfrm>
            <a:off x="8001000" y="3200400"/>
            <a:ext cx="342900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 model that always says "Normal" already gets 83% accuracy, and it is useless.</a:t>
            </a:r>
            <a:endParaRPr lang="en-US" sz="1400" dirty="0"/>
          </a:p>
          <a:p>
            <a:pPr marL="342900" indent="-342900">
              <a:spcAft>
                <a:spcPts val="800"/>
              </a:spcAft>
              <a:buSzPct val="100000"/>
              <a:buChar char="•"/>
            </a:pPr>
            <a:r>
              <a:rPr lang="en-US" sz="1400" dirty="0">
                <a:solidFill>
                  <a:schemeClr val="tx1"/>
                </a:solidFill>
              </a:rPr>
              <a:t>The rare classes S (2.5%) and F (0.7%) are the abnormal beats we most need to catch.</a:t>
            </a:r>
            <a:endParaRPr lang="en-US" sz="1400" dirty="0"/>
          </a:p>
          <a:p>
            <a:pPr marL="342900" indent="-342900">
              <a:spcAft>
                <a:spcPts val="800"/>
              </a:spcAft>
              <a:buSzPct val="100000"/>
              <a:buChar char="•"/>
            </a:pPr>
            <a:r>
              <a:rPr lang="en-US" sz="1400" dirty="0">
                <a:solidFill>
                  <a:schemeClr val="tx1"/>
                </a:solidFill>
              </a:rPr>
              <a:t>So we cannot judge a model by accuracy alone.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C7A8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rgbClr val="12263A"/>
                </a:solidFill>
              </a:rPr>
              <a:t>How we measure success</a:t>
            </a:r>
            <a:endParaRPr lang="en-US" sz="3200" dirty="0"/>
          </a:p>
        </p:txBody>
      </p:sp>
      <p:sp>
        <p:nvSpPr>
          <p:cNvPr id="3" name="Shape 1"/>
          <p:cNvSpPr/>
          <p:nvPr/>
        </p:nvSpPr>
        <p:spPr>
          <a:xfrm>
            <a:off x="548640" y="1371600"/>
            <a:ext cx="3566160" cy="3017520"/>
          </a:xfrm>
          <a:prstGeom prst="roundRect">
            <a:avLst>
              <a:gd name="adj" fmla="val 2424"/>
            </a:avLst>
          </a:prstGeom>
          <a:solidFill>
            <a:schemeClr val="bg2"/>
          </a:solidFill>
          <a:ln w="12700">
            <a:solidFill>
              <a:schemeClr val="bg2"/>
            </a:solidFill>
            <a:prstDash val="solid"/>
          </a:ln>
        </p:spPr>
        <p:txBody>
          <a:bodyPr/>
          <a:lstStyle/>
          <a:p>
            <a:endParaRPr lang="en-IN"/>
          </a:p>
        </p:txBody>
      </p:sp>
      <p:sp>
        <p:nvSpPr>
          <p:cNvPr id="4" name="Shape 2"/>
          <p:cNvSpPr/>
          <p:nvPr/>
        </p:nvSpPr>
        <p:spPr>
          <a:xfrm>
            <a:off x="822960" y="1600200"/>
            <a:ext cx="640080" cy="640080"/>
          </a:xfrm>
          <a:prstGeom prst="ellipse">
            <a:avLst/>
          </a:prstGeom>
          <a:solidFill>
            <a:schemeClr val="accent1"/>
          </a:solidFill>
          <a:ln w="12700">
            <a:solidFill>
              <a:schemeClr val="accent1"/>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982980" y="1760220"/>
            <a:ext cx="320040" cy="320040"/>
          </a:xfrm>
          <a:prstGeom prst="rect">
            <a:avLst/>
          </a:prstGeom>
        </p:spPr>
      </p:pic>
      <p:sp>
        <p:nvSpPr>
          <p:cNvPr id="6" name="Text 3"/>
          <p:cNvSpPr txBox="1"/>
          <p:nvPr/>
        </p:nvSpPr>
        <p:spPr>
          <a:xfrm>
            <a:off x="822960" y="2377440"/>
            <a:ext cx="3017520" cy="411480"/>
          </a:xfrm>
          <a:prstGeom prst="rect">
            <a:avLst/>
          </a:prstGeom>
          <a:noFill/>
          <a:ln/>
        </p:spPr>
        <p:txBody>
          <a:bodyPr wrap="square" lIns="0" tIns="0" rIns="0" bIns="0" rtlCol="0" anchor="t"/>
          <a:lstStyle/>
          <a:p>
            <a:pPr marL="0" indent="0">
              <a:buNone/>
            </a:pPr>
            <a:r>
              <a:rPr lang="en-US" sz="1800" b="1" dirty="0">
                <a:solidFill>
                  <a:schemeClr val="tx2"/>
                </a:solidFill>
              </a:rPr>
              <a:t>Recall</a:t>
            </a:r>
            <a:endParaRPr lang="en-US" sz="1800" dirty="0"/>
          </a:p>
        </p:txBody>
      </p:sp>
      <p:sp>
        <p:nvSpPr>
          <p:cNvPr id="7" name="Text 4"/>
          <p:cNvSpPr txBox="1"/>
          <p:nvPr/>
        </p:nvSpPr>
        <p:spPr>
          <a:xfrm>
            <a:off x="822960" y="2834640"/>
            <a:ext cx="3017520" cy="868680"/>
          </a:xfrm>
          <a:prstGeom prst="rect">
            <a:avLst/>
          </a:prstGeom>
          <a:noFill/>
          <a:ln/>
        </p:spPr>
        <p:txBody>
          <a:bodyPr wrap="square" lIns="0" tIns="0" rIns="0" bIns="0" rtlCol="0" anchor="t"/>
          <a:lstStyle/>
          <a:p>
            <a:pPr marL="0" indent="0">
              <a:buNone/>
            </a:pPr>
            <a:r>
              <a:rPr lang="en-US" sz="1400" dirty="0">
                <a:solidFill>
                  <a:schemeClr val="tx1"/>
                </a:solidFill>
              </a:rPr>
              <a:t>Of all real S beats, how many did we catch?</a:t>
            </a:r>
            <a:endParaRPr lang="en-US" sz="1400" dirty="0"/>
          </a:p>
        </p:txBody>
      </p:sp>
      <p:sp>
        <p:nvSpPr>
          <p:cNvPr id="8" name="Text 5"/>
          <p:cNvSpPr txBox="1"/>
          <p:nvPr/>
        </p:nvSpPr>
        <p:spPr>
          <a:xfrm>
            <a:off x="822960" y="3749040"/>
            <a:ext cx="3017520" cy="457200"/>
          </a:xfrm>
          <a:prstGeom prst="rect">
            <a:avLst/>
          </a:prstGeom>
          <a:noFill/>
          <a:ln/>
        </p:spPr>
        <p:txBody>
          <a:bodyPr wrap="square" lIns="0" tIns="0" rIns="0" bIns="0" rtlCol="0" anchor="t"/>
          <a:lstStyle/>
          <a:p>
            <a:pPr marL="0" indent="0">
              <a:buNone/>
            </a:pPr>
            <a:r>
              <a:rPr lang="en-US" sz="1400" b="1" dirty="0">
                <a:solidFill>
                  <a:schemeClr val="accent1"/>
                </a:solidFill>
              </a:rPr>
              <a:t>Low recall = missed disease</a:t>
            </a:r>
            <a:endParaRPr lang="en-US" sz="1400" dirty="0"/>
          </a:p>
        </p:txBody>
      </p:sp>
      <p:sp>
        <p:nvSpPr>
          <p:cNvPr id="9" name="Shape 6"/>
          <p:cNvSpPr/>
          <p:nvPr/>
        </p:nvSpPr>
        <p:spPr>
          <a:xfrm>
            <a:off x="4297680" y="1371600"/>
            <a:ext cx="3566160" cy="3017520"/>
          </a:xfrm>
          <a:prstGeom prst="roundRect">
            <a:avLst>
              <a:gd name="adj" fmla="val 2424"/>
            </a:avLst>
          </a:prstGeom>
          <a:solidFill>
            <a:schemeClr val="bg2"/>
          </a:solidFill>
          <a:ln w="12700">
            <a:solidFill>
              <a:schemeClr val="bg2"/>
            </a:solidFill>
            <a:prstDash val="solid"/>
          </a:ln>
        </p:spPr>
        <p:txBody>
          <a:bodyPr/>
          <a:lstStyle/>
          <a:p>
            <a:endParaRPr lang="en-IN"/>
          </a:p>
        </p:txBody>
      </p:sp>
      <p:sp>
        <p:nvSpPr>
          <p:cNvPr id="10" name="Shape 7"/>
          <p:cNvSpPr/>
          <p:nvPr/>
        </p:nvSpPr>
        <p:spPr>
          <a:xfrm>
            <a:off x="4572000" y="1600200"/>
            <a:ext cx="640080" cy="640080"/>
          </a:xfrm>
          <a:prstGeom prst="ellipse">
            <a:avLst/>
          </a:prstGeom>
          <a:solidFill>
            <a:schemeClr val="accent1"/>
          </a:solidFill>
          <a:ln w="12700">
            <a:solidFill>
              <a:schemeClr val="accent1"/>
            </a:solidFill>
            <a:prstDash val="solid"/>
          </a:ln>
        </p:spPr>
        <p:txBody>
          <a:bodyPr/>
          <a:lstStyle/>
          <a:p>
            <a:endParaRPr lang="en-IN"/>
          </a:p>
        </p:txBody>
      </p:sp>
      <p:pic>
        <p:nvPicPr>
          <p:cNvPr id="11" name="Image 1" descr="preencoded.png"/>
          <p:cNvPicPr>
            <a:picLocks noChangeAspect="1"/>
          </p:cNvPicPr>
          <p:nvPr/>
        </p:nvPicPr>
        <p:blipFill>
          <a:blip r:embed="rId4"/>
          <a:stretch>
            <a:fillRect/>
          </a:stretch>
        </p:blipFill>
        <p:spPr>
          <a:xfrm>
            <a:off x="4732020" y="1760220"/>
            <a:ext cx="320040" cy="320040"/>
          </a:xfrm>
          <a:prstGeom prst="rect">
            <a:avLst/>
          </a:prstGeom>
        </p:spPr>
      </p:pic>
      <p:sp>
        <p:nvSpPr>
          <p:cNvPr id="12" name="Text 8"/>
          <p:cNvSpPr txBox="1"/>
          <p:nvPr/>
        </p:nvSpPr>
        <p:spPr>
          <a:xfrm>
            <a:off x="4572000" y="2377440"/>
            <a:ext cx="3017520" cy="411480"/>
          </a:xfrm>
          <a:prstGeom prst="rect">
            <a:avLst/>
          </a:prstGeom>
          <a:noFill/>
          <a:ln/>
        </p:spPr>
        <p:txBody>
          <a:bodyPr wrap="square" lIns="0" tIns="0" rIns="0" bIns="0" rtlCol="0" anchor="t"/>
          <a:lstStyle/>
          <a:p>
            <a:pPr marL="0" indent="0">
              <a:buNone/>
            </a:pPr>
            <a:r>
              <a:rPr lang="en-US" sz="1800" b="1" dirty="0">
                <a:solidFill>
                  <a:schemeClr val="tx2"/>
                </a:solidFill>
              </a:rPr>
              <a:t>Precision</a:t>
            </a:r>
            <a:endParaRPr lang="en-US" sz="1800" dirty="0"/>
          </a:p>
        </p:txBody>
      </p:sp>
      <p:sp>
        <p:nvSpPr>
          <p:cNvPr id="13" name="Text 9"/>
          <p:cNvSpPr txBox="1"/>
          <p:nvPr/>
        </p:nvSpPr>
        <p:spPr>
          <a:xfrm>
            <a:off x="4572000" y="2834640"/>
            <a:ext cx="3017520" cy="868680"/>
          </a:xfrm>
          <a:prstGeom prst="rect">
            <a:avLst/>
          </a:prstGeom>
          <a:noFill/>
          <a:ln/>
        </p:spPr>
        <p:txBody>
          <a:bodyPr wrap="square" lIns="0" tIns="0" rIns="0" bIns="0" rtlCol="0" anchor="t"/>
          <a:lstStyle/>
          <a:p>
            <a:pPr marL="0" indent="0">
              <a:buNone/>
            </a:pPr>
            <a:r>
              <a:rPr lang="en-US" sz="1400" dirty="0">
                <a:solidFill>
                  <a:schemeClr val="tx1"/>
                </a:solidFill>
              </a:rPr>
              <a:t>Of all beats we called S, how many were really S?</a:t>
            </a:r>
            <a:endParaRPr lang="en-US" sz="1400" dirty="0"/>
          </a:p>
        </p:txBody>
      </p:sp>
      <p:sp>
        <p:nvSpPr>
          <p:cNvPr id="14" name="Text 10"/>
          <p:cNvSpPr txBox="1"/>
          <p:nvPr/>
        </p:nvSpPr>
        <p:spPr>
          <a:xfrm>
            <a:off x="4572000" y="3749040"/>
            <a:ext cx="3017520" cy="457200"/>
          </a:xfrm>
          <a:prstGeom prst="rect">
            <a:avLst/>
          </a:prstGeom>
          <a:noFill/>
          <a:ln/>
        </p:spPr>
        <p:txBody>
          <a:bodyPr wrap="square" lIns="0" tIns="0" rIns="0" bIns="0" rtlCol="0" anchor="t"/>
          <a:lstStyle/>
          <a:p>
            <a:pPr marL="0" indent="0">
              <a:buNone/>
            </a:pPr>
            <a:r>
              <a:rPr lang="en-US" sz="1400" b="1" dirty="0">
                <a:solidFill>
                  <a:schemeClr val="accent1"/>
                </a:solidFill>
              </a:rPr>
              <a:t>Low precision = false alarms</a:t>
            </a:r>
            <a:endParaRPr lang="en-US" sz="1400" dirty="0"/>
          </a:p>
        </p:txBody>
      </p:sp>
      <p:sp>
        <p:nvSpPr>
          <p:cNvPr id="15" name="Shape 11"/>
          <p:cNvSpPr/>
          <p:nvPr/>
        </p:nvSpPr>
        <p:spPr>
          <a:xfrm>
            <a:off x="8046720" y="1371600"/>
            <a:ext cx="3566160" cy="3017520"/>
          </a:xfrm>
          <a:prstGeom prst="roundRect">
            <a:avLst>
              <a:gd name="adj" fmla="val 2424"/>
            </a:avLst>
          </a:prstGeom>
          <a:solidFill>
            <a:schemeClr val="bg2"/>
          </a:solidFill>
          <a:ln w="12700">
            <a:solidFill>
              <a:schemeClr val="bg2"/>
            </a:solidFill>
            <a:prstDash val="solid"/>
          </a:ln>
        </p:spPr>
        <p:txBody>
          <a:bodyPr/>
          <a:lstStyle/>
          <a:p>
            <a:endParaRPr lang="en-IN"/>
          </a:p>
        </p:txBody>
      </p:sp>
      <p:sp>
        <p:nvSpPr>
          <p:cNvPr id="16" name="Shape 12"/>
          <p:cNvSpPr/>
          <p:nvPr/>
        </p:nvSpPr>
        <p:spPr>
          <a:xfrm>
            <a:off x="8321040" y="1600200"/>
            <a:ext cx="640080" cy="640080"/>
          </a:xfrm>
          <a:prstGeom prst="ellipse">
            <a:avLst/>
          </a:prstGeom>
          <a:solidFill>
            <a:schemeClr val="accent2"/>
          </a:solidFill>
          <a:ln w="12700">
            <a:solidFill>
              <a:schemeClr val="accent2"/>
            </a:solidFill>
            <a:prstDash val="solid"/>
          </a:ln>
        </p:spPr>
        <p:txBody>
          <a:bodyPr/>
          <a:lstStyle/>
          <a:p>
            <a:endParaRPr lang="en-IN"/>
          </a:p>
        </p:txBody>
      </p:sp>
      <p:pic>
        <p:nvPicPr>
          <p:cNvPr id="17" name="Image 2" descr="preencoded.png"/>
          <p:cNvPicPr>
            <a:picLocks noChangeAspect="1"/>
          </p:cNvPicPr>
          <p:nvPr/>
        </p:nvPicPr>
        <p:blipFill>
          <a:blip r:embed="rId5"/>
          <a:stretch>
            <a:fillRect/>
          </a:stretch>
        </p:blipFill>
        <p:spPr>
          <a:xfrm>
            <a:off x="8481060" y="1760220"/>
            <a:ext cx="320040" cy="320040"/>
          </a:xfrm>
          <a:prstGeom prst="rect">
            <a:avLst/>
          </a:prstGeom>
        </p:spPr>
      </p:pic>
      <p:sp>
        <p:nvSpPr>
          <p:cNvPr id="18" name="Text 13"/>
          <p:cNvSpPr txBox="1"/>
          <p:nvPr/>
        </p:nvSpPr>
        <p:spPr>
          <a:xfrm>
            <a:off x="8321040" y="2377440"/>
            <a:ext cx="3017520" cy="411480"/>
          </a:xfrm>
          <a:prstGeom prst="rect">
            <a:avLst/>
          </a:prstGeom>
          <a:noFill/>
          <a:ln/>
        </p:spPr>
        <p:txBody>
          <a:bodyPr wrap="square" lIns="0" tIns="0" rIns="0" bIns="0" rtlCol="0" anchor="t"/>
          <a:lstStyle/>
          <a:p>
            <a:pPr marL="0" indent="0">
              <a:buNone/>
            </a:pPr>
            <a:r>
              <a:rPr lang="en-US" sz="1800" b="1" dirty="0">
                <a:solidFill>
                  <a:schemeClr val="tx2"/>
                </a:solidFill>
              </a:rPr>
              <a:t>Macro F1 (main metric)</a:t>
            </a:r>
            <a:endParaRPr lang="en-US" sz="1800" dirty="0"/>
          </a:p>
        </p:txBody>
      </p:sp>
      <p:sp>
        <p:nvSpPr>
          <p:cNvPr id="19" name="Text 14"/>
          <p:cNvSpPr txBox="1"/>
          <p:nvPr/>
        </p:nvSpPr>
        <p:spPr>
          <a:xfrm>
            <a:off x="8321040" y="2834640"/>
            <a:ext cx="3017520" cy="868680"/>
          </a:xfrm>
          <a:prstGeom prst="rect">
            <a:avLst/>
          </a:prstGeom>
          <a:noFill/>
          <a:ln/>
        </p:spPr>
        <p:txBody>
          <a:bodyPr wrap="square" lIns="0" tIns="0" rIns="0" bIns="0" rtlCol="0" anchor="t"/>
          <a:lstStyle/>
          <a:p>
            <a:pPr marL="0" indent="0">
              <a:buNone/>
            </a:pPr>
            <a:r>
              <a:rPr lang="en-US" sz="1400" dirty="0">
                <a:solidFill>
                  <a:schemeClr val="tx1"/>
                </a:solidFill>
              </a:rPr>
              <a:t>Average F1 score of the 5 classes. Rare classes count as much as Normal.</a:t>
            </a:r>
            <a:endParaRPr lang="en-US" sz="1400" dirty="0"/>
          </a:p>
        </p:txBody>
      </p:sp>
      <p:sp>
        <p:nvSpPr>
          <p:cNvPr id="20" name="Text 15"/>
          <p:cNvSpPr txBox="1"/>
          <p:nvPr/>
        </p:nvSpPr>
        <p:spPr>
          <a:xfrm>
            <a:off x="8321040" y="3749040"/>
            <a:ext cx="3017520" cy="457200"/>
          </a:xfrm>
          <a:prstGeom prst="rect">
            <a:avLst/>
          </a:prstGeom>
          <a:noFill/>
          <a:ln/>
        </p:spPr>
        <p:txBody>
          <a:bodyPr wrap="square" lIns="0" tIns="0" rIns="0" bIns="0" rtlCol="0" anchor="t"/>
          <a:lstStyle/>
          <a:p>
            <a:pPr marL="0" indent="0">
              <a:buNone/>
            </a:pPr>
            <a:r>
              <a:rPr lang="en-US" sz="1400" b="1" dirty="0">
                <a:solidFill>
                  <a:schemeClr val="accent2"/>
                </a:solidFill>
              </a:rPr>
              <a:t>Cannot be gamed by guessing Normal</a:t>
            </a:r>
            <a:endParaRPr lang="en-US" sz="1400" dirty="0"/>
          </a:p>
        </p:txBody>
      </p:sp>
      <p:sp>
        <p:nvSpPr>
          <p:cNvPr id="21" name="Shape 16"/>
          <p:cNvSpPr/>
          <p:nvPr/>
        </p:nvSpPr>
        <p:spPr>
          <a:xfrm>
            <a:off x="548640" y="4663440"/>
            <a:ext cx="11064240" cy="1417320"/>
          </a:xfrm>
          <a:prstGeom prst="roundRect">
            <a:avLst>
              <a:gd name="adj" fmla="val 5161"/>
            </a:avLst>
          </a:prstGeom>
          <a:solidFill>
            <a:schemeClr val="tx2"/>
          </a:solidFill>
          <a:ln w="12700">
            <a:solidFill>
              <a:schemeClr val="tx2"/>
            </a:solidFill>
            <a:prstDash val="solid"/>
          </a:ln>
        </p:spPr>
        <p:txBody>
          <a:bodyPr/>
          <a:lstStyle/>
          <a:p>
            <a:endParaRPr lang="en-IN"/>
          </a:p>
        </p:txBody>
      </p:sp>
      <p:sp>
        <p:nvSpPr>
          <p:cNvPr id="22" name="Shape 17"/>
          <p:cNvSpPr/>
          <p:nvPr/>
        </p:nvSpPr>
        <p:spPr>
          <a:xfrm>
            <a:off x="822960" y="4956048"/>
            <a:ext cx="822960" cy="822960"/>
          </a:xfrm>
          <a:prstGeom prst="ellipse">
            <a:avLst/>
          </a:prstGeom>
          <a:solidFill>
            <a:schemeClr val="accent2"/>
          </a:solidFill>
          <a:ln w="12700">
            <a:solidFill>
              <a:schemeClr val="accent2"/>
            </a:solidFill>
            <a:prstDash val="solid"/>
          </a:ln>
        </p:spPr>
        <p:txBody>
          <a:bodyPr/>
          <a:lstStyle/>
          <a:p>
            <a:endParaRPr lang="en-IN"/>
          </a:p>
        </p:txBody>
      </p:sp>
      <p:pic>
        <p:nvPicPr>
          <p:cNvPr id="23" name="Image 3" descr="preencoded.png"/>
          <p:cNvPicPr>
            <a:picLocks noChangeAspect="1"/>
          </p:cNvPicPr>
          <p:nvPr/>
        </p:nvPicPr>
        <p:blipFill>
          <a:blip r:embed="rId6"/>
          <a:stretch>
            <a:fillRect/>
          </a:stretch>
        </p:blipFill>
        <p:spPr>
          <a:xfrm>
            <a:off x="1028700" y="5161788"/>
            <a:ext cx="411480" cy="411480"/>
          </a:xfrm>
          <a:prstGeom prst="rect">
            <a:avLst/>
          </a:prstGeom>
        </p:spPr>
      </p:pic>
      <p:sp>
        <p:nvSpPr>
          <p:cNvPr id="24" name="Text 18"/>
          <p:cNvSpPr txBox="1"/>
          <p:nvPr/>
        </p:nvSpPr>
        <p:spPr>
          <a:xfrm>
            <a:off x="1920240" y="4800600"/>
            <a:ext cx="9418320" cy="1143000"/>
          </a:xfrm>
          <a:prstGeom prst="rect">
            <a:avLst/>
          </a:prstGeom>
          <a:noFill/>
          <a:ln/>
        </p:spPr>
        <p:txBody>
          <a:bodyPr wrap="square" lIns="0" tIns="0" rIns="0" bIns="0" rtlCol="0" anchor="ctr"/>
          <a:lstStyle/>
          <a:p>
            <a:pPr marL="0" indent="0">
              <a:buNone/>
            </a:pPr>
            <a:r>
              <a:rPr lang="en-US" sz="1500" b="1" dirty="0">
                <a:solidFill>
                  <a:schemeClr val="bg1"/>
                </a:solidFill>
              </a:rPr>
              <a:t>In healthcare, recall on abnormal beats matters most. </a:t>
            </a:r>
            <a:r>
              <a:rPr lang="en-US" sz="1500" dirty="0">
                <a:solidFill>
                  <a:schemeClr val="bg1"/>
                </a:solidFill>
              </a:rPr>
              <a:t>A missed arrhythmia is dangerous; a false alarm can simply be re-checked by a doctor. We also use the confusion matrix to see which classes get mixed up.</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C7A8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dirty="0"/>
              <a:t>My</a:t>
            </a:r>
            <a:r>
              <a:rPr lang="en-US" sz="3200" b="1" dirty="0">
                <a:solidFill>
                  <a:srgbClr val="12263A"/>
                </a:solidFill>
              </a:rPr>
              <a:t> approach: change one thing at a time</a:t>
            </a:r>
            <a:endParaRPr lang="en-US" sz="3200" dirty="0"/>
          </a:p>
        </p:txBody>
      </p:sp>
      <p:sp>
        <p:nvSpPr>
          <p:cNvPr id="3" name="Shape 1"/>
          <p:cNvSpPr/>
          <p:nvPr/>
        </p:nvSpPr>
        <p:spPr>
          <a:xfrm>
            <a:off x="548640" y="1371600"/>
            <a:ext cx="1965960" cy="1051560"/>
          </a:xfrm>
          <a:prstGeom prst="roundRect">
            <a:avLst>
              <a:gd name="adj" fmla="val 6957"/>
            </a:avLst>
          </a:prstGeom>
          <a:solidFill>
            <a:schemeClr val="tx2"/>
          </a:solidFill>
          <a:ln w="12700">
            <a:solidFill>
              <a:schemeClr val="tx2"/>
            </a:solidFill>
            <a:prstDash val="solid"/>
          </a:ln>
        </p:spPr>
        <p:txBody>
          <a:bodyPr/>
          <a:lstStyle/>
          <a:p>
            <a:endParaRPr lang="en-IN"/>
          </a:p>
        </p:txBody>
      </p:sp>
      <p:sp>
        <p:nvSpPr>
          <p:cNvPr id="4" name="Text 2"/>
          <p:cNvSpPr txBox="1"/>
          <p:nvPr/>
        </p:nvSpPr>
        <p:spPr>
          <a:xfrm>
            <a:off x="731520" y="1463040"/>
            <a:ext cx="457200" cy="365760"/>
          </a:xfrm>
          <a:prstGeom prst="rect">
            <a:avLst/>
          </a:prstGeom>
          <a:noFill/>
          <a:ln/>
        </p:spPr>
        <p:txBody>
          <a:bodyPr wrap="square" lIns="0" tIns="0" rIns="0" bIns="0" rtlCol="0" anchor="t"/>
          <a:lstStyle/>
          <a:p>
            <a:pPr marL="0" indent="0">
              <a:buNone/>
            </a:pPr>
            <a:r>
              <a:rPr lang="en-US" sz="1600" b="1" dirty="0">
                <a:solidFill>
                  <a:srgbClr val="CADCFC"/>
                </a:solidFill>
              </a:rPr>
              <a:t>1</a:t>
            </a:r>
            <a:endParaRPr lang="en-US" sz="1600" dirty="0"/>
          </a:p>
        </p:txBody>
      </p:sp>
      <p:sp>
        <p:nvSpPr>
          <p:cNvPr id="5" name="Text 3"/>
          <p:cNvSpPr txBox="1"/>
          <p:nvPr/>
        </p:nvSpPr>
        <p:spPr>
          <a:xfrm>
            <a:off x="731520" y="1783080"/>
            <a:ext cx="1645920" cy="548640"/>
          </a:xfrm>
          <a:prstGeom prst="rect">
            <a:avLst/>
          </a:prstGeom>
          <a:noFill/>
          <a:ln/>
        </p:spPr>
        <p:txBody>
          <a:bodyPr wrap="square" lIns="0" tIns="0" rIns="0" bIns="0" rtlCol="0" anchor="t"/>
          <a:lstStyle/>
          <a:p>
            <a:pPr marL="0" indent="0">
              <a:buNone/>
            </a:pPr>
            <a:r>
              <a:rPr lang="en-US" sz="1600" b="1" dirty="0">
                <a:solidFill>
                  <a:schemeClr val="bg1"/>
                </a:solidFill>
              </a:rPr>
              <a:t>Build a model</a:t>
            </a:r>
            <a:endParaRPr lang="en-US" sz="1600" dirty="0"/>
          </a:p>
        </p:txBody>
      </p:sp>
      <p:sp>
        <p:nvSpPr>
          <p:cNvPr id="6" name="Shape 4"/>
          <p:cNvSpPr/>
          <p:nvPr/>
        </p:nvSpPr>
        <p:spPr>
          <a:xfrm rot="5400000">
            <a:off x="2587752" y="1783080"/>
            <a:ext cx="182880" cy="228600"/>
          </a:xfrm>
          <a:prstGeom prst="triangle">
            <a:avLst/>
          </a:prstGeom>
          <a:solidFill>
            <a:schemeClr val="accent5"/>
          </a:solidFill>
          <a:ln w="12700">
            <a:solidFill>
              <a:schemeClr val="accent5"/>
            </a:solidFill>
            <a:prstDash val="solid"/>
          </a:ln>
        </p:spPr>
        <p:txBody>
          <a:bodyPr/>
          <a:lstStyle/>
          <a:p>
            <a:endParaRPr lang="en-IN"/>
          </a:p>
        </p:txBody>
      </p:sp>
      <p:sp>
        <p:nvSpPr>
          <p:cNvPr id="7" name="Shape 5"/>
          <p:cNvSpPr/>
          <p:nvPr/>
        </p:nvSpPr>
        <p:spPr>
          <a:xfrm>
            <a:off x="2816352" y="1371600"/>
            <a:ext cx="1965960" cy="1051560"/>
          </a:xfrm>
          <a:prstGeom prst="roundRect">
            <a:avLst>
              <a:gd name="adj" fmla="val 6957"/>
            </a:avLst>
          </a:prstGeom>
          <a:solidFill>
            <a:schemeClr val="tx2"/>
          </a:solidFill>
          <a:ln w="12700">
            <a:solidFill>
              <a:schemeClr val="tx2"/>
            </a:solidFill>
            <a:prstDash val="solid"/>
          </a:ln>
        </p:spPr>
        <p:txBody>
          <a:bodyPr/>
          <a:lstStyle/>
          <a:p>
            <a:endParaRPr lang="en-IN"/>
          </a:p>
        </p:txBody>
      </p:sp>
      <p:sp>
        <p:nvSpPr>
          <p:cNvPr id="8" name="Text 6"/>
          <p:cNvSpPr txBox="1"/>
          <p:nvPr/>
        </p:nvSpPr>
        <p:spPr>
          <a:xfrm>
            <a:off x="2999232" y="1463040"/>
            <a:ext cx="457200" cy="365760"/>
          </a:xfrm>
          <a:prstGeom prst="rect">
            <a:avLst/>
          </a:prstGeom>
          <a:noFill/>
          <a:ln/>
        </p:spPr>
        <p:txBody>
          <a:bodyPr wrap="square" lIns="0" tIns="0" rIns="0" bIns="0" rtlCol="0" anchor="t"/>
          <a:lstStyle/>
          <a:p>
            <a:pPr marL="0" indent="0">
              <a:buNone/>
            </a:pPr>
            <a:r>
              <a:rPr lang="en-US" sz="1600" b="1" dirty="0">
                <a:solidFill>
                  <a:srgbClr val="CADCFC"/>
                </a:solidFill>
              </a:rPr>
              <a:t>2</a:t>
            </a:r>
            <a:endParaRPr lang="en-US" sz="1600" dirty="0"/>
          </a:p>
        </p:txBody>
      </p:sp>
      <p:sp>
        <p:nvSpPr>
          <p:cNvPr id="9" name="Text 7"/>
          <p:cNvSpPr txBox="1"/>
          <p:nvPr/>
        </p:nvSpPr>
        <p:spPr>
          <a:xfrm>
            <a:off x="2999232" y="1783080"/>
            <a:ext cx="1645920" cy="548640"/>
          </a:xfrm>
          <a:prstGeom prst="rect">
            <a:avLst/>
          </a:prstGeom>
          <a:noFill/>
          <a:ln/>
        </p:spPr>
        <p:txBody>
          <a:bodyPr wrap="square" lIns="0" tIns="0" rIns="0" bIns="0" rtlCol="0" anchor="t"/>
          <a:lstStyle/>
          <a:p>
            <a:pPr marL="0" indent="0">
              <a:buNone/>
            </a:pPr>
            <a:r>
              <a:rPr lang="en-US" sz="1600" b="1" dirty="0">
                <a:solidFill>
                  <a:schemeClr val="bg1"/>
                </a:solidFill>
              </a:rPr>
              <a:t>Measure it</a:t>
            </a:r>
            <a:endParaRPr lang="en-US" sz="1600" dirty="0"/>
          </a:p>
        </p:txBody>
      </p:sp>
      <p:sp>
        <p:nvSpPr>
          <p:cNvPr id="10" name="Shape 8"/>
          <p:cNvSpPr/>
          <p:nvPr/>
        </p:nvSpPr>
        <p:spPr>
          <a:xfrm rot="5400000">
            <a:off x="4855464" y="1783080"/>
            <a:ext cx="182880" cy="228600"/>
          </a:xfrm>
          <a:prstGeom prst="triangle">
            <a:avLst/>
          </a:prstGeom>
          <a:solidFill>
            <a:schemeClr val="accent5"/>
          </a:solidFill>
          <a:ln w="12700">
            <a:solidFill>
              <a:schemeClr val="accent5"/>
            </a:solidFill>
            <a:prstDash val="solid"/>
          </a:ln>
        </p:spPr>
        <p:txBody>
          <a:bodyPr/>
          <a:lstStyle/>
          <a:p>
            <a:endParaRPr lang="en-IN"/>
          </a:p>
        </p:txBody>
      </p:sp>
      <p:sp>
        <p:nvSpPr>
          <p:cNvPr id="11" name="Shape 9"/>
          <p:cNvSpPr/>
          <p:nvPr/>
        </p:nvSpPr>
        <p:spPr>
          <a:xfrm>
            <a:off x="5084064" y="1371600"/>
            <a:ext cx="1965960" cy="1051560"/>
          </a:xfrm>
          <a:prstGeom prst="roundRect">
            <a:avLst>
              <a:gd name="adj" fmla="val 6957"/>
            </a:avLst>
          </a:prstGeom>
          <a:solidFill>
            <a:schemeClr val="tx2"/>
          </a:solidFill>
          <a:ln w="12700">
            <a:solidFill>
              <a:schemeClr val="tx2"/>
            </a:solidFill>
            <a:prstDash val="solid"/>
          </a:ln>
        </p:spPr>
        <p:txBody>
          <a:bodyPr/>
          <a:lstStyle/>
          <a:p>
            <a:endParaRPr lang="en-IN"/>
          </a:p>
        </p:txBody>
      </p:sp>
      <p:sp>
        <p:nvSpPr>
          <p:cNvPr id="12" name="Text 10"/>
          <p:cNvSpPr txBox="1"/>
          <p:nvPr/>
        </p:nvSpPr>
        <p:spPr>
          <a:xfrm>
            <a:off x="5266944" y="1463040"/>
            <a:ext cx="457200" cy="365760"/>
          </a:xfrm>
          <a:prstGeom prst="rect">
            <a:avLst/>
          </a:prstGeom>
          <a:noFill/>
          <a:ln/>
        </p:spPr>
        <p:txBody>
          <a:bodyPr wrap="square" lIns="0" tIns="0" rIns="0" bIns="0" rtlCol="0" anchor="t"/>
          <a:lstStyle/>
          <a:p>
            <a:pPr marL="0" indent="0">
              <a:buNone/>
            </a:pPr>
            <a:r>
              <a:rPr lang="en-US" sz="1600" b="1" dirty="0">
                <a:solidFill>
                  <a:srgbClr val="CADCFC"/>
                </a:solidFill>
              </a:rPr>
              <a:t>3</a:t>
            </a:r>
            <a:endParaRPr lang="en-US" sz="1600" dirty="0"/>
          </a:p>
        </p:txBody>
      </p:sp>
      <p:sp>
        <p:nvSpPr>
          <p:cNvPr id="13" name="Text 11"/>
          <p:cNvSpPr txBox="1"/>
          <p:nvPr/>
        </p:nvSpPr>
        <p:spPr>
          <a:xfrm>
            <a:off x="5266944" y="1783080"/>
            <a:ext cx="1645920" cy="548640"/>
          </a:xfrm>
          <a:prstGeom prst="rect">
            <a:avLst/>
          </a:prstGeom>
          <a:noFill/>
          <a:ln/>
        </p:spPr>
        <p:txBody>
          <a:bodyPr wrap="square" lIns="0" tIns="0" rIns="0" bIns="0" rtlCol="0" anchor="t"/>
          <a:lstStyle/>
          <a:p>
            <a:pPr marL="0" indent="0">
              <a:buNone/>
            </a:pPr>
            <a:r>
              <a:rPr lang="en-US" sz="1600" b="1" dirty="0">
                <a:solidFill>
                  <a:schemeClr val="bg1"/>
                </a:solidFill>
              </a:rPr>
              <a:t>Find its weakness</a:t>
            </a:r>
            <a:endParaRPr lang="en-US" sz="1600" dirty="0"/>
          </a:p>
        </p:txBody>
      </p:sp>
      <p:sp>
        <p:nvSpPr>
          <p:cNvPr id="14" name="Shape 12"/>
          <p:cNvSpPr/>
          <p:nvPr/>
        </p:nvSpPr>
        <p:spPr>
          <a:xfrm rot="5400000">
            <a:off x="7123176" y="1783080"/>
            <a:ext cx="182880" cy="228600"/>
          </a:xfrm>
          <a:prstGeom prst="triangle">
            <a:avLst/>
          </a:prstGeom>
          <a:solidFill>
            <a:schemeClr val="accent5"/>
          </a:solidFill>
          <a:ln w="12700">
            <a:solidFill>
              <a:schemeClr val="accent5"/>
            </a:solidFill>
            <a:prstDash val="solid"/>
          </a:ln>
        </p:spPr>
        <p:txBody>
          <a:bodyPr/>
          <a:lstStyle/>
          <a:p>
            <a:endParaRPr lang="en-IN"/>
          </a:p>
        </p:txBody>
      </p:sp>
      <p:sp>
        <p:nvSpPr>
          <p:cNvPr id="15" name="Shape 13"/>
          <p:cNvSpPr/>
          <p:nvPr/>
        </p:nvSpPr>
        <p:spPr>
          <a:xfrm>
            <a:off x="7351776" y="1371600"/>
            <a:ext cx="1965960" cy="1051560"/>
          </a:xfrm>
          <a:prstGeom prst="roundRect">
            <a:avLst>
              <a:gd name="adj" fmla="val 6957"/>
            </a:avLst>
          </a:prstGeom>
          <a:solidFill>
            <a:schemeClr val="accent2"/>
          </a:solidFill>
          <a:ln w="12700">
            <a:solidFill>
              <a:schemeClr val="accent2"/>
            </a:solidFill>
            <a:prstDash val="solid"/>
          </a:ln>
        </p:spPr>
        <p:txBody>
          <a:bodyPr/>
          <a:lstStyle/>
          <a:p>
            <a:endParaRPr lang="en-IN" dirty="0"/>
          </a:p>
        </p:txBody>
      </p:sp>
      <p:sp>
        <p:nvSpPr>
          <p:cNvPr id="16" name="Text 14"/>
          <p:cNvSpPr txBox="1"/>
          <p:nvPr/>
        </p:nvSpPr>
        <p:spPr>
          <a:xfrm>
            <a:off x="7534656" y="1463040"/>
            <a:ext cx="457200" cy="365760"/>
          </a:xfrm>
          <a:prstGeom prst="rect">
            <a:avLst/>
          </a:prstGeom>
          <a:noFill/>
          <a:ln/>
        </p:spPr>
        <p:txBody>
          <a:bodyPr wrap="square" lIns="0" tIns="0" rIns="0" bIns="0" rtlCol="0" anchor="t"/>
          <a:lstStyle/>
          <a:p>
            <a:pPr marL="0" indent="0">
              <a:buNone/>
            </a:pPr>
            <a:r>
              <a:rPr lang="en-US" sz="1600" b="1" dirty="0">
                <a:solidFill>
                  <a:srgbClr val="CADCFC"/>
                </a:solidFill>
              </a:rPr>
              <a:t>4</a:t>
            </a:r>
            <a:endParaRPr lang="en-US" sz="1600" dirty="0"/>
          </a:p>
        </p:txBody>
      </p:sp>
      <p:sp>
        <p:nvSpPr>
          <p:cNvPr id="17" name="Text 15"/>
          <p:cNvSpPr txBox="1"/>
          <p:nvPr/>
        </p:nvSpPr>
        <p:spPr>
          <a:xfrm>
            <a:off x="7534656" y="1783080"/>
            <a:ext cx="1645920" cy="548640"/>
          </a:xfrm>
          <a:prstGeom prst="rect">
            <a:avLst/>
          </a:prstGeom>
          <a:noFill/>
          <a:ln/>
        </p:spPr>
        <p:txBody>
          <a:bodyPr wrap="square" lIns="0" tIns="0" rIns="0" bIns="0" rtlCol="0" anchor="t"/>
          <a:lstStyle/>
          <a:p>
            <a:pPr marL="0" indent="0">
              <a:buNone/>
            </a:pPr>
            <a:r>
              <a:rPr lang="en-US" sz="1600" b="1" dirty="0">
                <a:solidFill>
                  <a:schemeClr val="bg1"/>
                </a:solidFill>
              </a:rPr>
              <a:t>Change ONE thing</a:t>
            </a:r>
            <a:endParaRPr lang="en-US" sz="1600" dirty="0"/>
          </a:p>
        </p:txBody>
      </p:sp>
      <p:sp>
        <p:nvSpPr>
          <p:cNvPr id="18" name="Shape 16"/>
          <p:cNvSpPr/>
          <p:nvPr/>
        </p:nvSpPr>
        <p:spPr>
          <a:xfrm rot="5400000">
            <a:off x="9390888" y="1783080"/>
            <a:ext cx="182880" cy="228600"/>
          </a:xfrm>
          <a:prstGeom prst="triangle">
            <a:avLst/>
          </a:prstGeom>
          <a:solidFill>
            <a:schemeClr val="accent5"/>
          </a:solidFill>
          <a:ln w="12700">
            <a:solidFill>
              <a:schemeClr val="accent5"/>
            </a:solidFill>
            <a:prstDash val="solid"/>
          </a:ln>
        </p:spPr>
        <p:txBody>
          <a:bodyPr/>
          <a:lstStyle/>
          <a:p>
            <a:endParaRPr lang="en-IN"/>
          </a:p>
        </p:txBody>
      </p:sp>
      <p:sp>
        <p:nvSpPr>
          <p:cNvPr id="19" name="Shape 17"/>
          <p:cNvSpPr/>
          <p:nvPr/>
        </p:nvSpPr>
        <p:spPr>
          <a:xfrm>
            <a:off x="9619488" y="1371600"/>
            <a:ext cx="1965960" cy="1051560"/>
          </a:xfrm>
          <a:prstGeom prst="roundRect">
            <a:avLst>
              <a:gd name="adj" fmla="val 6957"/>
            </a:avLst>
          </a:prstGeom>
          <a:solidFill>
            <a:schemeClr val="tx2"/>
          </a:solidFill>
          <a:ln w="12700">
            <a:solidFill>
              <a:schemeClr val="tx2"/>
            </a:solidFill>
            <a:prstDash val="solid"/>
          </a:ln>
        </p:spPr>
        <p:txBody>
          <a:bodyPr/>
          <a:lstStyle/>
          <a:p>
            <a:endParaRPr lang="en-IN"/>
          </a:p>
        </p:txBody>
      </p:sp>
      <p:sp>
        <p:nvSpPr>
          <p:cNvPr id="20" name="Text 18"/>
          <p:cNvSpPr txBox="1"/>
          <p:nvPr/>
        </p:nvSpPr>
        <p:spPr>
          <a:xfrm>
            <a:off x="9802368" y="1463040"/>
            <a:ext cx="457200" cy="365760"/>
          </a:xfrm>
          <a:prstGeom prst="rect">
            <a:avLst/>
          </a:prstGeom>
          <a:noFill/>
          <a:ln/>
        </p:spPr>
        <p:txBody>
          <a:bodyPr wrap="square" lIns="0" tIns="0" rIns="0" bIns="0" rtlCol="0" anchor="t"/>
          <a:lstStyle/>
          <a:p>
            <a:pPr marL="0" indent="0">
              <a:buNone/>
            </a:pPr>
            <a:r>
              <a:rPr lang="en-US" sz="1600" b="1" dirty="0">
                <a:solidFill>
                  <a:srgbClr val="CADCFC"/>
                </a:solidFill>
              </a:rPr>
              <a:t>5</a:t>
            </a:r>
            <a:endParaRPr lang="en-US" sz="1600" dirty="0"/>
          </a:p>
        </p:txBody>
      </p:sp>
      <p:sp>
        <p:nvSpPr>
          <p:cNvPr id="21" name="Text 19"/>
          <p:cNvSpPr txBox="1"/>
          <p:nvPr/>
        </p:nvSpPr>
        <p:spPr>
          <a:xfrm>
            <a:off x="9802368" y="1783080"/>
            <a:ext cx="1645920" cy="548640"/>
          </a:xfrm>
          <a:prstGeom prst="rect">
            <a:avLst/>
          </a:prstGeom>
          <a:noFill/>
          <a:ln/>
        </p:spPr>
        <p:txBody>
          <a:bodyPr wrap="square" lIns="0" tIns="0" rIns="0" bIns="0" rtlCol="0" anchor="t"/>
          <a:lstStyle/>
          <a:p>
            <a:pPr marL="0" indent="0">
              <a:buNone/>
            </a:pPr>
            <a:r>
              <a:rPr lang="en-US" sz="1600" b="1" dirty="0">
                <a:solidFill>
                  <a:schemeClr val="bg1"/>
                </a:solidFill>
              </a:rPr>
              <a:t>Compare &amp; repeat</a:t>
            </a:r>
            <a:endParaRPr lang="en-US" sz="1600" dirty="0"/>
          </a:p>
        </p:txBody>
      </p:sp>
      <p:sp>
        <p:nvSpPr>
          <p:cNvPr id="22" name="Text 20"/>
          <p:cNvSpPr txBox="1"/>
          <p:nvPr/>
        </p:nvSpPr>
        <p:spPr>
          <a:xfrm>
            <a:off x="548640" y="2606040"/>
            <a:ext cx="11064240" cy="365760"/>
          </a:xfrm>
          <a:prstGeom prst="rect">
            <a:avLst/>
          </a:prstGeom>
          <a:noFill/>
          <a:ln/>
        </p:spPr>
        <p:txBody>
          <a:bodyPr wrap="square" lIns="0" tIns="0" rIns="0" bIns="0" rtlCol="0" anchor="t"/>
          <a:lstStyle/>
          <a:p>
            <a:pPr marL="0" indent="0">
              <a:buNone/>
            </a:pPr>
            <a:r>
              <a:rPr lang="en-US" sz="1500" i="1" dirty="0">
                <a:solidFill>
                  <a:schemeClr val="tx2"/>
                </a:solidFill>
              </a:rPr>
              <a:t>Why? When a score changes, we know exactly which change caused it, so every decision is backed by evidence.</a:t>
            </a:r>
            <a:endParaRPr lang="en-US" sz="1500" dirty="0"/>
          </a:p>
        </p:txBody>
      </p:sp>
      <p:sp>
        <p:nvSpPr>
          <p:cNvPr id="23" name="Text 21"/>
          <p:cNvSpPr txBox="1"/>
          <p:nvPr/>
        </p:nvSpPr>
        <p:spPr>
          <a:xfrm>
            <a:off x="548640" y="3246120"/>
            <a:ext cx="11064240" cy="365760"/>
          </a:xfrm>
          <a:prstGeom prst="rect">
            <a:avLst/>
          </a:prstGeom>
          <a:noFill/>
          <a:ln/>
        </p:spPr>
        <p:txBody>
          <a:bodyPr wrap="square" lIns="0" tIns="0" rIns="0" bIns="0" rtlCol="0" anchor="t"/>
          <a:lstStyle/>
          <a:p>
            <a:pPr marL="0" indent="0">
              <a:buNone/>
            </a:pPr>
            <a:r>
              <a:rPr lang="en-US" sz="1600" b="1" dirty="0">
                <a:solidFill>
                  <a:schemeClr val="tx2"/>
                </a:solidFill>
              </a:rPr>
              <a:t>To keep the comparison fair, these stay the same in every step:</a:t>
            </a:r>
            <a:endParaRPr lang="en-US" sz="1600" dirty="0"/>
          </a:p>
        </p:txBody>
      </p:sp>
      <p:sp>
        <p:nvSpPr>
          <p:cNvPr id="24" name="Shape 22"/>
          <p:cNvSpPr/>
          <p:nvPr/>
        </p:nvSpPr>
        <p:spPr>
          <a:xfrm>
            <a:off x="548640" y="3749040"/>
            <a:ext cx="2628900" cy="2377440"/>
          </a:xfrm>
          <a:prstGeom prst="roundRect">
            <a:avLst>
              <a:gd name="adj" fmla="val 3077"/>
            </a:avLst>
          </a:prstGeom>
          <a:solidFill>
            <a:schemeClr val="bg2"/>
          </a:solidFill>
          <a:ln w="12700">
            <a:solidFill>
              <a:schemeClr val="bg2"/>
            </a:solidFill>
            <a:prstDash val="solid"/>
          </a:ln>
        </p:spPr>
        <p:txBody>
          <a:bodyPr/>
          <a:lstStyle/>
          <a:p>
            <a:endParaRPr lang="en-IN"/>
          </a:p>
        </p:txBody>
      </p:sp>
      <p:sp>
        <p:nvSpPr>
          <p:cNvPr id="25" name="Shape 23"/>
          <p:cNvSpPr/>
          <p:nvPr/>
        </p:nvSpPr>
        <p:spPr>
          <a:xfrm>
            <a:off x="777240" y="3977640"/>
            <a:ext cx="548640" cy="548640"/>
          </a:xfrm>
          <a:prstGeom prst="ellipse">
            <a:avLst/>
          </a:prstGeom>
          <a:solidFill>
            <a:schemeClr val="accent1"/>
          </a:solidFill>
          <a:ln w="12700">
            <a:solidFill>
              <a:schemeClr val="accent1"/>
            </a:solidFill>
            <a:prstDash val="solid"/>
          </a:ln>
        </p:spPr>
        <p:txBody>
          <a:bodyPr/>
          <a:lstStyle/>
          <a:p>
            <a:endParaRPr lang="en-IN"/>
          </a:p>
        </p:txBody>
      </p:sp>
      <p:pic>
        <p:nvPicPr>
          <p:cNvPr id="26" name="Image 0" descr="preencoded.png"/>
          <p:cNvPicPr>
            <a:picLocks noChangeAspect="1"/>
          </p:cNvPicPr>
          <p:nvPr/>
        </p:nvPicPr>
        <p:blipFill>
          <a:blip r:embed="rId3"/>
          <a:stretch>
            <a:fillRect/>
          </a:stretch>
        </p:blipFill>
        <p:spPr>
          <a:xfrm>
            <a:off x="914400" y="4114800"/>
            <a:ext cx="274320" cy="274320"/>
          </a:xfrm>
          <a:prstGeom prst="rect">
            <a:avLst/>
          </a:prstGeom>
        </p:spPr>
      </p:pic>
      <p:sp>
        <p:nvSpPr>
          <p:cNvPr id="27" name="Text 24"/>
          <p:cNvSpPr txBox="1"/>
          <p:nvPr/>
        </p:nvSpPr>
        <p:spPr>
          <a:xfrm>
            <a:off x="777240" y="4663440"/>
            <a:ext cx="2194560" cy="365760"/>
          </a:xfrm>
          <a:prstGeom prst="rect">
            <a:avLst/>
          </a:prstGeom>
          <a:noFill/>
          <a:ln/>
        </p:spPr>
        <p:txBody>
          <a:bodyPr wrap="square" lIns="0" tIns="0" rIns="0" bIns="0" rtlCol="0" anchor="t"/>
          <a:lstStyle/>
          <a:p>
            <a:pPr marL="0" indent="0">
              <a:buNone/>
            </a:pPr>
            <a:r>
              <a:rPr lang="en-US" sz="1500" b="1" dirty="0">
                <a:solidFill>
                  <a:schemeClr val="tx2"/>
                </a:solidFill>
              </a:rPr>
              <a:t>Same data split</a:t>
            </a:r>
            <a:endParaRPr lang="en-US" sz="1500" dirty="0"/>
          </a:p>
        </p:txBody>
      </p:sp>
      <p:sp>
        <p:nvSpPr>
          <p:cNvPr id="28" name="Text 25"/>
          <p:cNvSpPr txBox="1"/>
          <p:nvPr/>
        </p:nvSpPr>
        <p:spPr>
          <a:xfrm>
            <a:off x="777240" y="5074920"/>
            <a:ext cx="2194560" cy="914400"/>
          </a:xfrm>
          <a:prstGeom prst="rect">
            <a:avLst/>
          </a:prstGeom>
          <a:noFill/>
          <a:ln/>
        </p:spPr>
        <p:txBody>
          <a:bodyPr wrap="square" lIns="0" tIns="0" rIns="0" bIns="0" rtlCol="0" anchor="t"/>
          <a:lstStyle/>
          <a:p>
            <a:pPr marL="0" indent="0">
              <a:buNone/>
            </a:pPr>
            <a:r>
              <a:rPr lang="en-US" sz="1400" dirty="0">
                <a:solidFill>
                  <a:schemeClr val="tx1"/>
                </a:solidFill>
              </a:rPr>
              <a:t>Train 90% / validation 10% / separate test set.</a:t>
            </a:r>
            <a:endParaRPr lang="en-US" sz="1400" dirty="0"/>
          </a:p>
        </p:txBody>
      </p:sp>
      <p:sp>
        <p:nvSpPr>
          <p:cNvPr id="29" name="Shape 26"/>
          <p:cNvSpPr/>
          <p:nvPr/>
        </p:nvSpPr>
        <p:spPr>
          <a:xfrm>
            <a:off x="3360420" y="3749040"/>
            <a:ext cx="2628900" cy="2377440"/>
          </a:xfrm>
          <a:prstGeom prst="roundRect">
            <a:avLst>
              <a:gd name="adj" fmla="val 3077"/>
            </a:avLst>
          </a:prstGeom>
          <a:solidFill>
            <a:schemeClr val="bg2"/>
          </a:solidFill>
          <a:ln w="12700">
            <a:solidFill>
              <a:schemeClr val="bg2"/>
            </a:solidFill>
            <a:prstDash val="solid"/>
          </a:ln>
        </p:spPr>
        <p:txBody>
          <a:bodyPr/>
          <a:lstStyle/>
          <a:p>
            <a:endParaRPr lang="en-IN"/>
          </a:p>
        </p:txBody>
      </p:sp>
      <p:sp>
        <p:nvSpPr>
          <p:cNvPr id="30" name="Shape 27"/>
          <p:cNvSpPr/>
          <p:nvPr/>
        </p:nvSpPr>
        <p:spPr>
          <a:xfrm>
            <a:off x="3589020" y="3977640"/>
            <a:ext cx="548640" cy="548640"/>
          </a:xfrm>
          <a:prstGeom prst="ellipse">
            <a:avLst/>
          </a:prstGeom>
          <a:solidFill>
            <a:schemeClr val="accent1"/>
          </a:solidFill>
          <a:ln w="12700">
            <a:solidFill>
              <a:schemeClr val="accent1"/>
            </a:solidFill>
            <a:prstDash val="solid"/>
          </a:ln>
        </p:spPr>
        <p:txBody>
          <a:bodyPr/>
          <a:lstStyle/>
          <a:p>
            <a:endParaRPr lang="en-IN"/>
          </a:p>
        </p:txBody>
      </p:sp>
      <p:pic>
        <p:nvPicPr>
          <p:cNvPr id="31" name="Image 1" descr="preencoded.png"/>
          <p:cNvPicPr>
            <a:picLocks noChangeAspect="1"/>
          </p:cNvPicPr>
          <p:nvPr/>
        </p:nvPicPr>
        <p:blipFill>
          <a:blip r:embed="rId4"/>
          <a:stretch>
            <a:fillRect/>
          </a:stretch>
        </p:blipFill>
        <p:spPr>
          <a:xfrm>
            <a:off x="3726180" y="4114800"/>
            <a:ext cx="274320" cy="274320"/>
          </a:xfrm>
          <a:prstGeom prst="rect">
            <a:avLst/>
          </a:prstGeom>
        </p:spPr>
      </p:pic>
      <p:sp>
        <p:nvSpPr>
          <p:cNvPr id="32" name="Text 28"/>
          <p:cNvSpPr txBox="1"/>
          <p:nvPr/>
        </p:nvSpPr>
        <p:spPr>
          <a:xfrm>
            <a:off x="3589020" y="4663440"/>
            <a:ext cx="2194560" cy="365760"/>
          </a:xfrm>
          <a:prstGeom prst="rect">
            <a:avLst/>
          </a:prstGeom>
          <a:noFill/>
          <a:ln/>
        </p:spPr>
        <p:txBody>
          <a:bodyPr wrap="square" lIns="0" tIns="0" rIns="0" bIns="0" rtlCol="0" anchor="t"/>
          <a:lstStyle/>
          <a:p>
            <a:pPr marL="0" indent="0">
              <a:buNone/>
            </a:pPr>
            <a:r>
              <a:rPr lang="en-US" sz="1500" b="1" dirty="0">
                <a:solidFill>
                  <a:schemeClr val="tx2"/>
                </a:solidFill>
              </a:rPr>
              <a:t>Same training settings</a:t>
            </a:r>
            <a:endParaRPr lang="en-US" sz="1500" dirty="0"/>
          </a:p>
        </p:txBody>
      </p:sp>
      <p:sp>
        <p:nvSpPr>
          <p:cNvPr id="33" name="Text 29"/>
          <p:cNvSpPr txBox="1"/>
          <p:nvPr/>
        </p:nvSpPr>
        <p:spPr>
          <a:xfrm>
            <a:off x="3589020" y="5074920"/>
            <a:ext cx="2194560" cy="914400"/>
          </a:xfrm>
          <a:prstGeom prst="rect">
            <a:avLst/>
          </a:prstGeom>
          <a:noFill/>
          <a:ln/>
        </p:spPr>
        <p:txBody>
          <a:bodyPr wrap="square" lIns="0" tIns="0" rIns="0" bIns="0" rtlCol="0" anchor="t"/>
          <a:lstStyle/>
          <a:p>
            <a:pPr marL="0" indent="0">
              <a:buNone/>
            </a:pPr>
            <a:r>
              <a:rPr lang="en-US" sz="1400" dirty="0">
                <a:solidFill>
                  <a:schemeClr val="tx1"/>
                </a:solidFill>
              </a:rPr>
              <a:t>Adam optimizer, learning rate 0.001, batch size 128.</a:t>
            </a:r>
            <a:endParaRPr lang="en-US" sz="1400" dirty="0"/>
          </a:p>
        </p:txBody>
      </p:sp>
      <p:sp>
        <p:nvSpPr>
          <p:cNvPr id="34" name="Shape 30"/>
          <p:cNvSpPr/>
          <p:nvPr/>
        </p:nvSpPr>
        <p:spPr>
          <a:xfrm>
            <a:off x="6172200" y="3749040"/>
            <a:ext cx="2628900" cy="2377440"/>
          </a:xfrm>
          <a:prstGeom prst="roundRect">
            <a:avLst>
              <a:gd name="adj" fmla="val 3077"/>
            </a:avLst>
          </a:prstGeom>
          <a:solidFill>
            <a:schemeClr val="bg2"/>
          </a:solidFill>
          <a:ln w="12700">
            <a:solidFill>
              <a:schemeClr val="bg2"/>
            </a:solidFill>
            <a:prstDash val="solid"/>
          </a:ln>
        </p:spPr>
        <p:txBody>
          <a:bodyPr/>
          <a:lstStyle/>
          <a:p>
            <a:endParaRPr lang="en-IN"/>
          </a:p>
        </p:txBody>
      </p:sp>
      <p:sp>
        <p:nvSpPr>
          <p:cNvPr id="35" name="Shape 31"/>
          <p:cNvSpPr/>
          <p:nvPr/>
        </p:nvSpPr>
        <p:spPr>
          <a:xfrm>
            <a:off x="6400800" y="3977640"/>
            <a:ext cx="548640" cy="548640"/>
          </a:xfrm>
          <a:prstGeom prst="ellipse">
            <a:avLst/>
          </a:prstGeom>
          <a:solidFill>
            <a:schemeClr val="accent1"/>
          </a:solidFill>
          <a:ln w="12700">
            <a:solidFill>
              <a:schemeClr val="accent1"/>
            </a:solidFill>
            <a:prstDash val="solid"/>
          </a:ln>
        </p:spPr>
        <p:txBody>
          <a:bodyPr/>
          <a:lstStyle/>
          <a:p>
            <a:endParaRPr lang="en-IN"/>
          </a:p>
        </p:txBody>
      </p:sp>
      <p:pic>
        <p:nvPicPr>
          <p:cNvPr id="36" name="Image 2" descr="preencoded.png"/>
          <p:cNvPicPr>
            <a:picLocks noChangeAspect="1"/>
          </p:cNvPicPr>
          <p:nvPr/>
        </p:nvPicPr>
        <p:blipFill>
          <a:blip r:embed="rId5"/>
          <a:stretch>
            <a:fillRect/>
          </a:stretch>
        </p:blipFill>
        <p:spPr>
          <a:xfrm>
            <a:off x="6537960" y="4114800"/>
            <a:ext cx="274320" cy="274320"/>
          </a:xfrm>
          <a:prstGeom prst="rect">
            <a:avLst/>
          </a:prstGeom>
        </p:spPr>
      </p:pic>
      <p:sp>
        <p:nvSpPr>
          <p:cNvPr id="37" name="Text 32"/>
          <p:cNvSpPr txBox="1"/>
          <p:nvPr/>
        </p:nvSpPr>
        <p:spPr>
          <a:xfrm>
            <a:off x="6400800" y="4663440"/>
            <a:ext cx="2194560" cy="365760"/>
          </a:xfrm>
          <a:prstGeom prst="rect">
            <a:avLst/>
          </a:prstGeom>
          <a:noFill/>
          <a:ln/>
        </p:spPr>
        <p:txBody>
          <a:bodyPr wrap="square" lIns="0" tIns="0" rIns="0" bIns="0" rtlCol="0" anchor="t"/>
          <a:lstStyle/>
          <a:p>
            <a:pPr marL="0" indent="0">
              <a:buNone/>
            </a:pPr>
            <a:r>
              <a:rPr lang="en-US" sz="1500" b="1" dirty="0">
                <a:solidFill>
                  <a:schemeClr val="tx2"/>
                </a:solidFill>
              </a:rPr>
              <a:t>Fixed random seed</a:t>
            </a:r>
            <a:endParaRPr lang="en-US" sz="1500" dirty="0"/>
          </a:p>
        </p:txBody>
      </p:sp>
      <p:sp>
        <p:nvSpPr>
          <p:cNvPr id="38" name="Text 33"/>
          <p:cNvSpPr txBox="1"/>
          <p:nvPr/>
        </p:nvSpPr>
        <p:spPr>
          <a:xfrm>
            <a:off x="6400800" y="5074920"/>
            <a:ext cx="2194560" cy="914400"/>
          </a:xfrm>
          <a:prstGeom prst="rect">
            <a:avLst/>
          </a:prstGeom>
          <a:noFill/>
          <a:ln/>
        </p:spPr>
        <p:txBody>
          <a:bodyPr wrap="square" lIns="0" tIns="0" rIns="0" bIns="0" rtlCol="0" anchor="t"/>
          <a:lstStyle/>
          <a:p>
            <a:pPr marL="0" indent="0">
              <a:buNone/>
            </a:pPr>
            <a:r>
              <a:rPr lang="en-US" sz="1400" dirty="0">
                <a:solidFill>
                  <a:schemeClr val="tx1"/>
                </a:solidFill>
              </a:rPr>
              <a:t>Same result on every run, so differences are real.</a:t>
            </a:r>
            <a:endParaRPr lang="en-US" sz="1400" dirty="0"/>
          </a:p>
        </p:txBody>
      </p:sp>
      <p:sp>
        <p:nvSpPr>
          <p:cNvPr id="39" name="Shape 34"/>
          <p:cNvSpPr/>
          <p:nvPr/>
        </p:nvSpPr>
        <p:spPr>
          <a:xfrm>
            <a:off x="8983980" y="3749040"/>
            <a:ext cx="2628900" cy="2377440"/>
          </a:xfrm>
          <a:prstGeom prst="roundRect">
            <a:avLst>
              <a:gd name="adj" fmla="val 3077"/>
            </a:avLst>
          </a:prstGeom>
          <a:solidFill>
            <a:schemeClr val="bg2"/>
          </a:solidFill>
          <a:ln w="12700">
            <a:solidFill>
              <a:schemeClr val="bg2"/>
            </a:solidFill>
            <a:prstDash val="solid"/>
          </a:ln>
        </p:spPr>
        <p:txBody>
          <a:bodyPr/>
          <a:lstStyle/>
          <a:p>
            <a:endParaRPr lang="en-IN"/>
          </a:p>
        </p:txBody>
      </p:sp>
      <p:sp>
        <p:nvSpPr>
          <p:cNvPr id="40" name="Shape 35"/>
          <p:cNvSpPr/>
          <p:nvPr/>
        </p:nvSpPr>
        <p:spPr>
          <a:xfrm>
            <a:off x="9212580" y="3977640"/>
            <a:ext cx="548640" cy="548640"/>
          </a:xfrm>
          <a:prstGeom prst="ellipse">
            <a:avLst/>
          </a:prstGeom>
          <a:solidFill>
            <a:schemeClr val="accent1"/>
          </a:solidFill>
          <a:ln w="12700">
            <a:solidFill>
              <a:schemeClr val="accent1"/>
            </a:solidFill>
            <a:prstDash val="solid"/>
          </a:ln>
        </p:spPr>
        <p:txBody>
          <a:bodyPr/>
          <a:lstStyle/>
          <a:p>
            <a:endParaRPr lang="en-IN"/>
          </a:p>
        </p:txBody>
      </p:sp>
      <p:pic>
        <p:nvPicPr>
          <p:cNvPr id="41" name="Image 3" descr="preencoded.png"/>
          <p:cNvPicPr>
            <a:picLocks noChangeAspect="1"/>
          </p:cNvPicPr>
          <p:nvPr/>
        </p:nvPicPr>
        <p:blipFill>
          <a:blip r:embed="rId6"/>
          <a:stretch>
            <a:fillRect/>
          </a:stretch>
        </p:blipFill>
        <p:spPr>
          <a:xfrm>
            <a:off x="9349740" y="4114800"/>
            <a:ext cx="274320" cy="274320"/>
          </a:xfrm>
          <a:prstGeom prst="rect">
            <a:avLst/>
          </a:prstGeom>
        </p:spPr>
      </p:pic>
      <p:sp>
        <p:nvSpPr>
          <p:cNvPr id="42" name="Text 36"/>
          <p:cNvSpPr txBox="1"/>
          <p:nvPr/>
        </p:nvSpPr>
        <p:spPr>
          <a:xfrm>
            <a:off x="9212580" y="4663440"/>
            <a:ext cx="2194560" cy="365760"/>
          </a:xfrm>
          <a:prstGeom prst="rect">
            <a:avLst/>
          </a:prstGeom>
          <a:noFill/>
          <a:ln/>
        </p:spPr>
        <p:txBody>
          <a:bodyPr wrap="square" lIns="0" tIns="0" rIns="0" bIns="0" rtlCol="0" anchor="t"/>
          <a:lstStyle/>
          <a:p>
            <a:pPr marL="0" indent="0">
              <a:buNone/>
            </a:pPr>
            <a:r>
              <a:rPr lang="en-US" sz="1500" b="1" dirty="0">
                <a:solidFill>
                  <a:schemeClr val="tx2"/>
                </a:solidFill>
              </a:rPr>
              <a:t>Best epoch kept</a:t>
            </a:r>
            <a:endParaRPr lang="en-US" sz="1500" dirty="0"/>
          </a:p>
        </p:txBody>
      </p:sp>
      <p:sp>
        <p:nvSpPr>
          <p:cNvPr id="43" name="Text 37"/>
          <p:cNvSpPr txBox="1"/>
          <p:nvPr/>
        </p:nvSpPr>
        <p:spPr>
          <a:xfrm>
            <a:off x="9212580" y="5074920"/>
            <a:ext cx="2194560" cy="914400"/>
          </a:xfrm>
          <a:prstGeom prst="rect">
            <a:avLst/>
          </a:prstGeom>
          <a:noFill/>
          <a:ln/>
        </p:spPr>
        <p:txBody>
          <a:bodyPr wrap="square" lIns="0" tIns="0" rIns="0" bIns="0" rtlCol="0" anchor="t"/>
          <a:lstStyle/>
          <a:p>
            <a:pPr marL="0" indent="0">
              <a:buNone/>
            </a:pPr>
            <a:r>
              <a:rPr lang="en-US" sz="1400" dirty="0">
                <a:solidFill>
                  <a:schemeClr val="tx1"/>
                </a:solidFill>
              </a:rPr>
              <a:t>We keep the epoch with the best validation macro F1.</a:t>
            </a:r>
            <a:endParaRPr lang="en-US" sz="1400" dirty="0"/>
          </a:p>
        </p:txBody>
      </p:sp>
      <p:sp>
        <p:nvSpPr>
          <p:cNvPr id="4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C7A8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rgbClr val="12263A"/>
                </a:solidFill>
              </a:rPr>
              <a:t>The three model families we used</a:t>
            </a:r>
            <a:endParaRPr lang="en-US" sz="3200" dirty="0"/>
          </a:p>
        </p:txBody>
      </p:sp>
      <p:sp>
        <p:nvSpPr>
          <p:cNvPr id="3" name="Shape 1"/>
          <p:cNvSpPr/>
          <p:nvPr/>
        </p:nvSpPr>
        <p:spPr>
          <a:xfrm>
            <a:off x="548640" y="1325880"/>
            <a:ext cx="3566160" cy="868680"/>
          </a:xfrm>
          <a:prstGeom prst="roundRect">
            <a:avLst>
              <a:gd name="adj" fmla="val 8421"/>
            </a:avLst>
          </a:prstGeom>
          <a:solidFill>
            <a:schemeClr val="accent1"/>
          </a:solidFill>
          <a:ln w="12700">
            <a:solidFill>
              <a:schemeClr val="accent1"/>
            </a:solidFill>
            <a:prstDash val="solid"/>
          </a:ln>
        </p:spPr>
        <p:txBody>
          <a:bodyPr/>
          <a:lstStyle/>
          <a:p>
            <a:endParaRPr lang="en-IN"/>
          </a:p>
        </p:txBody>
      </p:sp>
      <p:sp>
        <p:nvSpPr>
          <p:cNvPr id="4" name="Text 2"/>
          <p:cNvSpPr txBox="1"/>
          <p:nvPr/>
        </p:nvSpPr>
        <p:spPr>
          <a:xfrm>
            <a:off x="731520" y="1389888"/>
            <a:ext cx="3200400" cy="411480"/>
          </a:xfrm>
          <a:prstGeom prst="rect">
            <a:avLst/>
          </a:prstGeom>
          <a:noFill/>
          <a:ln/>
        </p:spPr>
        <p:txBody>
          <a:bodyPr wrap="square" lIns="0" tIns="0" rIns="0" bIns="0" rtlCol="0" anchor="ctr"/>
          <a:lstStyle/>
          <a:p>
            <a:pPr marL="0" indent="0">
              <a:buNone/>
            </a:pPr>
            <a:r>
              <a:rPr lang="en-US" sz="1700" b="1" dirty="0">
                <a:solidFill>
                  <a:schemeClr val="bg1"/>
                </a:solidFill>
              </a:rPr>
              <a:t>1D CNN</a:t>
            </a:r>
            <a:endParaRPr lang="en-US" sz="1700" dirty="0"/>
          </a:p>
        </p:txBody>
      </p:sp>
      <p:sp>
        <p:nvSpPr>
          <p:cNvPr id="5" name="Text 3"/>
          <p:cNvSpPr txBox="1"/>
          <p:nvPr/>
        </p:nvSpPr>
        <p:spPr>
          <a:xfrm>
            <a:off x="731520" y="1783080"/>
            <a:ext cx="3200400" cy="320040"/>
          </a:xfrm>
          <a:prstGeom prst="rect">
            <a:avLst/>
          </a:prstGeom>
          <a:noFill/>
          <a:ln/>
        </p:spPr>
        <p:txBody>
          <a:bodyPr wrap="square" lIns="0" tIns="0" rIns="0" bIns="0" rtlCol="0" anchor="ctr"/>
          <a:lstStyle/>
          <a:p>
            <a:pPr marL="0" indent="0">
              <a:buNone/>
            </a:pPr>
            <a:r>
              <a:rPr lang="en-US" sz="1300" dirty="0">
                <a:solidFill>
                  <a:schemeClr val="bg1"/>
                </a:solidFill>
              </a:rPr>
              <a:t>Detects local shapes</a:t>
            </a:r>
            <a:endParaRPr lang="en-US" sz="1300" dirty="0"/>
          </a:p>
        </p:txBody>
      </p:sp>
      <p:sp>
        <p:nvSpPr>
          <p:cNvPr id="6" name="Shape 4"/>
          <p:cNvSpPr/>
          <p:nvPr/>
        </p:nvSpPr>
        <p:spPr>
          <a:xfrm>
            <a:off x="822960" y="2423160"/>
            <a:ext cx="3017520" cy="438912"/>
          </a:xfrm>
          <a:prstGeom prst="roundRect">
            <a:avLst>
              <a:gd name="adj" fmla="val 16667"/>
            </a:avLst>
          </a:prstGeom>
          <a:solidFill>
            <a:schemeClr val="bg2"/>
          </a:solidFill>
          <a:ln w="12700">
            <a:solidFill>
              <a:schemeClr val="bg2"/>
            </a:solidFill>
            <a:prstDash val="solid"/>
          </a:ln>
        </p:spPr>
        <p:txBody>
          <a:bodyPr/>
          <a:lstStyle/>
          <a:p>
            <a:endParaRPr lang="en-IN"/>
          </a:p>
        </p:txBody>
      </p:sp>
      <p:sp>
        <p:nvSpPr>
          <p:cNvPr id="7" name="Text 5"/>
          <p:cNvSpPr txBox="1"/>
          <p:nvPr/>
        </p:nvSpPr>
        <p:spPr>
          <a:xfrm>
            <a:off x="822960" y="2423160"/>
            <a:ext cx="3017520" cy="438912"/>
          </a:xfrm>
          <a:prstGeom prst="rect">
            <a:avLst/>
          </a:prstGeom>
          <a:noFill/>
          <a:ln/>
        </p:spPr>
        <p:txBody>
          <a:bodyPr wrap="square" lIns="0" tIns="0" rIns="0" bIns="0" rtlCol="0" anchor="ctr"/>
          <a:lstStyle/>
          <a:p>
            <a:pPr marL="0" indent="0" algn="ctr">
              <a:buNone/>
            </a:pPr>
            <a:r>
              <a:rPr lang="en-US" sz="1400" dirty="0">
                <a:solidFill>
                  <a:schemeClr val="tx2"/>
                </a:solidFill>
              </a:rPr>
              <a:t>Input: 187 x 1</a:t>
            </a:r>
            <a:endParaRPr lang="en-US" sz="1400" dirty="0"/>
          </a:p>
        </p:txBody>
      </p:sp>
      <p:sp>
        <p:nvSpPr>
          <p:cNvPr id="8" name="Shape 6"/>
          <p:cNvSpPr/>
          <p:nvPr/>
        </p:nvSpPr>
        <p:spPr>
          <a:xfrm>
            <a:off x="2331720" y="2880360"/>
            <a:ext cx="0" cy="182880"/>
          </a:xfrm>
          <a:prstGeom prst="line">
            <a:avLst/>
          </a:prstGeom>
          <a:noFill/>
          <a:ln w="15875">
            <a:solidFill>
              <a:srgbClr val="6C7A89"/>
            </a:solidFill>
            <a:prstDash val="solid"/>
            <a:tailEnd type="triangle"/>
          </a:ln>
        </p:spPr>
        <p:txBody>
          <a:bodyPr/>
          <a:lstStyle/>
          <a:p>
            <a:endParaRPr lang="en-IN"/>
          </a:p>
        </p:txBody>
      </p:sp>
      <p:sp>
        <p:nvSpPr>
          <p:cNvPr id="9" name="Shape 7"/>
          <p:cNvSpPr/>
          <p:nvPr/>
        </p:nvSpPr>
        <p:spPr>
          <a:xfrm>
            <a:off x="822960" y="3081528"/>
            <a:ext cx="3017520" cy="438912"/>
          </a:xfrm>
          <a:prstGeom prst="roundRect">
            <a:avLst>
              <a:gd name="adj" fmla="val 16667"/>
            </a:avLst>
          </a:prstGeom>
          <a:solidFill>
            <a:schemeClr val="bg2"/>
          </a:solidFill>
          <a:ln w="12700">
            <a:solidFill>
              <a:schemeClr val="bg2"/>
            </a:solidFill>
            <a:prstDash val="solid"/>
          </a:ln>
        </p:spPr>
        <p:txBody>
          <a:bodyPr/>
          <a:lstStyle/>
          <a:p>
            <a:endParaRPr lang="en-IN"/>
          </a:p>
        </p:txBody>
      </p:sp>
      <p:sp>
        <p:nvSpPr>
          <p:cNvPr id="10" name="Text 8"/>
          <p:cNvSpPr txBox="1"/>
          <p:nvPr/>
        </p:nvSpPr>
        <p:spPr>
          <a:xfrm>
            <a:off x="822960" y="3081528"/>
            <a:ext cx="3017520" cy="438912"/>
          </a:xfrm>
          <a:prstGeom prst="rect">
            <a:avLst/>
          </a:prstGeom>
          <a:noFill/>
          <a:ln/>
        </p:spPr>
        <p:txBody>
          <a:bodyPr wrap="square" lIns="0" tIns="0" rIns="0" bIns="0" rtlCol="0" anchor="ctr"/>
          <a:lstStyle/>
          <a:p>
            <a:pPr marL="0" indent="0" algn="ctr">
              <a:buNone/>
            </a:pPr>
            <a:r>
              <a:rPr lang="en-US" sz="1400" dirty="0">
                <a:solidFill>
                  <a:schemeClr val="tx2"/>
                </a:solidFill>
              </a:rPr>
              <a:t>Conv + ReLU + Pool  x3</a:t>
            </a:r>
            <a:endParaRPr lang="en-US" sz="1400" dirty="0"/>
          </a:p>
        </p:txBody>
      </p:sp>
      <p:sp>
        <p:nvSpPr>
          <p:cNvPr id="11" name="Shape 9"/>
          <p:cNvSpPr/>
          <p:nvPr/>
        </p:nvSpPr>
        <p:spPr>
          <a:xfrm>
            <a:off x="2331720" y="3538728"/>
            <a:ext cx="0" cy="182880"/>
          </a:xfrm>
          <a:prstGeom prst="line">
            <a:avLst/>
          </a:prstGeom>
          <a:noFill/>
          <a:ln w="15875">
            <a:solidFill>
              <a:srgbClr val="6C7A89"/>
            </a:solidFill>
            <a:prstDash val="solid"/>
            <a:tailEnd type="triangle"/>
          </a:ln>
        </p:spPr>
        <p:txBody>
          <a:bodyPr/>
          <a:lstStyle/>
          <a:p>
            <a:endParaRPr lang="en-IN"/>
          </a:p>
        </p:txBody>
      </p:sp>
      <p:sp>
        <p:nvSpPr>
          <p:cNvPr id="12" name="Shape 10"/>
          <p:cNvSpPr/>
          <p:nvPr/>
        </p:nvSpPr>
        <p:spPr>
          <a:xfrm>
            <a:off x="822960" y="3739896"/>
            <a:ext cx="3017520" cy="438912"/>
          </a:xfrm>
          <a:prstGeom prst="roundRect">
            <a:avLst>
              <a:gd name="adj" fmla="val 16667"/>
            </a:avLst>
          </a:prstGeom>
          <a:solidFill>
            <a:schemeClr val="bg2"/>
          </a:solidFill>
          <a:ln w="12700">
            <a:solidFill>
              <a:schemeClr val="bg2"/>
            </a:solidFill>
            <a:prstDash val="solid"/>
          </a:ln>
        </p:spPr>
        <p:txBody>
          <a:bodyPr/>
          <a:lstStyle/>
          <a:p>
            <a:endParaRPr lang="en-IN"/>
          </a:p>
        </p:txBody>
      </p:sp>
      <p:sp>
        <p:nvSpPr>
          <p:cNvPr id="13" name="Text 11"/>
          <p:cNvSpPr txBox="1"/>
          <p:nvPr/>
        </p:nvSpPr>
        <p:spPr>
          <a:xfrm>
            <a:off x="822960" y="3739896"/>
            <a:ext cx="3017520" cy="438912"/>
          </a:xfrm>
          <a:prstGeom prst="rect">
            <a:avLst/>
          </a:prstGeom>
          <a:noFill/>
          <a:ln/>
        </p:spPr>
        <p:txBody>
          <a:bodyPr wrap="square" lIns="0" tIns="0" rIns="0" bIns="0" rtlCol="0" anchor="ctr"/>
          <a:lstStyle/>
          <a:p>
            <a:pPr marL="0" indent="0" algn="ctr">
              <a:buNone/>
            </a:pPr>
            <a:r>
              <a:rPr lang="en-US" sz="1400" dirty="0">
                <a:solidFill>
                  <a:schemeClr val="tx2"/>
                </a:solidFill>
              </a:rPr>
              <a:t>Global average pool</a:t>
            </a:r>
            <a:endParaRPr lang="en-US" sz="1400" dirty="0"/>
          </a:p>
        </p:txBody>
      </p:sp>
      <p:sp>
        <p:nvSpPr>
          <p:cNvPr id="14" name="Shape 12"/>
          <p:cNvSpPr/>
          <p:nvPr/>
        </p:nvSpPr>
        <p:spPr>
          <a:xfrm>
            <a:off x="2331720" y="4197096"/>
            <a:ext cx="0" cy="182880"/>
          </a:xfrm>
          <a:prstGeom prst="line">
            <a:avLst/>
          </a:prstGeom>
          <a:noFill/>
          <a:ln w="15875">
            <a:solidFill>
              <a:srgbClr val="6C7A89"/>
            </a:solidFill>
            <a:prstDash val="solid"/>
            <a:tailEnd type="triangle"/>
          </a:ln>
        </p:spPr>
        <p:txBody>
          <a:bodyPr/>
          <a:lstStyle/>
          <a:p>
            <a:endParaRPr lang="en-IN"/>
          </a:p>
        </p:txBody>
      </p:sp>
      <p:sp>
        <p:nvSpPr>
          <p:cNvPr id="15" name="Shape 13"/>
          <p:cNvSpPr/>
          <p:nvPr/>
        </p:nvSpPr>
        <p:spPr>
          <a:xfrm>
            <a:off x="822960" y="4398264"/>
            <a:ext cx="3017520" cy="438912"/>
          </a:xfrm>
          <a:prstGeom prst="roundRect">
            <a:avLst>
              <a:gd name="adj" fmla="val 16667"/>
            </a:avLst>
          </a:prstGeom>
          <a:solidFill>
            <a:schemeClr val="bg2"/>
          </a:solidFill>
          <a:ln w="12700">
            <a:solidFill>
              <a:schemeClr val="bg2"/>
            </a:solidFill>
            <a:prstDash val="solid"/>
          </a:ln>
        </p:spPr>
        <p:txBody>
          <a:bodyPr/>
          <a:lstStyle/>
          <a:p>
            <a:endParaRPr lang="en-IN"/>
          </a:p>
        </p:txBody>
      </p:sp>
      <p:sp>
        <p:nvSpPr>
          <p:cNvPr id="16" name="Text 14"/>
          <p:cNvSpPr txBox="1"/>
          <p:nvPr/>
        </p:nvSpPr>
        <p:spPr>
          <a:xfrm>
            <a:off x="822960" y="4398264"/>
            <a:ext cx="3017520" cy="438912"/>
          </a:xfrm>
          <a:prstGeom prst="rect">
            <a:avLst/>
          </a:prstGeom>
          <a:noFill/>
          <a:ln/>
        </p:spPr>
        <p:txBody>
          <a:bodyPr wrap="square" lIns="0" tIns="0" rIns="0" bIns="0" rtlCol="0" anchor="ctr"/>
          <a:lstStyle/>
          <a:p>
            <a:pPr marL="0" indent="0" algn="ctr">
              <a:buNone/>
            </a:pPr>
            <a:r>
              <a:rPr lang="en-US" sz="1400" dirty="0">
                <a:solidFill>
                  <a:schemeClr val="tx2"/>
                </a:solidFill>
              </a:rPr>
              <a:t>Dense layer</a:t>
            </a:r>
            <a:endParaRPr lang="en-US" sz="1400" dirty="0"/>
          </a:p>
        </p:txBody>
      </p:sp>
      <p:sp>
        <p:nvSpPr>
          <p:cNvPr id="17" name="Shape 15"/>
          <p:cNvSpPr/>
          <p:nvPr/>
        </p:nvSpPr>
        <p:spPr>
          <a:xfrm>
            <a:off x="2331720" y="4855464"/>
            <a:ext cx="0" cy="182880"/>
          </a:xfrm>
          <a:prstGeom prst="line">
            <a:avLst/>
          </a:prstGeom>
          <a:noFill/>
          <a:ln w="15875">
            <a:solidFill>
              <a:srgbClr val="6C7A89"/>
            </a:solidFill>
            <a:prstDash val="solid"/>
            <a:tailEnd type="triangle"/>
          </a:ln>
        </p:spPr>
        <p:txBody>
          <a:bodyPr/>
          <a:lstStyle/>
          <a:p>
            <a:endParaRPr lang="en-IN"/>
          </a:p>
        </p:txBody>
      </p:sp>
      <p:sp>
        <p:nvSpPr>
          <p:cNvPr id="18" name="Shape 16"/>
          <p:cNvSpPr/>
          <p:nvPr/>
        </p:nvSpPr>
        <p:spPr>
          <a:xfrm>
            <a:off x="822960" y="5056632"/>
            <a:ext cx="3017520" cy="438912"/>
          </a:xfrm>
          <a:prstGeom prst="roundRect">
            <a:avLst>
              <a:gd name="adj" fmla="val 16667"/>
            </a:avLst>
          </a:prstGeom>
          <a:solidFill>
            <a:schemeClr val="bg2"/>
          </a:solidFill>
          <a:ln w="12700">
            <a:solidFill>
              <a:schemeClr val="bg2"/>
            </a:solidFill>
            <a:prstDash val="solid"/>
          </a:ln>
        </p:spPr>
        <p:txBody>
          <a:bodyPr/>
          <a:lstStyle/>
          <a:p>
            <a:endParaRPr lang="en-IN"/>
          </a:p>
        </p:txBody>
      </p:sp>
      <p:sp>
        <p:nvSpPr>
          <p:cNvPr id="19" name="Text 17"/>
          <p:cNvSpPr txBox="1"/>
          <p:nvPr/>
        </p:nvSpPr>
        <p:spPr>
          <a:xfrm>
            <a:off x="822960" y="5056632"/>
            <a:ext cx="3017520" cy="438912"/>
          </a:xfrm>
          <a:prstGeom prst="rect">
            <a:avLst/>
          </a:prstGeom>
          <a:noFill/>
          <a:ln/>
        </p:spPr>
        <p:txBody>
          <a:bodyPr wrap="square" lIns="0" tIns="0" rIns="0" bIns="0" rtlCol="0" anchor="ctr"/>
          <a:lstStyle/>
          <a:p>
            <a:pPr marL="0" indent="0" algn="ctr">
              <a:buNone/>
            </a:pPr>
            <a:r>
              <a:rPr lang="en-US" sz="1400" dirty="0">
                <a:solidFill>
                  <a:schemeClr val="tx2"/>
                </a:solidFill>
              </a:rPr>
              <a:t>5 class scores</a:t>
            </a:r>
            <a:endParaRPr lang="en-US" sz="1400" dirty="0"/>
          </a:p>
        </p:txBody>
      </p:sp>
      <p:sp>
        <p:nvSpPr>
          <p:cNvPr id="20" name="Text 18"/>
          <p:cNvSpPr txBox="1"/>
          <p:nvPr/>
        </p:nvSpPr>
        <p:spPr>
          <a:xfrm>
            <a:off x="548640" y="5760720"/>
            <a:ext cx="3566160" cy="320040"/>
          </a:xfrm>
          <a:prstGeom prst="rect">
            <a:avLst/>
          </a:prstGeom>
          <a:noFill/>
          <a:ln/>
        </p:spPr>
        <p:txBody>
          <a:bodyPr wrap="square" lIns="0" tIns="0" rIns="0" bIns="0" rtlCol="0" anchor="t"/>
          <a:lstStyle/>
          <a:p>
            <a:pPr marL="0" indent="0" algn="ctr">
              <a:buNone/>
            </a:pPr>
            <a:r>
              <a:rPr lang="en-US" sz="1300" i="1" dirty="0">
                <a:solidFill>
                  <a:schemeClr val="accent5"/>
                </a:solidFill>
              </a:rPr>
              <a:t>17k parameters</a:t>
            </a:r>
            <a:endParaRPr lang="en-US" sz="1300" dirty="0"/>
          </a:p>
        </p:txBody>
      </p:sp>
      <p:sp>
        <p:nvSpPr>
          <p:cNvPr id="21" name="Shape 19"/>
          <p:cNvSpPr/>
          <p:nvPr/>
        </p:nvSpPr>
        <p:spPr>
          <a:xfrm>
            <a:off x="4297680" y="1325880"/>
            <a:ext cx="3566160" cy="868680"/>
          </a:xfrm>
          <a:prstGeom prst="roundRect">
            <a:avLst>
              <a:gd name="adj" fmla="val 8421"/>
            </a:avLst>
          </a:prstGeom>
          <a:solidFill>
            <a:schemeClr val="accent6"/>
          </a:solidFill>
          <a:ln w="12700">
            <a:solidFill>
              <a:schemeClr val="accent6"/>
            </a:solidFill>
            <a:prstDash val="solid"/>
          </a:ln>
        </p:spPr>
        <p:txBody>
          <a:bodyPr/>
          <a:lstStyle/>
          <a:p>
            <a:endParaRPr lang="en-IN"/>
          </a:p>
        </p:txBody>
      </p:sp>
      <p:sp>
        <p:nvSpPr>
          <p:cNvPr id="22" name="Text 20"/>
          <p:cNvSpPr txBox="1"/>
          <p:nvPr/>
        </p:nvSpPr>
        <p:spPr>
          <a:xfrm>
            <a:off x="4480560" y="1389888"/>
            <a:ext cx="3200400" cy="411480"/>
          </a:xfrm>
          <a:prstGeom prst="rect">
            <a:avLst/>
          </a:prstGeom>
          <a:noFill/>
          <a:ln/>
        </p:spPr>
        <p:txBody>
          <a:bodyPr wrap="square" lIns="0" tIns="0" rIns="0" bIns="0" rtlCol="0" anchor="ctr"/>
          <a:lstStyle/>
          <a:p>
            <a:pPr marL="0" indent="0">
              <a:buNone/>
            </a:pPr>
            <a:r>
              <a:rPr lang="en-US" sz="1700" b="1" dirty="0">
                <a:solidFill>
                  <a:schemeClr val="bg1"/>
                </a:solidFill>
              </a:rPr>
              <a:t>CNN + BiLSTM + Attention</a:t>
            </a:r>
            <a:endParaRPr lang="en-US" sz="1700" dirty="0"/>
          </a:p>
        </p:txBody>
      </p:sp>
      <p:sp>
        <p:nvSpPr>
          <p:cNvPr id="23" name="Text 21"/>
          <p:cNvSpPr txBox="1"/>
          <p:nvPr/>
        </p:nvSpPr>
        <p:spPr>
          <a:xfrm>
            <a:off x="4480560" y="1783080"/>
            <a:ext cx="3200400" cy="320040"/>
          </a:xfrm>
          <a:prstGeom prst="rect">
            <a:avLst/>
          </a:prstGeom>
          <a:noFill/>
          <a:ln/>
        </p:spPr>
        <p:txBody>
          <a:bodyPr wrap="square" lIns="0" tIns="0" rIns="0" bIns="0" rtlCol="0" anchor="ctr"/>
          <a:lstStyle/>
          <a:p>
            <a:pPr marL="0" indent="0">
              <a:buNone/>
            </a:pPr>
            <a:r>
              <a:rPr lang="en-US" sz="1300" dirty="0">
                <a:solidFill>
                  <a:schemeClr val="bg1"/>
                </a:solidFill>
              </a:rPr>
              <a:t>Shapes + order and timing</a:t>
            </a:r>
            <a:endParaRPr lang="en-US" sz="1300" dirty="0"/>
          </a:p>
        </p:txBody>
      </p:sp>
      <p:sp>
        <p:nvSpPr>
          <p:cNvPr id="24" name="Shape 22"/>
          <p:cNvSpPr/>
          <p:nvPr/>
        </p:nvSpPr>
        <p:spPr>
          <a:xfrm>
            <a:off x="4572000" y="2423160"/>
            <a:ext cx="3017520" cy="438912"/>
          </a:xfrm>
          <a:prstGeom prst="roundRect">
            <a:avLst>
              <a:gd name="adj" fmla="val 16667"/>
            </a:avLst>
          </a:prstGeom>
          <a:solidFill>
            <a:schemeClr val="bg2"/>
          </a:solidFill>
          <a:ln w="12700">
            <a:solidFill>
              <a:schemeClr val="bg2"/>
            </a:solidFill>
            <a:prstDash val="solid"/>
          </a:ln>
        </p:spPr>
        <p:txBody>
          <a:bodyPr/>
          <a:lstStyle/>
          <a:p>
            <a:endParaRPr lang="en-IN"/>
          </a:p>
        </p:txBody>
      </p:sp>
      <p:sp>
        <p:nvSpPr>
          <p:cNvPr id="25" name="Text 23"/>
          <p:cNvSpPr txBox="1"/>
          <p:nvPr/>
        </p:nvSpPr>
        <p:spPr>
          <a:xfrm>
            <a:off x="4572000" y="2423160"/>
            <a:ext cx="3017520" cy="438912"/>
          </a:xfrm>
          <a:prstGeom prst="rect">
            <a:avLst/>
          </a:prstGeom>
          <a:noFill/>
          <a:ln/>
        </p:spPr>
        <p:txBody>
          <a:bodyPr wrap="square" lIns="0" tIns="0" rIns="0" bIns="0" rtlCol="0" anchor="ctr"/>
          <a:lstStyle/>
          <a:p>
            <a:pPr marL="0" indent="0" algn="ctr">
              <a:buNone/>
            </a:pPr>
            <a:r>
              <a:rPr lang="en-US" sz="1400" dirty="0">
                <a:solidFill>
                  <a:schemeClr val="tx2"/>
                </a:solidFill>
              </a:rPr>
              <a:t>Input: 187 x 1</a:t>
            </a:r>
            <a:endParaRPr lang="en-US" sz="1400" dirty="0"/>
          </a:p>
        </p:txBody>
      </p:sp>
      <p:sp>
        <p:nvSpPr>
          <p:cNvPr id="26" name="Shape 24"/>
          <p:cNvSpPr/>
          <p:nvPr/>
        </p:nvSpPr>
        <p:spPr>
          <a:xfrm>
            <a:off x="6080760" y="2880360"/>
            <a:ext cx="0" cy="182880"/>
          </a:xfrm>
          <a:prstGeom prst="line">
            <a:avLst/>
          </a:prstGeom>
          <a:noFill/>
          <a:ln w="15875">
            <a:solidFill>
              <a:srgbClr val="6C7A89"/>
            </a:solidFill>
            <a:prstDash val="solid"/>
            <a:tailEnd type="triangle"/>
          </a:ln>
        </p:spPr>
        <p:txBody>
          <a:bodyPr/>
          <a:lstStyle/>
          <a:p>
            <a:endParaRPr lang="en-IN"/>
          </a:p>
        </p:txBody>
      </p:sp>
      <p:sp>
        <p:nvSpPr>
          <p:cNvPr id="27" name="Shape 25"/>
          <p:cNvSpPr/>
          <p:nvPr/>
        </p:nvSpPr>
        <p:spPr>
          <a:xfrm>
            <a:off x="4572000" y="3081528"/>
            <a:ext cx="3017520" cy="438912"/>
          </a:xfrm>
          <a:prstGeom prst="roundRect">
            <a:avLst>
              <a:gd name="adj" fmla="val 16667"/>
            </a:avLst>
          </a:prstGeom>
          <a:solidFill>
            <a:schemeClr val="bg2"/>
          </a:solidFill>
          <a:ln w="12700">
            <a:solidFill>
              <a:schemeClr val="bg2"/>
            </a:solidFill>
            <a:prstDash val="solid"/>
          </a:ln>
        </p:spPr>
        <p:txBody>
          <a:bodyPr/>
          <a:lstStyle/>
          <a:p>
            <a:endParaRPr lang="en-IN"/>
          </a:p>
        </p:txBody>
      </p:sp>
      <p:sp>
        <p:nvSpPr>
          <p:cNvPr id="28" name="Text 26"/>
          <p:cNvSpPr txBox="1"/>
          <p:nvPr/>
        </p:nvSpPr>
        <p:spPr>
          <a:xfrm>
            <a:off x="4572000" y="3081528"/>
            <a:ext cx="3017520" cy="438912"/>
          </a:xfrm>
          <a:prstGeom prst="rect">
            <a:avLst/>
          </a:prstGeom>
          <a:noFill/>
          <a:ln/>
        </p:spPr>
        <p:txBody>
          <a:bodyPr wrap="square" lIns="0" tIns="0" rIns="0" bIns="0" rtlCol="0" anchor="ctr"/>
          <a:lstStyle/>
          <a:p>
            <a:pPr marL="0" indent="0" algn="ctr">
              <a:buNone/>
            </a:pPr>
            <a:r>
              <a:rPr lang="en-US" sz="1400" dirty="0">
                <a:solidFill>
                  <a:schemeClr val="tx2"/>
                </a:solidFill>
              </a:rPr>
              <a:t>Conv + ReLU + Pool  x2</a:t>
            </a:r>
            <a:endParaRPr lang="en-US" sz="1400" dirty="0"/>
          </a:p>
        </p:txBody>
      </p:sp>
      <p:sp>
        <p:nvSpPr>
          <p:cNvPr id="29" name="Shape 27"/>
          <p:cNvSpPr/>
          <p:nvPr/>
        </p:nvSpPr>
        <p:spPr>
          <a:xfrm>
            <a:off x="6080760" y="3538728"/>
            <a:ext cx="0" cy="182880"/>
          </a:xfrm>
          <a:prstGeom prst="line">
            <a:avLst/>
          </a:prstGeom>
          <a:noFill/>
          <a:ln w="15875">
            <a:solidFill>
              <a:srgbClr val="6C7A89"/>
            </a:solidFill>
            <a:prstDash val="solid"/>
            <a:tailEnd type="triangle"/>
          </a:ln>
        </p:spPr>
        <p:txBody>
          <a:bodyPr/>
          <a:lstStyle/>
          <a:p>
            <a:endParaRPr lang="en-IN"/>
          </a:p>
        </p:txBody>
      </p:sp>
      <p:sp>
        <p:nvSpPr>
          <p:cNvPr id="30" name="Shape 28"/>
          <p:cNvSpPr/>
          <p:nvPr/>
        </p:nvSpPr>
        <p:spPr>
          <a:xfrm>
            <a:off x="4572000" y="3739896"/>
            <a:ext cx="3017520" cy="438912"/>
          </a:xfrm>
          <a:prstGeom prst="roundRect">
            <a:avLst>
              <a:gd name="adj" fmla="val 16667"/>
            </a:avLst>
          </a:prstGeom>
          <a:solidFill>
            <a:schemeClr val="bg2"/>
          </a:solidFill>
          <a:ln w="12700">
            <a:solidFill>
              <a:schemeClr val="bg2"/>
            </a:solidFill>
            <a:prstDash val="solid"/>
          </a:ln>
        </p:spPr>
        <p:txBody>
          <a:bodyPr/>
          <a:lstStyle/>
          <a:p>
            <a:endParaRPr lang="en-IN"/>
          </a:p>
        </p:txBody>
      </p:sp>
      <p:sp>
        <p:nvSpPr>
          <p:cNvPr id="31" name="Text 29"/>
          <p:cNvSpPr txBox="1"/>
          <p:nvPr/>
        </p:nvSpPr>
        <p:spPr>
          <a:xfrm>
            <a:off x="4572000" y="3739896"/>
            <a:ext cx="3017520" cy="438912"/>
          </a:xfrm>
          <a:prstGeom prst="rect">
            <a:avLst/>
          </a:prstGeom>
          <a:noFill/>
          <a:ln/>
        </p:spPr>
        <p:txBody>
          <a:bodyPr wrap="square" lIns="0" tIns="0" rIns="0" bIns="0" rtlCol="0" anchor="ctr"/>
          <a:lstStyle/>
          <a:p>
            <a:pPr marL="0" indent="0" algn="ctr">
              <a:buNone/>
            </a:pPr>
            <a:r>
              <a:rPr lang="en-US" sz="1400" dirty="0">
                <a:solidFill>
                  <a:schemeClr val="tx2"/>
                </a:solidFill>
              </a:rPr>
              <a:t>BiLSTM (both directions)</a:t>
            </a:r>
            <a:endParaRPr lang="en-US" sz="1400" dirty="0"/>
          </a:p>
        </p:txBody>
      </p:sp>
      <p:sp>
        <p:nvSpPr>
          <p:cNvPr id="32" name="Shape 30"/>
          <p:cNvSpPr/>
          <p:nvPr/>
        </p:nvSpPr>
        <p:spPr>
          <a:xfrm>
            <a:off x="6080760" y="4197096"/>
            <a:ext cx="0" cy="182880"/>
          </a:xfrm>
          <a:prstGeom prst="line">
            <a:avLst/>
          </a:prstGeom>
          <a:noFill/>
          <a:ln w="15875">
            <a:solidFill>
              <a:srgbClr val="6C7A89"/>
            </a:solidFill>
            <a:prstDash val="solid"/>
            <a:tailEnd type="triangle"/>
          </a:ln>
        </p:spPr>
        <p:txBody>
          <a:bodyPr/>
          <a:lstStyle/>
          <a:p>
            <a:endParaRPr lang="en-IN"/>
          </a:p>
        </p:txBody>
      </p:sp>
      <p:sp>
        <p:nvSpPr>
          <p:cNvPr id="33" name="Shape 31"/>
          <p:cNvSpPr/>
          <p:nvPr/>
        </p:nvSpPr>
        <p:spPr>
          <a:xfrm>
            <a:off x="4572000" y="4398264"/>
            <a:ext cx="3017520" cy="438912"/>
          </a:xfrm>
          <a:prstGeom prst="roundRect">
            <a:avLst>
              <a:gd name="adj" fmla="val 16667"/>
            </a:avLst>
          </a:prstGeom>
          <a:solidFill>
            <a:schemeClr val="bg2"/>
          </a:solidFill>
          <a:ln w="12700">
            <a:solidFill>
              <a:schemeClr val="bg2"/>
            </a:solidFill>
            <a:prstDash val="solid"/>
          </a:ln>
        </p:spPr>
        <p:txBody>
          <a:bodyPr/>
          <a:lstStyle/>
          <a:p>
            <a:endParaRPr lang="en-IN"/>
          </a:p>
        </p:txBody>
      </p:sp>
      <p:sp>
        <p:nvSpPr>
          <p:cNvPr id="34" name="Text 32"/>
          <p:cNvSpPr txBox="1"/>
          <p:nvPr/>
        </p:nvSpPr>
        <p:spPr>
          <a:xfrm>
            <a:off x="4572000" y="4398264"/>
            <a:ext cx="3017520" cy="438912"/>
          </a:xfrm>
          <a:prstGeom prst="rect">
            <a:avLst/>
          </a:prstGeom>
          <a:noFill/>
          <a:ln/>
        </p:spPr>
        <p:txBody>
          <a:bodyPr wrap="square" lIns="0" tIns="0" rIns="0" bIns="0" rtlCol="0" anchor="ctr"/>
          <a:lstStyle/>
          <a:p>
            <a:pPr marL="0" indent="0" algn="ctr">
              <a:buNone/>
            </a:pPr>
            <a:r>
              <a:rPr lang="en-US" sz="1400" dirty="0">
                <a:solidFill>
                  <a:schemeClr val="tx2"/>
                </a:solidFill>
              </a:rPr>
              <a:t>Attention (weighted average)</a:t>
            </a:r>
            <a:endParaRPr lang="en-US" sz="1400" dirty="0"/>
          </a:p>
        </p:txBody>
      </p:sp>
      <p:sp>
        <p:nvSpPr>
          <p:cNvPr id="35" name="Shape 33"/>
          <p:cNvSpPr/>
          <p:nvPr/>
        </p:nvSpPr>
        <p:spPr>
          <a:xfrm>
            <a:off x="6080760" y="4855464"/>
            <a:ext cx="0" cy="182880"/>
          </a:xfrm>
          <a:prstGeom prst="line">
            <a:avLst/>
          </a:prstGeom>
          <a:noFill/>
          <a:ln w="15875">
            <a:solidFill>
              <a:srgbClr val="6C7A89"/>
            </a:solidFill>
            <a:prstDash val="solid"/>
            <a:tailEnd type="triangle"/>
          </a:ln>
        </p:spPr>
        <p:txBody>
          <a:bodyPr/>
          <a:lstStyle/>
          <a:p>
            <a:endParaRPr lang="en-IN"/>
          </a:p>
        </p:txBody>
      </p:sp>
      <p:sp>
        <p:nvSpPr>
          <p:cNvPr id="36" name="Shape 34"/>
          <p:cNvSpPr/>
          <p:nvPr/>
        </p:nvSpPr>
        <p:spPr>
          <a:xfrm>
            <a:off x="4572000" y="5056632"/>
            <a:ext cx="3017520" cy="438912"/>
          </a:xfrm>
          <a:prstGeom prst="roundRect">
            <a:avLst>
              <a:gd name="adj" fmla="val 16667"/>
            </a:avLst>
          </a:prstGeom>
          <a:solidFill>
            <a:schemeClr val="bg2"/>
          </a:solidFill>
          <a:ln w="12700">
            <a:solidFill>
              <a:schemeClr val="bg2"/>
            </a:solidFill>
            <a:prstDash val="solid"/>
          </a:ln>
        </p:spPr>
        <p:txBody>
          <a:bodyPr/>
          <a:lstStyle/>
          <a:p>
            <a:endParaRPr lang="en-IN"/>
          </a:p>
        </p:txBody>
      </p:sp>
      <p:sp>
        <p:nvSpPr>
          <p:cNvPr id="37" name="Text 35"/>
          <p:cNvSpPr txBox="1"/>
          <p:nvPr/>
        </p:nvSpPr>
        <p:spPr>
          <a:xfrm>
            <a:off x="4572000" y="5056632"/>
            <a:ext cx="3017520" cy="438912"/>
          </a:xfrm>
          <a:prstGeom prst="rect">
            <a:avLst/>
          </a:prstGeom>
          <a:noFill/>
          <a:ln/>
        </p:spPr>
        <p:txBody>
          <a:bodyPr wrap="square" lIns="0" tIns="0" rIns="0" bIns="0" rtlCol="0" anchor="ctr"/>
          <a:lstStyle/>
          <a:p>
            <a:pPr marL="0" indent="0" algn="ctr">
              <a:buNone/>
            </a:pPr>
            <a:r>
              <a:rPr lang="en-US" sz="1400" dirty="0">
                <a:solidFill>
                  <a:schemeClr val="tx2"/>
                </a:solidFill>
              </a:rPr>
              <a:t>Dense layer → 5 scores</a:t>
            </a:r>
            <a:endParaRPr lang="en-US" sz="1400" dirty="0"/>
          </a:p>
        </p:txBody>
      </p:sp>
      <p:sp>
        <p:nvSpPr>
          <p:cNvPr id="38" name="Text 36"/>
          <p:cNvSpPr txBox="1"/>
          <p:nvPr/>
        </p:nvSpPr>
        <p:spPr>
          <a:xfrm>
            <a:off x="4297680" y="5760720"/>
            <a:ext cx="3566160" cy="320040"/>
          </a:xfrm>
          <a:prstGeom prst="rect">
            <a:avLst/>
          </a:prstGeom>
          <a:noFill/>
          <a:ln/>
        </p:spPr>
        <p:txBody>
          <a:bodyPr wrap="square" lIns="0" tIns="0" rIns="0" bIns="0" rtlCol="0" anchor="t"/>
          <a:lstStyle/>
          <a:p>
            <a:pPr marL="0" indent="0" algn="ctr">
              <a:buNone/>
            </a:pPr>
            <a:r>
              <a:rPr lang="en-US" sz="1300" i="1" dirty="0">
                <a:solidFill>
                  <a:schemeClr val="accent5"/>
                </a:solidFill>
              </a:rPr>
              <a:t>86k parameters</a:t>
            </a:r>
            <a:endParaRPr lang="en-US" sz="1300" dirty="0"/>
          </a:p>
        </p:txBody>
      </p:sp>
      <p:sp>
        <p:nvSpPr>
          <p:cNvPr id="39" name="Shape 37"/>
          <p:cNvSpPr/>
          <p:nvPr/>
        </p:nvSpPr>
        <p:spPr>
          <a:xfrm>
            <a:off x="8046720" y="1325880"/>
            <a:ext cx="3566160" cy="868680"/>
          </a:xfrm>
          <a:prstGeom prst="roundRect">
            <a:avLst>
              <a:gd name="adj" fmla="val 8421"/>
            </a:avLst>
          </a:prstGeom>
          <a:solidFill>
            <a:schemeClr val="accent2"/>
          </a:solidFill>
          <a:ln w="12700">
            <a:solidFill>
              <a:schemeClr val="accent2"/>
            </a:solidFill>
            <a:prstDash val="solid"/>
          </a:ln>
        </p:spPr>
        <p:txBody>
          <a:bodyPr/>
          <a:lstStyle/>
          <a:p>
            <a:endParaRPr lang="en-IN"/>
          </a:p>
        </p:txBody>
      </p:sp>
      <p:sp>
        <p:nvSpPr>
          <p:cNvPr id="40" name="Text 38"/>
          <p:cNvSpPr txBox="1"/>
          <p:nvPr/>
        </p:nvSpPr>
        <p:spPr>
          <a:xfrm>
            <a:off x="8229600" y="1389888"/>
            <a:ext cx="3200400" cy="411480"/>
          </a:xfrm>
          <a:prstGeom prst="rect">
            <a:avLst/>
          </a:prstGeom>
          <a:noFill/>
          <a:ln/>
        </p:spPr>
        <p:txBody>
          <a:bodyPr wrap="square" lIns="0" tIns="0" rIns="0" bIns="0" rtlCol="0" anchor="ctr"/>
          <a:lstStyle/>
          <a:p>
            <a:pPr marL="0" indent="0">
              <a:buNone/>
            </a:pPr>
            <a:r>
              <a:rPr lang="en-US" sz="1700" b="1" dirty="0">
                <a:solidFill>
                  <a:schemeClr val="bg1"/>
                </a:solidFill>
              </a:rPr>
              <a:t>1D ResNet</a:t>
            </a:r>
            <a:endParaRPr lang="en-US" sz="1700" dirty="0"/>
          </a:p>
        </p:txBody>
      </p:sp>
      <p:sp>
        <p:nvSpPr>
          <p:cNvPr id="41" name="Text 39"/>
          <p:cNvSpPr txBox="1"/>
          <p:nvPr/>
        </p:nvSpPr>
        <p:spPr>
          <a:xfrm>
            <a:off x="8229600" y="1783080"/>
            <a:ext cx="3200400" cy="320040"/>
          </a:xfrm>
          <a:prstGeom prst="rect">
            <a:avLst/>
          </a:prstGeom>
          <a:noFill/>
          <a:ln/>
        </p:spPr>
        <p:txBody>
          <a:bodyPr wrap="square" lIns="0" tIns="0" rIns="0" bIns="0" rtlCol="0" anchor="ctr"/>
          <a:lstStyle/>
          <a:p>
            <a:pPr marL="0" indent="0">
              <a:buNone/>
            </a:pPr>
            <a:r>
              <a:rPr lang="en-US" sz="1300" dirty="0">
                <a:solidFill>
                  <a:schemeClr val="bg1"/>
                </a:solidFill>
              </a:rPr>
              <a:t>Deep CNN with skip connections</a:t>
            </a:r>
            <a:endParaRPr lang="en-US" sz="1300" dirty="0"/>
          </a:p>
        </p:txBody>
      </p:sp>
      <p:sp>
        <p:nvSpPr>
          <p:cNvPr id="42" name="Shape 40"/>
          <p:cNvSpPr/>
          <p:nvPr/>
        </p:nvSpPr>
        <p:spPr>
          <a:xfrm>
            <a:off x="8321040" y="2423160"/>
            <a:ext cx="3017520" cy="438912"/>
          </a:xfrm>
          <a:prstGeom prst="roundRect">
            <a:avLst>
              <a:gd name="adj" fmla="val 16667"/>
            </a:avLst>
          </a:prstGeom>
          <a:solidFill>
            <a:schemeClr val="bg2"/>
          </a:solidFill>
          <a:ln w="12700">
            <a:solidFill>
              <a:schemeClr val="bg2"/>
            </a:solidFill>
            <a:prstDash val="solid"/>
          </a:ln>
        </p:spPr>
        <p:txBody>
          <a:bodyPr/>
          <a:lstStyle/>
          <a:p>
            <a:endParaRPr lang="en-IN"/>
          </a:p>
        </p:txBody>
      </p:sp>
      <p:sp>
        <p:nvSpPr>
          <p:cNvPr id="43" name="Text 41"/>
          <p:cNvSpPr txBox="1"/>
          <p:nvPr/>
        </p:nvSpPr>
        <p:spPr>
          <a:xfrm>
            <a:off x="8321040" y="2423160"/>
            <a:ext cx="3017520" cy="438912"/>
          </a:xfrm>
          <a:prstGeom prst="rect">
            <a:avLst/>
          </a:prstGeom>
          <a:noFill/>
          <a:ln/>
        </p:spPr>
        <p:txBody>
          <a:bodyPr wrap="square" lIns="0" tIns="0" rIns="0" bIns="0" rtlCol="0" anchor="ctr"/>
          <a:lstStyle/>
          <a:p>
            <a:pPr marL="0" indent="0" algn="ctr">
              <a:buNone/>
            </a:pPr>
            <a:r>
              <a:rPr lang="en-US" sz="1400" dirty="0">
                <a:solidFill>
                  <a:schemeClr val="tx2"/>
                </a:solidFill>
              </a:rPr>
              <a:t>Input: 187 x 1</a:t>
            </a:r>
            <a:endParaRPr lang="en-US" sz="1400" dirty="0"/>
          </a:p>
        </p:txBody>
      </p:sp>
      <p:sp>
        <p:nvSpPr>
          <p:cNvPr id="44" name="Shape 42"/>
          <p:cNvSpPr/>
          <p:nvPr/>
        </p:nvSpPr>
        <p:spPr>
          <a:xfrm>
            <a:off x="9829800" y="2880360"/>
            <a:ext cx="0" cy="182880"/>
          </a:xfrm>
          <a:prstGeom prst="line">
            <a:avLst/>
          </a:prstGeom>
          <a:noFill/>
          <a:ln w="15875">
            <a:solidFill>
              <a:srgbClr val="6C7A89"/>
            </a:solidFill>
            <a:prstDash val="solid"/>
            <a:tailEnd type="triangle"/>
          </a:ln>
        </p:spPr>
        <p:txBody>
          <a:bodyPr/>
          <a:lstStyle/>
          <a:p>
            <a:endParaRPr lang="en-IN"/>
          </a:p>
        </p:txBody>
      </p:sp>
      <p:sp>
        <p:nvSpPr>
          <p:cNvPr id="45" name="Shape 43"/>
          <p:cNvSpPr/>
          <p:nvPr/>
        </p:nvSpPr>
        <p:spPr>
          <a:xfrm>
            <a:off x="8321040" y="3081528"/>
            <a:ext cx="3017520" cy="438912"/>
          </a:xfrm>
          <a:prstGeom prst="roundRect">
            <a:avLst>
              <a:gd name="adj" fmla="val 16667"/>
            </a:avLst>
          </a:prstGeom>
          <a:solidFill>
            <a:schemeClr val="bg2"/>
          </a:solidFill>
          <a:ln w="12700">
            <a:solidFill>
              <a:schemeClr val="bg2"/>
            </a:solidFill>
            <a:prstDash val="solid"/>
          </a:ln>
        </p:spPr>
        <p:txBody>
          <a:bodyPr/>
          <a:lstStyle/>
          <a:p>
            <a:endParaRPr lang="en-IN"/>
          </a:p>
        </p:txBody>
      </p:sp>
      <p:sp>
        <p:nvSpPr>
          <p:cNvPr id="46" name="Text 44"/>
          <p:cNvSpPr txBox="1"/>
          <p:nvPr/>
        </p:nvSpPr>
        <p:spPr>
          <a:xfrm>
            <a:off x="8321040" y="3081528"/>
            <a:ext cx="3017520" cy="438912"/>
          </a:xfrm>
          <a:prstGeom prst="rect">
            <a:avLst/>
          </a:prstGeom>
          <a:noFill/>
          <a:ln/>
        </p:spPr>
        <p:txBody>
          <a:bodyPr wrap="square" lIns="0" tIns="0" rIns="0" bIns="0" rtlCol="0" anchor="ctr"/>
          <a:lstStyle/>
          <a:p>
            <a:pPr marL="0" indent="0" algn="ctr">
              <a:buNone/>
            </a:pPr>
            <a:r>
              <a:rPr lang="en-US" sz="1400" dirty="0">
                <a:solidFill>
                  <a:schemeClr val="tx2"/>
                </a:solidFill>
              </a:rPr>
              <a:t>Conv layer</a:t>
            </a:r>
            <a:endParaRPr lang="en-US" sz="1400" dirty="0"/>
          </a:p>
        </p:txBody>
      </p:sp>
      <p:sp>
        <p:nvSpPr>
          <p:cNvPr id="47" name="Shape 45"/>
          <p:cNvSpPr/>
          <p:nvPr/>
        </p:nvSpPr>
        <p:spPr>
          <a:xfrm>
            <a:off x="9829800" y="3538728"/>
            <a:ext cx="0" cy="182880"/>
          </a:xfrm>
          <a:prstGeom prst="line">
            <a:avLst/>
          </a:prstGeom>
          <a:noFill/>
          <a:ln w="15875">
            <a:solidFill>
              <a:srgbClr val="6C7A89"/>
            </a:solidFill>
            <a:prstDash val="solid"/>
            <a:tailEnd type="triangle"/>
          </a:ln>
        </p:spPr>
        <p:txBody>
          <a:bodyPr/>
          <a:lstStyle/>
          <a:p>
            <a:endParaRPr lang="en-IN"/>
          </a:p>
        </p:txBody>
      </p:sp>
      <p:sp>
        <p:nvSpPr>
          <p:cNvPr id="48" name="Shape 46"/>
          <p:cNvSpPr/>
          <p:nvPr/>
        </p:nvSpPr>
        <p:spPr>
          <a:xfrm>
            <a:off x="8321040" y="3739896"/>
            <a:ext cx="3017520" cy="438912"/>
          </a:xfrm>
          <a:prstGeom prst="roundRect">
            <a:avLst>
              <a:gd name="adj" fmla="val 16667"/>
            </a:avLst>
          </a:prstGeom>
          <a:solidFill>
            <a:schemeClr val="bg2"/>
          </a:solidFill>
          <a:ln w="12700">
            <a:solidFill>
              <a:schemeClr val="bg2"/>
            </a:solidFill>
            <a:prstDash val="solid"/>
          </a:ln>
        </p:spPr>
        <p:txBody>
          <a:bodyPr/>
          <a:lstStyle/>
          <a:p>
            <a:endParaRPr lang="en-IN"/>
          </a:p>
        </p:txBody>
      </p:sp>
      <p:sp>
        <p:nvSpPr>
          <p:cNvPr id="49" name="Text 47"/>
          <p:cNvSpPr txBox="1"/>
          <p:nvPr/>
        </p:nvSpPr>
        <p:spPr>
          <a:xfrm>
            <a:off x="8321040" y="3739896"/>
            <a:ext cx="3017520" cy="438912"/>
          </a:xfrm>
          <a:prstGeom prst="rect">
            <a:avLst/>
          </a:prstGeom>
          <a:noFill/>
          <a:ln/>
        </p:spPr>
        <p:txBody>
          <a:bodyPr wrap="square" lIns="0" tIns="0" rIns="0" bIns="0" rtlCol="0" anchor="ctr"/>
          <a:lstStyle/>
          <a:p>
            <a:pPr marL="0" indent="0" algn="ctr">
              <a:buNone/>
            </a:pPr>
            <a:r>
              <a:rPr lang="en-US" sz="1400" dirty="0">
                <a:solidFill>
                  <a:schemeClr val="tx2"/>
                </a:solidFill>
              </a:rPr>
              <a:t>Residual block + Pool  x5</a:t>
            </a:r>
            <a:endParaRPr lang="en-US" sz="1400" dirty="0"/>
          </a:p>
        </p:txBody>
      </p:sp>
      <p:sp>
        <p:nvSpPr>
          <p:cNvPr id="50" name="Shape 48"/>
          <p:cNvSpPr/>
          <p:nvPr/>
        </p:nvSpPr>
        <p:spPr>
          <a:xfrm>
            <a:off x="9829800" y="4197096"/>
            <a:ext cx="0" cy="182880"/>
          </a:xfrm>
          <a:prstGeom prst="line">
            <a:avLst/>
          </a:prstGeom>
          <a:noFill/>
          <a:ln w="15875">
            <a:solidFill>
              <a:srgbClr val="6C7A89"/>
            </a:solidFill>
            <a:prstDash val="solid"/>
            <a:tailEnd type="triangle"/>
          </a:ln>
        </p:spPr>
        <p:txBody>
          <a:bodyPr/>
          <a:lstStyle/>
          <a:p>
            <a:endParaRPr lang="en-IN"/>
          </a:p>
        </p:txBody>
      </p:sp>
      <p:sp>
        <p:nvSpPr>
          <p:cNvPr id="51" name="Shape 49"/>
          <p:cNvSpPr/>
          <p:nvPr/>
        </p:nvSpPr>
        <p:spPr>
          <a:xfrm>
            <a:off x="8321040" y="4398264"/>
            <a:ext cx="3017520" cy="438912"/>
          </a:xfrm>
          <a:prstGeom prst="roundRect">
            <a:avLst>
              <a:gd name="adj" fmla="val 16667"/>
            </a:avLst>
          </a:prstGeom>
          <a:solidFill>
            <a:schemeClr val="bg2"/>
          </a:solidFill>
          <a:ln w="12700">
            <a:solidFill>
              <a:schemeClr val="bg2"/>
            </a:solidFill>
            <a:prstDash val="solid"/>
          </a:ln>
        </p:spPr>
        <p:txBody>
          <a:bodyPr/>
          <a:lstStyle/>
          <a:p>
            <a:endParaRPr lang="en-IN"/>
          </a:p>
        </p:txBody>
      </p:sp>
      <p:sp>
        <p:nvSpPr>
          <p:cNvPr id="52" name="Text 50"/>
          <p:cNvSpPr txBox="1"/>
          <p:nvPr/>
        </p:nvSpPr>
        <p:spPr>
          <a:xfrm>
            <a:off x="8321040" y="4398264"/>
            <a:ext cx="3017520" cy="438912"/>
          </a:xfrm>
          <a:prstGeom prst="rect">
            <a:avLst/>
          </a:prstGeom>
          <a:noFill/>
          <a:ln/>
        </p:spPr>
        <p:txBody>
          <a:bodyPr wrap="square" lIns="0" tIns="0" rIns="0" bIns="0" rtlCol="0" anchor="ctr"/>
          <a:lstStyle/>
          <a:p>
            <a:pPr marL="0" indent="0" algn="ctr">
              <a:buNone/>
            </a:pPr>
            <a:r>
              <a:rPr lang="en-US" sz="1400" dirty="0">
                <a:solidFill>
                  <a:schemeClr val="tx2"/>
                </a:solidFill>
              </a:rPr>
              <a:t>Global average pool</a:t>
            </a:r>
            <a:endParaRPr lang="en-US" sz="1400" dirty="0"/>
          </a:p>
        </p:txBody>
      </p:sp>
      <p:sp>
        <p:nvSpPr>
          <p:cNvPr id="53" name="Shape 51"/>
          <p:cNvSpPr/>
          <p:nvPr/>
        </p:nvSpPr>
        <p:spPr>
          <a:xfrm>
            <a:off x="9829800" y="4855464"/>
            <a:ext cx="0" cy="182880"/>
          </a:xfrm>
          <a:prstGeom prst="line">
            <a:avLst/>
          </a:prstGeom>
          <a:noFill/>
          <a:ln w="15875">
            <a:solidFill>
              <a:srgbClr val="6C7A89"/>
            </a:solidFill>
            <a:prstDash val="solid"/>
            <a:tailEnd type="triangle"/>
          </a:ln>
        </p:spPr>
        <p:txBody>
          <a:bodyPr/>
          <a:lstStyle/>
          <a:p>
            <a:endParaRPr lang="en-IN"/>
          </a:p>
        </p:txBody>
      </p:sp>
      <p:sp>
        <p:nvSpPr>
          <p:cNvPr id="54" name="Shape 52"/>
          <p:cNvSpPr/>
          <p:nvPr/>
        </p:nvSpPr>
        <p:spPr>
          <a:xfrm>
            <a:off x="8321040" y="5056632"/>
            <a:ext cx="3017520" cy="438912"/>
          </a:xfrm>
          <a:prstGeom prst="roundRect">
            <a:avLst>
              <a:gd name="adj" fmla="val 16667"/>
            </a:avLst>
          </a:prstGeom>
          <a:solidFill>
            <a:schemeClr val="bg2"/>
          </a:solidFill>
          <a:ln w="12700">
            <a:solidFill>
              <a:schemeClr val="bg2"/>
            </a:solidFill>
            <a:prstDash val="solid"/>
          </a:ln>
        </p:spPr>
        <p:txBody>
          <a:bodyPr/>
          <a:lstStyle/>
          <a:p>
            <a:endParaRPr lang="en-IN"/>
          </a:p>
        </p:txBody>
      </p:sp>
      <p:sp>
        <p:nvSpPr>
          <p:cNvPr id="55" name="Text 53"/>
          <p:cNvSpPr txBox="1"/>
          <p:nvPr/>
        </p:nvSpPr>
        <p:spPr>
          <a:xfrm>
            <a:off x="8321040" y="5056632"/>
            <a:ext cx="3017520" cy="438912"/>
          </a:xfrm>
          <a:prstGeom prst="rect">
            <a:avLst/>
          </a:prstGeom>
          <a:noFill/>
          <a:ln/>
        </p:spPr>
        <p:txBody>
          <a:bodyPr wrap="square" lIns="0" tIns="0" rIns="0" bIns="0" rtlCol="0" anchor="ctr"/>
          <a:lstStyle/>
          <a:p>
            <a:pPr marL="0" indent="0" algn="ctr">
              <a:buNone/>
            </a:pPr>
            <a:r>
              <a:rPr lang="en-US" sz="1400" dirty="0">
                <a:solidFill>
                  <a:schemeClr val="tx2"/>
                </a:solidFill>
              </a:rPr>
              <a:t>Dense layer → 5 scores</a:t>
            </a:r>
            <a:endParaRPr lang="en-US" sz="1400" dirty="0"/>
          </a:p>
        </p:txBody>
      </p:sp>
      <p:sp>
        <p:nvSpPr>
          <p:cNvPr id="56" name="Text 54"/>
          <p:cNvSpPr txBox="1"/>
          <p:nvPr/>
        </p:nvSpPr>
        <p:spPr>
          <a:xfrm>
            <a:off x="8046720" y="5760720"/>
            <a:ext cx="3566160" cy="320040"/>
          </a:xfrm>
          <a:prstGeom prst="rect">
            <a:avLst/>
          </a:prstGeom>
          <a:noFill/>
          <a:ln/>
        </p:spPr>
        <p:txBody>
          <a:bodyPr wrap="square" lIns="0" tIns="0" rIns="0" bIns="0" rtlCol="0" anchor="t"/>
          <a:lstStyle/>
          <a:p>
            <a:pPr marL="0" indent="0" algn="ctr">
              <a:buNone/>
            </a:pPr>
            <a:r>
              <a:rPr lang="en-US" sz="1300" i="1" dirty="0">
                <a:solidFill>
                  <a:schemeClr val="accent5"/>
                </a:solidFill>
              </a:rPr>
              <a:t>54k parameters</a:t>
            </a:r>
            <a:endParaRPr lang="en-US" sz="1300" dirty="0"/>
          </a:p>
        </p:txBody>
      </p:sp>
      <p:sp>
        <p:nvSpPr>
          <p:cNvPr id="5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C7A8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rgbClr val="12263A"/>
                </a:solidFill>
              </a:rPr>
              <a:t>The 5 experiments at a glance</a:t>
            </a:r>
            <a:endParaRPr lang="en-US" sz="3200" dirty="0"/>
          </a:p>
        </p:txBody>
      </p:sp>
      <p:sp>
        <p:nvSpPr>
          <p:cNvPr id="3" name="Shape 1"/>
          <p:cNvSpPr/>
          <p:nvPr/>
        </p:nvSpPr>
        <p:spPr>
          <a:xfrm>
            <a:off x="1600200" y="2148840"/>
            <a:ext cx="8778240" cy="0"/>
          </a:xfrm>
          <a:prstGeom prst="line">
            <a:avLst/>
          </a:prstGeom>
          <a:noFill/>
          <a:ln w="38100">
            <a:solidFill>
              <a:srgbClr val="C9D3DD"/>
            </a:solidFill>
            <a:prstDash val="solid"/>
          </a:ln>
        </p:spPr>
        <p:txBody>
          <a:bodyPr/>
          <a:lstStyle/>
          <a:p>
            <a:endParaRPr lang="en-IN"/>
          </a:p>
        </p:txBody>
      </p:sp>
      <p:sp>
        <p:nvSpPr>
          <p:cNvPr id="4" name="Shape 2"/>
          <p:cNvSpPr/>
          <p:nvPr/>
        </p:nvSpPr>
        <p:spPr>
          <a:xfrm>
            <a:off x="1188720" y="1737360"/>
            <a:ext cx="822960" cy="822960"/>
          </a:xfrm>
          <a:prstGeom prst="ellipse">
            <a:avLst/>
          </a:prstGeom>
          <a:solidFill>
            <a:schemeClr val="tx2"/>
          </a:solidFill>
          <a:ln w="38100">
            <a:solidFill>
              <a:srgbClr val="FFFFFF"/>
            </a:solidFill>
            <a:prstDash val="solid"/>
          </a:ln>
        </p:spPr>
        <p:txBody>
          <a:bodyPr/>
          <a:lstStyle/>
          <a:p>
            <a:endParaRPr lang="en-IN"/>
          </a:p>
        </p:txBody>
      </p:sp>
      <p:sp>
        <p:nvSpPr>
          <p:cNvPr id="5" name="Text 3"/>
          <p:cNvSpPr txBox="1"/>
          <p:nvPr/>
        </p:nvSpPr>
        <p:spPr>
          <a:xfrm>
            <a:off x="1188720" y="1737360"/>
            <a:ext cx="822960" cy="822960"/>
          </a:xfrm>
          <a:prstGeom prst="rect">
            <a:avLst/>
          </a:prstGeom>
          <a:noFill/>
          <a:ln/>
        </p:spPr>
        <p:txBody>
          <a:bodyPr wrap="square" lIns="0" tIns="0" rIns="0" bIns="0" rtlCol="0" anchor="ctr"/>
          <a:lstStyle/>
          <a:p>
            <a:pPr marL="0" indent="0" algn="ctr">
              <a:buNone/>
            </a:pPr>
            <a:r>
              <a:rPr lang="en-US" sz="2400" b="1" dirty="0">
                <a:solidFill>
                  <a:schemeClr val="bg1"/>
                </a:solidFill>
              </a:rPr>
              <a:t>1</a:t>
            </a:r>
            <a:endParaRPr lang="en-US" sz="2400" dirty="0"/>
          </a:p>
        </p:txBody>
      </p:sp>
      <p:sp>
        <p:nvSpPr>
          <p:cNvPr id="6" name="Text 4"/>
          <p:cNvSpPr txBox="1"/>
          <p:nvPr/>
        </p:nvSpPr>
        <p:spPr>
          <a:xfrm>
            <a:off x="594360" y="2788920"/>
            <a:ext cx="2011680" cy="685800"/>
          </a:xfrm>
          <a:prstGeom prst="rect">
            <a:avLst/>
          </a:prstGeom>
          <a:noFill/>
          <a:ln/>
        </p:spPr>
        <p:txBody>
          <a:bodyPr wrap="square" lIns="0" tIns="0" rIns="0" bIns="0" rtlCol="0" anchor="t"/>
          <a:lstStyle/>
          <a:p>
            <a:pPr marL="0" indent="0" algn="ctr">
              <a:buNone/>
            </a:pPr>
            <a:r>
              <a:rPr lang="en-US" sz="1600" b="1" dirty="0">
                <a:solidFill>
                  <a:schemeClr val="tx2"/>
                </a:solidFill>
              </a:rPr>
              <a:t>Simple 1D CNN</a:t>
            </a:r>
            <a:endParaRPr lang="en-US" sz="1600" dirty="0"/>
          </a:p>
        </p:txBody>
      </p:sp>
      <p:sp>
        <p:nvSpPr>
          <p:cNvPr id="7" name="Text 5"/>
          <p:cNvSpPr txBox="1"/>
          <p:nvPr/>
        </p:nvSpPr>
        <p:spPr>
          <a:xfrm>
            <a:off x="594360" y="3520440"/>
            <a:ext cx="2011680" cy="1005840"/>
          </a:xfrm>
          <a:prstGeom prst="rect">
            <a:avLst/>
          </a:prstGeom>
          <a:noFill/>
          <a:ln/>
        </p:spPr>
        <p:txBody>
          <a:bodyPr wrap="square" lIns="0" tIns="0" rIns="0" bIns="0" rtlCol="0" anchor="t"/>
          <a:lstStyle/>
          <a:p>
            <a:pPr marL="0" indent="0" algn="ctr">
              <a:buNone/>
            </a:pPr>
            <a:r>
              <a:rPr lang="en-US" sz="1400" dirty="0">
                <a:solidFill>
                  <a:schemeClr val="tx1"/>
                </a:solidFill>
              </a:rPr>
              <a:t>Baseline: how good is a simple model?</a:t>
            </a:r>
            <a:endParaRPr lang="en-US" sz="1400" dirty="0"/>
          </a:p>
        </p:txBody>
      </p:sp>
      <p:sp>
        <p:nvSpPr>
          <p:cNvPr id="8" name="Shape 6"/>
          <p:cNvSpPr/>
          <p:nvPr/>
        </p:nvSpPr>
        <p:spPr>
          <a:xfrm>
            <a:off x="3383280" y="1737360"/>
            <a:ext cx="822960" cy="822960"/>
          </a:xfrm>
          <a:prstGeom prst="ellipse">
            <a:avLst/>
          </a:prstGeom>
          <a:solidFill>
            <a:schemeClr val="tx2"/>
          </a:solidFill>
          <a:ln w="38100">
            <a:solidFill>
              <a:srgbClr val="FFFFFF"/>
            </a:solidFill>
            <a:prstDash val="solid"/>
          </a:ln>
        </p:spPr>
        <p:txBody>
          <a:bodyPr/>
          <a:lstStyle/>
          <a:p>
            <a:endParaRPr lang="en-IN"/>
          </a:p>
        </p:txBody>
      </p:sp>
      <p:sp>
        <p:nvSpPr>
          <p:cNvPr id="9" name="Text 7"/>
          <p:cNvSpPr txBox="1"/>
          <p:nvPr/>
        </p:nvSpPr>
        <p:spPr>
          <a:xfrm>
            <a:off x="3383280" y="1737360"/>
            <a:ext cx="822960" cy="822960"/>
          </a:xfrm>
          <a:prstGeom prst="rect">
            <a:avLst/>
          </a:prstGeom>
          <a:noFill/>
          <a:ln/>
        </p:spPr>
        <p:txBody>
          <a:bodyPr wrap="square" lIns="0" tIns="0" rIns="0" bIns="0" rtlCol="0" anchor="ctr"/>
          <a:lstStyle/>
          <a:p>
            <a:pPr marL="0" indent="0" algn="ctr">
              <a:buNone/>
            </a:pPr>
            <a:r>
              <a:rPr lang="en-US" sz="2400" b="1" dirty="0">
                <a:solidFill>
                  <a:schemeClr val="bg1"/>
                </a:solidFill>
              </a:rPr>
              <a:t>2</a:t>
            </a:r>
            <a:endParaRPr lang="en-US" sz="2400" dirty="0"/>
          </a:p>
        </p:txBody>
      </p:sp>
      <p:sp>
        <p:nvSpPr>
          <p:cNvPr id="10" name="Text 8"/>
          <p:cNvSpPr txBox="1"/>
          <p:nvPr/>
        </p:nvSpPr>
        <p:spPr>
          <a:xfrm>
            <a:off x="2788920" y="2788920"/>
            <a:ext cx="2011680" cy="685800"/>
          </a:xfrm>
          <a:prstGeom prst="rect">
            <a:avLst/>
          </a:prstGeom>
          <a:noFill/>
          <a:ln/>
        </p:spPr>
        <p:txBody>
          <a:bodyPr wrap="square" lIns="0" tIns="0" rIns="0" bIns="0" rtlCol="0" anchor="t"/>
          <a:lstStyle/>
          <a:p>
            <a:pPr marL="0" indent="0" algn="ctr">
              <a:buNone/>
            </a:pPr>
            <a:r>
              <a:rPr lang="en-US" sz="1600" b="1" dirty="0">
                <a:solidFill>
                  <a:schemeClr val="tx2"/>
                </a:solidFill>
              </a:rPr>
              <a:t>+ Class weights</a:t>
            </a:r>
            <a:endParaRPr lang="en-US" sz="1600" dirty="0"/>
          </a:p>
        </p:txBody>
      </p:sp>
      <p:sp>
        <p:nvSpPr>
          <p:cNvPr id="11" name="Text 9"/>
          <p:cNvSpPr txBox="1"/>
          <p:nvPr/>
        </p:nvSpPr>
        <p:spPr>
          <a:xfrm>
            <a:off x="2788920" y="3520440"/>
            <a:ext cx="2011680" cy="1005840"/>
          </a:xfrm>
          <a:prstGeom prst="rect">
            <a:avLst/>
          </a:prstGeom>
          <a:noFill/>
          <a:ln/>
        </p:spPr>
        <p:txBody>
          <a:bodyPr wrap="square" lIns="0" tIns="0" rIns="0" bIns="0" rtlCol="0" anchor="t"/>
          <a:lstStyle/>
          <a:p>
            <a:pPr marL="0" indent="0" algn="ctr">
              <a:buNone/>
            </a:pPr>
            <a:r>
              <a:rPr lang="en-US" sz="1400" dirty="0">
                <a:solidFill>
                  <a:schemeClr val="tx1"/>
                </a:solidFill>
              </a:rPr>
              <a:t>Does punishing rare-class mistakes help?</a:t>
            </a:r>
            <a:endParaRPr lang="en-US" sz="1400" dirty="0"/>
          </a:p>
        </p:txBody>
      </p:sp>
      <p:sp>
        <p:nvSpPr>
          <p:cNvPr id="12" name="Shape 10"/>
          <p:cNvSpPr/>
          <p:nvPr/>
        </p:nvSpPr>
        <p:spPr>
          <a:xfrm>
            <a:off x="5577840" y="1737360"/>
            <a:ext cx="822960" cy="822960"/>
          </a:xfrm>
          <a:prstGeom prst="ellipse">
            <a:avLst/>
          </a:prstGeom>
          <a:solidFill>
            <a:schemeClr val="tx2"/>
          </a:solidFill>
          <a:ln w="38100">
            <a:solidFill>
              <a:srgbClr val="FFFFFF"/>
            </a:solidFill>
            <a:prstDash val="solid"/>
          </a:ln>
        </p:spPr>
        <p:txBody>
          <a:bodyPr/>
          <a:lstStyle/>
          <a:p>
            <a:endParaRPr lang="en-IN"/>
          </a:p>
        </p:txBody>
      </p:sp>
      <p:sp>
        <p:nvSpPr>
          <p:cNvPr id="13" name="Text 11"/>
          <p:cNvSpPr txBox="1"/>
          <p:nvPr/>
        </p:nvSpPr>
        <p:spPr>
          <a:xfrm>
            <a:off x="5577840" y="1737360"/>
            <a:ext cx="822960" cy="822960"/>
          </a:xfrm>
          <a:prstGeom prst="rect">
            <a:avLst/>
          </a:prstGeom>
          <a:noFill/>
          <a:ln/>
        </p:spPr>
        <p:txBody>
          <a:bodyPr wrap="square" lIns="0" tIns="0" rIns="0" bIns="0" rtlCol="0" anchor="ctr"/>
          <a:lstStyle/>
          <a:p>
            <a:pPr marL="0" indent="0" algn="ctr">
              <a:buNone/>
            </a:pPr>
            <a:r>
              <a:rPr lang="en-US" sz="2400" b="1" dirty="0">
                <a:solidFill>
                  <a:schemeClr val="bg1"/>
                </a:solidFill>
              </a:rPr>
              <a:t>3</a:t>
            </a:r>
            <a:endParaRPr lang="en-US" sz="2400" dirty="0"/>
          </a:p>
        </p:txBody>
      </p:sp>
      <p:sp>
        <p:nvSpPr>
          <p:cNvPr id="14" name="Text 12"/>
          <p:cNvSpPr txBox="1"/>
          <p:nvPr/>
        </p:nvSpPr>
        <p:spPr>
          <a:xfrm>
            <a:off x="4983480" y="2788920"/>
            <a:ext cx="2011680" cy="685800"/>
          </a:xfrm>
          <a:prstGeom prst="rect">
            <a:avLst/>
          </a:prstGeom>
          <a:noFill/>
          <a:ln/>
        </p:spPr>
        <p:txBody>
          <a:bodyPr wrap="square" lIns="0" tIns="0" rIns="0" bIns="0" rtlCol="0" anchor="t"/>
          <a:lstStyle/>
          <a:p>
            <a:pPr marL="0" indent="0" algn="ctr">
              <a:buNone/>
            </a:pPr>
            <a:r>
              <a:rPr lang="en-US" sz="1600" b="1" dirty="0">
                <a:solidFill>
                  <a:schemeClr val="tx2"/>
                </a:solidFill>
              </a:rPr>
              <a:t>CNN + BiLSTM + Attention</a:t>
            </a:r>
            <a:endParaRPr lang="en-US" sz="1600" dirty="0"/>
          </a:p>
        </p:txBody>
      </p:sp>
      <p:sp>
        <p:nvSpPr>
          <p:cNvPr id="15" name="Text 13"/>
          <p:cNvSpPr txBox="1"/>
          <p:nvPr/>
        </p:nvSpPr>
        <p:spPr>
          <a:xfrm>
            <a:off x="4983480" y="3520440"/>
            <a:ext cx="2011680" cy="1005840"/>
          </a:xfrm>
          <a:prstGeom prst="rect">
            <a:avLst/>
          </a:prstGeom>
          <a:noFill/>
          <a:ln/>
        </p:spPr>
        <p:txBody>
          <a:bodyPr wrap="square" lIns="0" tIns="0" rIns="0" bIns="0" rtlCol="0" anchor="t"/>
          <a:lstStyle/>
          <a:p>
            <a:pPr marL="0" indent="0" algn="ctr">
              <a:buNone/>
            </a:pPr>
            <a:r>
              <a:rPr lang="en-US" sz="1400" dirty="0">
                <a:solidFill>
                  <a:schemeClr val="tx1"/>
                </a:solidFill>
              </a:rPr>
              <a:t>Does reading the beat in order help?</a:t>
            </a:r>
            <a:endParaRPr lang="en-US" sz="1400" dirty="0"/>
          </a:p>
        </p:txBody>
      </p:sp>
      <p:sp>
        <p:nvSpPr>
          <p:cNvPr id="16" name="Shape 14"/>
          <p:cNvSpPr/>
          <p:nvPr/>
        </p:nvSpPr>
        <p:spPr>
          <a:xfrm>
            <a:off x="7772400" y="1737360"/>
            <a:ext cx="822960" cy="822960"/>
          </a:xfrm>
          <a:prstGeom prst="ellipse">
            <a:avLst/>
          </a:prstGeom>
          <a:solidFill>
            <a:schemeClr val="tx2"/>
          </a:solidFill>
          <a:ln w="38100">
            <a:solidFill>
              <a:srgbClr val="FFFFFF"/>
            </a:solidFill>
            <a:prstDash val="solid"/>
          </a:ln>
        </p:spPr>
        <p:txBody>
          <a:bodyPr/>
          <a:lstStyle/>
          <a:p>
            <a:endParaRPr lang="en-IN"/>
          </a:p>
        </p:txBody>
      </p:sp>
      <p:sp>
        <p:nvSpPr>
          <p:cNvPr id="17" name="Text 15"/>
          <p:cNvSpPr txBox="1"/>
          <p:nvPr/>
        </p:nvSpPr>
        <p:spPr>
          <a:xfrm>
            <a:off x="7772400" y="1737360"/>
            <a:ext cx="822960" cy="822960"/>
          </a:xfrm>
          <a:prstGeom prst="rect">
            <a:avLst/>
          </a:prstGeom>
          <a:noFill/>
          <a:ln/>
        </p:spPr>
        <p:txBody>
          <a:bodyPr wrap="square" lIns="0" tIns="0" rIns="0" bIns="0" rtlCol="0" anchor="ctr"/>
          <a:lstStyle/>
          <a:p>
            <a:pPr marL="0" indent="0" algn="ctr">
              <a:buNone/>
            </a:pPr>
            <a:r>
              <a:rPr lang="en-US" sz="2400" b="1" dirty="0">
                <a:solidFill>
                  <a:schemeClr val="bg1"/>
                </a:solidFill>
              </a:rPr>
              <a:t>4</a:t>
            </a:r>
            <a:endParaRPr lang="en-US" sz="2400" dirty="0"/>
          </a:p>
        </p:txBody>
      </p:sp>
      <p:sp>
        <p:nvSpPr>
          <p:cNvPr id="18" name="Text 16"/>
          <p:cNvSpPr txBox="1"/>
          <p:nvPr/>
        </p:nvSpPr>
        <p:spPr>
          <a:xfrm>
            <a:off x="7178040" y="2788920"/>
            <a:ext cx="2011680" cy="685800"/>
          </a:xfrm>
          <a:prstGeom prst="rect">
            <a:avLst/>
          </a:prstGeom>
          <a:noFill/>
          <a:ln/>
        </p:spPr>
        <p:txBody>
          <a:bodyPr wrap="square" lIns="0" tIns="0" rIns="0" bIns="0" rtlCol="0" anchor="t"/>
          <a:lstStyle/>
          <a:p>
            <a:pPr marL="0" indent="0" algn="ctr">
              <a:buNone/>
            </a:pPr>
            <a:r>
              <a:rPr lang="en-US" sz="1600" b="1" dirty="0">
                <a:solidFill>
                  <a:schemeClr val="tx2"/>
                </a:solidFill>
              </a:rPr>
              <a:t>+ Softer (√) weights</a:t>
            </a:r>
            <a:endParaRPr lang="en-US" sz="1600" dirty="0"/>
          </a:p>
        </p:txBody>
      </p:sp>
      <p:sp>
        <p:nvSpPr>
          <p:cNvPr id="19" name="Text 17"/>
          <p:cNvSpPr txBox="1"/>
          <p:nvPr/>
        </p:nvSpPr>
        <p:spPr>
          <a:xfrm>
            <a:off x="7178040" y="3520440"/>
            <a:ext cx="2011680" cy="1005840"/>
          </a:xfrm>
          <a:prstGeom prst="rect">
            <a:avLst/>
          </a:prstGeom>
          <a:noFill/>
          <a:ln/>
        </p:spPr>
        <p:txBody>
          <a:bodyPr wrap="square" lIns="0" tIns="0" rIns="0" bIns="0" rtlCol="0" anchor="t"/>
          <a:lstStyle/>
          <a:p>
            <a:pPr marL="0" indent="0" algn="ctr">
              <a:buNone/>
            </a:pPr>
            <a:r>
              <a:rPr lang="en-US" sz="1400" dirty="0">
                <a:solidFill>
                  <a:schemeClr val="tx1"/>
                </a:solidFill>
              </a:rPr>
              <a:t>Can we catch more abnormal beats safely?</a:t>
            </a:r>
            <a:endParaRPr lang="en-US" sz="1400" dirty="0"/>
          </a:p>
        </p:txBody>
      </p:sp>
      <p:sp>
        <p:nvSpPr>
          <p:cNvPr id="20" name="Shape 18"/>
          <p:cNvSpPr/>
          <p:nvPr/>
        </p:nvSpPr>
        <p:spPr>
          <a:xfrm>
            <a:off x="9966960" y="1737360"/>
            <a:ext cx="822960" cy="822960"/>
          </a:xfrm>
          <a:prstGeom prst="ellipse">
            <a:avLst/>
          </a:prstGeom>
          <a:solidFill>
            <a:schemeClr val="accent2"/>
          </a:solidFill>
          <a:ln w="38100">
            <a:solidFill>
              <a:srgbClr val="FFFFFF"/>
            </a:solidFill>
            <a:prstDash val="solid"/>
          </a:ln>
        </p:spPr>
        <p:txBody>
          <a:bodyPr/>
          <a:lstStyle/>
          <a:p>
            <a:endParaRPr lang="en-IN"/>
          </a:p>
        </p:txBody>
      </p:sp>
      <p:sp>
        <p:nvSpPr>
          <p:cNvPr id="21" name="Text 19"/>
          <p:cNvSpPr txBox="1"/>
          <p:nvPr/>
        </p:nvSpPr>
        <p:spPr>
          <a:xfrm>
            <a:off x="9966960" y="1737360"/>
            <a:ext cx="822960" cy="822960"/>
          </a:xfrm>
          <a:prstGeom prst="rect">
            <a:avLst/>
          </a:prstGeom>
          <a:noFill/>
          <a:ln/>
        </p:spPr>
        <p:txBody>
          <a:bodyPr wrap="square" lIns="0" tIns="0" rIns="0" bIns="0" rtlCol="0" anchor="ctr"/>
          <a:lstStyle/>
          <a:p>
            <a:pPr marL="0" indent="0" algn="ctr">
              <a:buNone/>
            </a:pPr>
            <a:r>
              <a:rPr lang="en-US" sz="2400" b="1" dirty="0">
                <a:solidFill>
                  <a:schemeClr val="bg1"/>
                </a:solidFill>
              </a:rPr>
              <a:t>5</a:t>
            </a:r>
            <a:endParaRPr lang="en-US" sz="2400" dirty="0"/>
          </a:p>
        </p:txBody>
      </p:sp>
      <p:sp>
        <p:nvSpPr>
          <p:cNvPr id="22" name="Text 20"/>
          <p:cNvSpPr txBox="1"/>
          <p:nvPr/>
        </p:nvSpPr>
        <p:spPr>
          <a:xfrm>
            <a:off x="9372600" y="2788920"/>
            <a:ext cx="2011680" cy="685800"/>
          </a:xfrm>
          <a:prstGeom prst="rect">
            <a:avLst/>
          </a:prstGeom>
          <a:noFill/>
          <a:ln/>
        </p:spPr>
        <p:txBody>
          <a:bodyPr wrap="square" lIns="0" tIns="0" rIns="0" bIns="0" rtlCol="0" anchor="t"/>
          <a:lstStyle/>
          <a:p>
            <a:pPr marL="0" indent="0" algn="ctr">
              <a:buNone/>
            </a:pPr>
            <a:r>
              <a:rPr lang="en-US" sz="1600" b="1" dirty="0">
                <a:solidFill>
                  <a:schemeClr val="accent2"/>
                </a:solidFill>
              </a:rPr>
              <a:t>1D ResNet</a:t>
            </a:r>
            <a:endParaRPr lang="en-US" sz="1600" dirty="0"/>
          </a:p>
        </p:txBody>
      </p:sp>
      <p:sp>
        <p:nvSpPr>
          <p:cNvPr id="23" name="Text 21"/>
          <p:cNvSpPr txBox="1"/>
          <p:nvPr/>
        </p:nvSpPr>
        <p:spPr>
          <a:xfrm>
            <a:off x="9372600" y="3520440"/>
            <a:ext cx="2011680" cy="1005840"/>
          </a:xfrm>
          <a:prstGeom prst="rect">
            <a:avLst/>
          </a:prstGeom>
          <a:noFill/>
          <a:ln/>
        </p:spPr>
        <p:txBody>
          <a:bodyPr wrap="square" lIns="0" tIns="0" rIns="0" bIns="0" rtlCol="0" anchor="t"/>
          <a:lstStyle/>
          <a:p>
            <a:pPr marL="0" indent="0" algn="ctr">
              <a:buNone/>
            </a:pPr>
            <a:r>
              <a:rPr lang="en-US" sz="1400" dirty="0">
                <a:solidFill>
                  <a:schemeClr val="tx1"/>
                </a:solidFill>
              </a:rPr>
              <a:t>Can a deep CNN beat the sequence model?</a:t>
            </a:r>
            <a:endParaRPr lang="en-US" sz="1400" dirty="0"/>
          </a:p>
        </p:txBody>
      </p:sp>
      <p:sp>
        <p:nvSpPr>
          <p:cNvPr id="24" name="Shape 22"/>
          <p:cNvSpPr/>
          <p:nvPr/>
        </p:nvSpPr>
        <p:spPr>
          <a:xfrm>
            <a:off x="548640" y="4983480"/>
            <a:ext cx="11064240" cy="1097280"/>
          </a:xfrm>
          <a:prstGeom prst="roundRect">
            <a:avLst>
              <a:gd name="adj" fmla="val 6667"/>
            </a:avLst>
          </a:prstGeom>
          <a:solidFill>
            <a:srgbClr val="E6F3F3"/>
          </a:solidFill>
          <a:ln w="12700">
            <a:solidFill>
              <a:srgbClr val="E6F3F3"/>
            </a:solidFill>
            <a:prstDash val="solid"/>
          </a:ln>
        </p:spPr>
        <p:txBody>
          <a:bodyPr/>
          <a:lstStyle/>
          <a:p>
            <a:endParaRPr lang="en-IN"/>
          </a:p>
        </p:txBody>
      </p:sp>
      <p:sp>
        <p:nvSpPr>
          <p:cNvPr id="25" name="Text 23"/>
          <p:cNvSpPr txBox="1"/>
          <p:nvPr/>
        </p:nvSpPr>
        <p:spPr>
          <a:xfrm>
            <a:off x="822960" y="4983480"/>
            <a:ext cx="10515600" cy="1097280"/>
          </a:xfrm>
          <a:prstGeom prst="rect">
            <a:avLst/>
          </a:prstGeom>
          <a:noFill/>
          <a:ln/>
        </p:spPr>
        <p:txBody>
          <a:bodyPr wrap="square" lIns="0" tIns="0" rIns="0" bIns="0" rtlCol="0" anchor="ctr"/>
          <a:lstStyle/>
          <a:p>
            <a:pPr marL="0" indent="0">
              <a:buNone/>
            </a:pPr>
            <a:r>
              <a:rPr lang="en-US" sz="1600" dirty="0">
                <a:solidFill>
                  <a:schemeClr val="tx2"/>
                </a:solidFill>
              </a:rPr>
              <a:t>Each step starts from the weakness found in the step before it, so the experiments tell one connected story.</a:t>
            </a:r>
            <a:endParaRPr lang="en-US" sz="16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C7A89"/>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rgbClr val="12263A"/>
                </a:solidFill>
              </a:rPr>
              <a:t>Step 1: Simple 1D CNN (baseline)</a:t>
            </a:r>
            <a:endParaRPr lang="en-US" sz="3200" dirty="0"/>
          </a:p>
        </p:txBody>
      </p:sp>
      <p:sp>
        <p:nvSpPr>
          <p:cNvPr id="3" name="Text 1"/>
          <p:cNvSpPr txBox="1"/>
          <p:nvPr/>
        </p:nvSpPr>
        <p:spPr>
          <a:xfrm>
            <a:off x="548640" y="1325880"/>
            <a:ext cx="5943600" cy="274320"/>
          </a:xfrm>
          <a:prstGeom prst="rect">
            <a:avLst/>
          </a:prstGeom>
          <a:noFill/>
          <a:ln/>
        </p:spPr>
        <p:txBody>
          <a:bodyPr wrap="square" lIns="0" tIns="0" rIns="0" bIns="0" rtlCol="0" anchor="t"/>
          <a:lstStyle/>
          <a:p>
            <a:pPr marL="0" indent="0">
              <a:buNone/>
            </a:pPr>
            <a:r>
              <a:rPr lang="en-US" sz="1500" b="1" dirty="0">
                <a:solidFill>
                  <a:schemeClr val="accent1"/>
                </a:solidFill>
              </a:rPr>
              <a:t>Why this step?</a:t>
            </a:r>
            <a:endParaRPr lang="en-US" sz="1500" dirty="0"/>
          </a:p>
        </p:txBody>
      </p:sp>
      <p:sp>
        <p:nvSpPr>
          <p:cNvPr id="4" name="Text 2"/>
          <p:cNvSpPr txBox="1"/>
          <p:nvPr/>
        </p:nvSpPr>
        <p:spPr>
          <a:xfrm>
            <a:off x="548640" y="1618488"/>
            <a:ext cx="5943600" cy="658368"/>
          </a:xfrm>
          <a:prstGeom prst="rect">
            <a:avLst/>
          </a:prstGeom>
          <a:noFill/>
          <a:ln/>
        </p:spPr>
        <p:txBody>
          <a:bodyPr wrap="square" lIns="0" tIns="0" rIns="0" bIns="0" rtlCol="0" anchor="t"/>
          <a:lstStyle/>
          <a:p>
            <a:pPr marL="0" indent="0">
              <a:buNone/>
            </a:pPr>
            <a:r>
              <a:rPr lang="en-US" sz="1400" dirty="0">
                <a:solidFill>
                  <a:schemeClr val="tx1"/>
                </a:solidFill>
              </a:rPr>
              <a:t>Start simple. We need a baseline score that every later model has to beat.</a:t>
            </a:r>
            <a:endParaRPr lang="en-US" sz="1400" dirty="0"/>
          </a:p>
        </p:txBody>
      </p:sp>
      <p:sp>
        <p:nvSpPr>
          <p:cNvPr id="5" name="Text 3"/>
          <p:cNvSpPr txBox="1"/>
          <p:nvPr/>
        </p:nvSpPr>
        <p:spPr>
          <a:xfrm>
            <a:off x="548640" y="2313432"/>
            <a:ext cx="5943600" cy="274320"/>
          </a:xfrm>
          <a:prstGeom prst="rect">
            <a:avLst/>
          </a:prstGeom>
          <a:noFill/>
          <a:ln/>
        </p:spPr>
        <p:txBody>
          <a:bodyPr wrap="square" lIns="0" tIns="0" rIns="0" bIns="0" rtlCol="0" anchor="t"/>
          <a:lstStyle/>
          <a:p>
            <a:pPr marL="0" indent="0">
              <a:buNone/>
            </a:pPr>
            <a:r>
              <a:rPr lang="en-US" sz="1500" b="1" dirty="0">
                <a:solidFill>
                  <a:schemeClr val="accent1"/>
                </a:solidFill>
              </a:rPr>
              <a:t>What I did</a:t>
            </a:r>
            <a:endParaRPr lang="en-US" sz="1500" dirty="0"/>
          </a:p>
        </p:txBody>
      </p:sp>
      <p:sp>
        <p:nvSpPr>
          <p:cNvPr id="6" name="Text 4"/>
          <p:cNvSpPr txBox="1"/>
          <p:nvPr/>
        </p:nvSpPr>
        <p:spPr>
          <a:xfrm>
            <a:off x="548640" y="2606040"/>
            <a:ext cx="5943600" cy="658368"/>
          </a:xfrm>
          <a:prstGeom prst="rect">
            <a:avLst/>
          </a:prstGeom>
          <a:noFill/>
          <a:ln/>
        </p:spPr>
        <p:txBody>
          <a:bodyPr wrap="square" lIns="0" tIns="0" rIns="0" bIns="0" rtlCol="0" anchor="t"/>
          <a:lstStyle/>
          <a:p>
            <a:pPr marL="0" indent="0">
              <a:buNone/>
            </a:pPr>
            <a:r>
              <a:rPr lang="en-US" sz="1400" dirty="0">
                <a:solidFill>
                  <a:schemeClr val="tx1"/>
                </a:solidFill>
              </a:rPr>
              <a:t>3 convolution layers + a small classifier. No handling of class imbalance. 15 epochs.</a:t>
            </a:r>
            <a:endParaRPr lang="en-US" sz="1400" dirty="0"/>
          </a:p>
        </p:txBody>
      </p:sp>
      <p:sp>
        <p:nvSpPr>
          <p:cNvPr id="7" name="Text 5"/>
          <p:cNvSpPr txBox="1"/>
          <p:nvPr/>
        </p:nvSpPr>
        <p:spPr>
          <a:xfrm>
            <a:off x="548640" y="3300984"/>
            <a:ext cx="5943600" cy="274320"/>
          </a:xfrm>
          <a:prstGeom prst="rect">
            <a:avLst/>
          </a:prstGeom>
          <a:noFill/>
          <a:ln/>
        </p:spPr>
        <p:txBody>
          <a:bodyPr wrap="square" lIns="0" tIns="0" rIns="0" bIns="0" rtlCol="0" anchor="t"/>
          <a:lstStyle/>
          <a:p>
            <a:pPr marL="0" indent="0">
              <a:buNone/>
            </a:pPr>
            <a:r>
              <a:rPr lang="en-US" sz="1500" b="1" dirty="0">
                <a:solidFill>
                  <a:schemeClr val="accent1"/>
                </a:solidFill>
              </a:rPr>
              <a:t>Intuition</a:t>
            </a:r>
            <a:endParaRPr lang="en-US" sz="1500" dirty="0"/>
          </a:p>
        </p:txBody>
      </p:sp>
      <p:sp>
        <p:nvSpPr>
          <p:cNvPr id="8" name="Text 6"/>
          <p:cNvSpPr txBox="1"/>
          <p:nvPr/>
        </p:nvSpPr>
        <p:spPr>
          <a:xfrm>
            <a:off x="548640" y="3593592"/>
            <a:ext cx="5943600" cy="658368"/>
          </a:xfrm>
          <a:prstGeom prst="rect">
            <a:avLst/>
          </a:prstGeom>
          <a:noFill/>
          <a:ln/>
        </p:spPr>
        <p:txBody>
          <a:bodyPr wrap="square" lIns="0" tIns="0" rIns="0" bIns="0" rtlCol="0" anchor="t"/>
          <a:lstStyle/>
          <a:p>
            <a:pPr marL="0" indent="0">
              <a:buNone/>
            </a:pPr>
            <a:r>
              <a:rPr lang="en-US" sz="1400" dirty="0">
                <a:solidFill>
                  <a:schemeClr val="tx1"/>
                </a:solidFill>
              </a:rPr>
              <a:t>A small window (5 samples) slides along the beat and learns to spot local shapes such as a sharp spike or a wide wave.</a:t>
            </a:r>
            <a:endParaRPr lang="en-US" sz="1400" dirty="0"/>
          </a:p>
        </p:txBody>
      </p:sp>
      <p:sp>
        <p:nvSpPr>
          <p:cNvPr id="9" name="Shape 7"/>
          <p:cNvSpPr/>
          <p:nvPr/>
        </p:nvSpPr>
        <p:spPr>
          <a:xfrm>
            <a:off x="548640" y="4343400"/>
            <a:ext cx="2880360" cy="1874520"/>
          </a:xfrm>
          <a:prstGeom prst="roundRect">
            <a:avLst>
              <a:gd name="adj" fmla="val 3902"/>
            </a:avLst>
          </a:prstGeom>
          <a:solidFill>
            <a:srgbClr val="E7F1E8"/>
          </a:solidFill>
          <a:ln w="12700">
            <a:solidFill>
              <a:srgbClr val="E7F1E8"/>
            </a:solidFill>
            <a:prstDash val="solid"/>
          </a:ln>
        </p:spPr>
        <p:txBody>
          <a:bodyPr/>
          <a:lstStyle/>
          <a:p>
            <a:endParaRPr lang="en-IN"/>
          </a:p>
        </p:txBody>
      </p:sp>
      <p:sp>
        <p:nvSpPr>
          <p:cNvPr id="10" name="Shape 8"/>
          <p:cNvSpPr/>
          <p:nvPr/>
        </p:nvSpPr>
        <p:spPr>
          <a:xfrm>
            <a:off x="731520" y="4526280"/>
            <a:ext cx="365760" cy="365760"/>
          </a:xfrm>
          <a:prstGeom prst="ellipse">
            <a:avLst/>
          </a:prstGeom>
          <a:solidFill>
            <a:schemeClr val="accent3"/>
          </a:solidFill>
          <a:ln w="12700">
            <a:solidFill>
              <a:schemeClr val="accent3"/>
            </a:solidFill>
            <a:prstDash val="solid"/>
          </a:ln>
        </p:spPr>
        <p:txBody>
          <a:bodyPr/>
          <a:lstStyle/>
          <a:p>
            <a:endParaRPr lang="en-IN"/>
          </a:p>
        </p:txBody>
      </p:sp>
      <p:pic>
        <p:nvPicPr>
          <p:cNvPr id="11" name="Image 0" descr="preencoded.png"/>
          <p:cNvPicPr>
            <a:picLocks noChangeAspect="1"/>
          </p:cNvPicPr>
          <p:nvPr/>
        </p:nvPicPr>
        <p:blipFill>
          <a:blip r:embed="rId3"/>
          <a:stretch>
            <a:fillRect/>
          </a:stretch>
        </p:blipFill>
        <p:spPr>
          <a:xfrm>
            <a:off x="822960" y="4617720"/>
            <a:ext cx="182880" cy="182880"/>
          </a:xfrm>
          <a:prstGeom prst="rect">
            <a:avLst/>
          </a:prstGeom>
        </p:spPr>
      </p:pic>
      <p:sp>
        <p:nvSpPr>
          <p:cNvPr id="12" name="Text 9"/>
          <p:cNvSpPr txBox="1"/>
          <p:nvPr/>
        </p:nvSpPr>
        <p:spPr>
          <a:xfrm>
            <a:off x="1188720" y="4526280"/>
            <a:ext cx="2057400" cy="365760"/>
          </a:xfrm>
          <a:prstGeom prst="rect">
            <a:avLst/>
          </a:prstGeom>
          <a:noFill/>
          <a:ln/>
        </p:spPr>
        <p:txBody>
          <a:bodyPr wrap="square" lIns="0" tIns="0" rIns="0" bIns="0" rtlCol="0" anchor="ctr"/>
          <a:lstStyle/>
          <a:p>
            <a:pPr marL="0" indent="0">
              <a:buNone/>
            </a:pPr>
            <a:r>
              <a:rPr lang="en-US" sz="1500" b="1" dirty="0">
                <a:solidFill>
                  <a:schemeClr val="accent3"/>
                </a:solidFill>
              </a:rPr>
              <a:t>What worked</a:t>
            </a:r>
            <a:endParaRPr lang="en-US" sz="1500" dirty="0"/>
          </a:p>
        </p:txBody>
      </p:sp>
      <p:sp>
        <p:nvSpPr>
          <p:cNvPr id="13" name="Text 10"/>
          <p:cNvSpPr txBox="1"/>
          <p:nvPr/>
        </p:nvSpPr>
        <p:spPr>
          <a:xfrm>
            <a:off x="731520" y="5029200"/>
            <a:ext cx="2514600"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Fast (~45 s) and small (17k parameters)</a:t>
            </a:r>
            <a:endParaRPr lang="en-US" sz="1400" dirty="0"/>
          </a:p>
          <a:p>
            <a:pPr marL="342900" indent="-342900">
              <a:spcAft>
                <a:spcPts val="400"/>
              </a:spcAft>
              <a:buSzPct val="100000"/>
              <a:buChar char="•"/>
            </a:pPr>
            <a:r>
              <a:rPr lang="en-US" sz="1400" dirty="0">
                <a:solidFill>
                  <a:schemeClr val="tx1"/>
                </a:solidFill>
              </a:rPr>
              <a:t>Normal, V and Q beats found well</a:t>
            </a:r>
            <a:endParaRPr lang="en-US" sz="1400" dirty="0"/>
          </a:p>
        </p:txBody>
      </p:sp>
      <p:sp>
        <p:nvSpPr>
          <p:cNvPr id="14" name="Shape 11"/>
          <p:cNvSpPr/>
          <p:nvPr/>
        </p:nvSpPr>
        <p:spPr>
          <a:xfrm>
            <a:off x="3611880" y="4343400"/>
            <a:ext cx="2880360" cy="1874520"/>
          </a:xfrm>
          <a:prstGeom prst="roundRect">
            <a:avLst>
              <a:gd name="adj" fmla="val 3902"/>
            </a:avLst>
          </a:prstGeom>
          <a:solidFill>
            <a:srgbClr val="FBEFE3"/>
          </a:solidFill>
          <a:ln w="12700">
            <a:solidFill>
              <a:srgbClr val="FBEFE3"/>
            </a:solidFill>
            <a:prstDash val="solid"/>
          </a:ln>
        </p:spPr>
        <p:txBody>
          <a:bodyPr/>
          <a:lstStyle/>
          <a:p>
            <a:endParaRPr lang="en-IN"/>
          </a:p>
        </p:txBody>
      </p:sp>
      <p:sp>
        <p:nvSpPr>
          <p:cNvPr id="15" name="Shape 12"/>
          <p:cNvSpPr/>
          <p:nvPr/>
        </p:nvSpPr>
        <p:spPr>
          <a:xfrm>
            <a:off x="3794760" y="4526280"/>
            <a:ext cx="365760" cy="365760"/>
          </a:xfrm>
          <a:prstGeom prst="ellipse">
            <a:avLst/>
          </a:prstGeom>
          <a:solidFill>
            <a:schemeClr val="accent4"/>
          </a:solidFill>
          <a:ln w="12700">
            <a:solidFill>
              <a:schemeClr val="accent4"/>
            </a:solidFill>
            <a:prstDash val="solid"/>
          </a:ln>
        </p:spPr>
        <p:txBody>
          <a:bodyPr/>
          <a:lstStyle/>
          <a:p>
            <a:endParaRPr lang="en-IN"/>
          </a:p>
        </p:txBody>
      </p:sp>
      <p:pic>
        <p:nvPicPr>
          <p:cNvPr id="16" name="Image 1" descr="preencoded.png"/>
          <p:cNvPicPr>
            <a:picLocks noChangeAspect="1"/>
          </p:cNvPicPr>
          <p:nvPr/>
        </p:nvPicPr>
        <p:blipFill>
          <a:blip r:embed="rId4"/>
          <a:stretch>
            <a:fillRect/>
          </a:stretch>
        </p:blipFill>
        <p:spPr>
          <a:xfrm>
            <a:off x="3886200" y="4617720"/>
            <a:ext cx="182880" cy="182880"/>
          </a:xfrm>
          <a:prstGeom prst="rect">
            <a:avLst/>
          </a:prstGeom>
        </p:spPr>
      </p:pic>
      <p:sp>
        <p:nvSpPr>
          <p:cNvPr id="17" name="Text 13"/>
          <p:cNvSpPr txBox="1"/>
          <p:nvPr/>
        </p:nvSpPr>
        <p:spPr>
          <a:xfrm>
            <a:off x="4251960" y="4526280"/>
            <a:ext cx="2057400" cy="365760"/>
          </a:xfrm>
          <a:prstGeom prst="rect">
            <a:avLst/>
          </a:prstGeom>
          <a:noFill/>
          <a:ln/>
        </p:spPr>
        <p:txBody>
          <a:bodyPr wrap="square" lIns="0" tIns="0" rIns="0" bIns="0" rtlCol="0" anchor="ctr"/>
          <a:lstStyle/>
          <a:p>
            <a:pPr marL="0" indent="0">
              <a:buNone/>
            </a:pPr>
            <a:r>
              <a:rPr lang="en-US" sz="1500" b="1" dirty="0">
                <a:solidFill>
                  <a:schemeClr val="accent4"/>
                </a:solidFill>
              </a:rPr>
              <a:t>What did not</a:t>
            </a:r>
            <a:endParaRPr lang="en-US" sz="1500" dirty="0"/>
          </a:p>
        </p:txBody>
      </p:sp>
      <p:sp>
        <p:nvSpPr>
          <p:cNvPr id="18" name="Text 14"/>
          <p:cNvSpPr txBox="1"/>
          <p:nvPr/>
        </p:nvSpPr>
        <p:spPr>
          <a:xfrm>
            <a:off x="3794760" y="5029200"/>
            <a:ext cx="2514600"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Misses more than half of S and F beats</a:t>
            </a:r>
            <a:endParaRPr lang="en-US" sz="1400" dirty="0"/>
          </a:p>
          <a:p>
            <a:pPr marL="342900" indent="-342900">
              <a:spcAft>
                <a:spcPts val="400"/>
              </a:spcAft>
              <a:buSzPct val="100000"/>
              <a:buChar char="•"/>
            </a:pPr>
            <a:r>
              <a:rPr lang="en-US" sz="1400" dirty="0">
                <a:solidFill>
                  <a:schemeClr val="tx1"/>
                </a:solidFill>
              </a:rPr>
              <a:t>96% accuracy hides this problem</a:t>
            </a:r>
            <a:endParaRPr lang="en-US" sz="1400" dirty="0"/>
          </a:p>
        </p:txBody>
      </p:sp>
      <p:sp>
        <p:nvSpPr>
          <p:cNvPr id="19" name="Shape 15"/>
          <p:cNvSpPr/>
          <p:nvPr/>
        </p:nvSpPr>
        <p:spPr>
          <a:xfrm>
            <a:off x="6858000" y="1325880"/>
            <a:ext cx="2331720" cy="868680"/>
          </a:xfrm>
          <a:prstGeom prst="roundRect">
            <a:avLst>
              <a:gd name="adj" fmla="val 8421"/>
            </a:avLst>
          </a:prstGeom>
          <a:solidFill>
            <a:schemeClr val="bg2"/>
          </a:solidFill>
          <a:ln w="12700">
            <a:solidFill>
              <a:schemeClr val="bg2"/>
            </a:solidFill>
            <a:prstDash val="solid"/>
          </a:ln>
        </p:spPr>
        <p:txBody>
          <a:bodyPr/>
          <a:lstStyle/>
          <a:p>
            <a:endParaRPr lang="en-IN"/>
          </a:p>
        </p:txBody>
      </p:sp>
      <p:sp>
        <p:nvSpPr>
          <p:cNvPr id="20" name="Text 16"/>
          <p:cNvSpPr txBox="1"/>
          <p:nvPr/>
        </p:nvSpPr>
        <p:spPr>
          <a:xfrm>
            <a:off x="7040880" y="1417320"/>
            <a:ext cx="1965960" cy="477774"/>
          </a:xfrm>
          <a:prstGeom prst="rect">
            <a:avLst/>
          </a:prstGeom>
          <a:noFill/>
          <a:ln/>
        </p:spPr>
        <p:txBody>
          <a:bodyPr wrap="square" lIns="0" tIns="0" rIns="0" bIns="0" rtlCol="0" anchor="ctr"/>
          <a:lstStyle/>
          <a:p>
            <a:pPr marL="0" indent="0">
              <a:buNone/>
            </a:pPr>
            <a:r>
              <a:rPr lang="en-US" sz="2800" b="1" dirty="0">
                <a:solidFill>
                  <a:schemeClr val="tx2"/>
                </a:solidFill>
              </a:rPr>
              <a:t>95.9%</a:t>
            </a:r>
            <a:endParaRPr lang="en-US" sz="2800" dirty="0"/>
          </a:p>
        </p:txBody>
      </p:sp>
      <p:sp>
        <p:nvSpPr>
          <p:cNvPr id="21" name="Text 17"/>
          <p:cNvSpPr txBox="1"/>
          <p:nvPr/>
        </p:nvSpPr>
        <p:spPr>
          <a:xfrm>
            <a:off x="7040880" y="1864462"/>
            <a:ext cx="1965960" cy="260604"/>
          </a:xfrm>
          <a:prstGeom prst="rect">
            <a:avLst/>
          </a:prstGeom>
          <a:noFill/>
          <a:ln/>
        </p:spPr>
        <p:txBody>
          <a:bodyPr wrap="square" lIns="0" tIns="0" rIns="0" bIns="0" rtlCol="0" anchor="ctr"/>
          <a:lstStyle/>
          <a:p>
            <a:pPr marL="0" indent="0">
              <a:buNone/>
            </a:pPr>
            <a:r>
              <a:rPr lang="en-US" sz="1200" dirty="0">
                <a:solidFill>
                  <a:schemeClr val="accent5"/>
                </a:solidFill>
              </a:rPr>
              <a:t>Accuracy</a:t>
            </a:r>
            <a:endParaRPr lang="en-US" sz="1200" dirty="0"/>
          </a:p>
        </p:txBody>
      </p:sp>
      <p:sp>
        <p:nvSpPr>
          <p:cNvPr id="22" name="Shape 18"/>
          <p:cNvSpPr/>
          <p:nvPr/>
        </p:nvSpPr>
        <p:spPr>
          <a:xfrm>
            <a:off x="9326880" y="1325880"/>
            <a:ext cx="2331720" cy="868680"/>
          </a:xfrm>
          <a:prstGeom prst="roundRect">
            <a:avLst>
              <a:gd name="adj" fmla="val 8421"/>
            </a:avLst>
          </a:prstGeom>
          <a:solidFill>
            <a:schemeClr val="bg2"/>
          </a:solidFill>
          <a:ln w="12700">
            <a:solidFill>
              <a:schemeClr val="bg2"/>
            </a:solidFill>
            <a:prstDash val="solid"/>
          </a:ln>
        </p:spPr>
        <p:txBody>
          <a:bodyPr/>
          <a:lstStyle/>
          <a:p>
            <a:endParaRPr lang="en-IN"/>
          </a:p>
        </p:txBody>
      </p:sp>
      <p:sp>
        <p:nvSpPr>
          <p:cNvPr id="23" name="Text 19"/>
          <p:cNvSpPr txBox="1"/>
          <p:nvPr/>
        </p:nvSpPr>
        <p:spPr>
          <a:xfrm>
            <a:off x="9509760" y="1417320"/>
            <a:ext cx="1965960" cy="477774"/>
          </a:xfrm>
          <a:prstGeom prst="rect">
            <a:avLst/>
          </a:prstGeom>
          <a:noFill/>
          <a:ln/>
        </p:spPr>
        <p:txBody>
          <a:bodyPr wrap="square" lIns="0" tIns="0" rIns="0" bIns="0" rtlCol="0" anchor="ctr"/>
          <a:lstStyle/>
          <a:p>
            <a:pPr marL="0" indent="0">
              <a:buNone/>
            </a:pPr>
            <a:r>
              <a:rPr lang="en-US" sz="2800" b="1" dirty="0">
                <a:solidFill>
                  <a:schemeClr val="tx2"/>
                </a:solidFill>
              </a:rPr>
              <a:t>0.776</a:t>
            </a:r>
            <a:endParaRPr lang="en-US" sz="2800" dirty="0"/>
          </a:p>
        </p:txBody>
      </p:sp>
      <p:sp>
        <p:nvSpPr>
          <p:cNvPr id="24" name="Text 20"/>
          <p:cNvSpPr txBox="1"/>
          <p:nvPr/>
        </p:nvSpPr>
        <p:spPr>
          <a:xfrm>
            <a:off x="9509760" y="1864462"/>
            <a:ext cx="1965960" cy="260604"/>
          </a:xfrm>
          <a:prstGeom prst="rect">
            <a:avLst/>
          </a:prstGeom>
          <a:noFill/>
          <a:ln/>
        </p:spPr>
        <p:txBody>
          <a:bodyPr wrap="square" lIns="0" tIns="0" rIns="0" bIns="0" rtlCol="0" anchor="ctr"/>
          <a:lstStyle/>
          <a:p>
            <a:pPr marL="0" indent="0">
              <a:buNone/>
            </a:pPr>
            <a:r>
              <a:rPr lang="en-US" sz="1200" dirty="0">
                <a:solidFill>
                  <a:schemeClr val="accent5"/>
                </a:solidFill>
              </a:rPr>
              <a:t>Macro F1</a:t>
            </a:r>
            <a:endParaRPr lang="en-US" sz="1200" dirty="0"/>
          </a:p>
        </p:txBody>
      </p:sp>
      <p:sp>
        <p:nvSpPr>
          <p:cNvPr id="25" name="Shape 21"/>
          <p:cNvSpPr/>
          <p:nvPr/>
        </p:nvSpPr>
        <p:spPr>
          <a:xfrm>
            <a:off x="6858000" y="2331720"/>
            <a:ext cx="2331720" cy="868680"/>
          </a:xfrm>
          <a:prstGeom prst="roundRect">
            <a:avLst>
              <a:gd name="adj" fmla="val 8421"/>
            </a:avLst>
          </a:prstGeom>
          <a:solidFill>
            <a:schemeClr val="bg2"/>
          </a:solidFill>
          <a:ln w="12700">
            <a:solidFill>
              <a:schemeClr val="bg2"/>
            </a:solidFill>
            <a:prstDash val="solid"/>
          </a:ln>
        </p:spPr>
        <p:txBody>
          <a:bodyPr/>
          <a:lstStyle/>
          <a:p>
            <a:endParaRPr lang="en-IN"/>
          </a:p>
        </p:txBody>
      </p:sp>
      <p:sp>
        <p:nvSpPr>
          <p:cNvPr id="26" name="Text 22"/>
          <p:cNvSpPr txBox="1"/>
          <p:nvPr/>
        </p:nvSpPr>
        <p:spPr>
          <a:xfrm>
            <a:off x="7040880" y="2423160"/>
            <a:ext cx="1965960" cy="477774"/>
          </a:xfrm>
          <a:prstGeom prst="rect">
            <a:avLst/>
          </a:prstGeom>
          <a:noFill/>
          <a:ln/>
        </p:spPr>
        <p:txBody>
          <a:bodyPr wrap="square" lIns="0" tIns="0" rIns="0" bIns="0" rtlCol="0" anchor="ctr"/>
          <a:lstStyle/>
          <a:p>
            <a:pPr marL="0" indent="0">
              <a:buNone/>
            </a:pPr>
            <a:r>
              <a:rPr lang="en-US" sz="2800" b="1" dirty="0">
                <a:solidFill>
                  <a:schemeClr val="tx2"/>
                </a:solidFill>
              </a:rPr>
              <a:t>0.44</a:t>
            </a:r>
            <a:endParaRPr lang="en-US" sz="2800" dirty="0"/>
          </a:p>
        </p:txBody>
      </p:sp>
      <p:sp>
        <p:nvSpPr>
          <p:cNvPr id="27" name="Text 23"/>
          <p:cNvSpPr txBox="1"/>
          <p:nvPr/>
        </p:nvSpPr>
        <p:spPr>
          <a:xfrm>
            <a:off x="7040880" y="2870302"/>
            <a:ext cx="1965960" cy="260604"/>
          </a:xfrm>
          <a:prstGeom prst="rect">
            <a:avLst/>
          </a:prstGeom>
          <a:noFill/>
          <a:ln/>
        </p:spPr>
        <p:txBody>
          <a:bodyPr wrap="square" lIns="0" tIns="0" rIns="0" bIns="0" rtlCol="0" anchor="ctr"/>
          <a:lstStyle/>
          <a:p>
            <a:pPr marL="0" indent="0">
              <a:buNone/>
            </a:pPr>
            <a:r>
              <a:rPr lang="en-US" sz="1200" dirty="0">
                <a:solidFill>
                  <a:schemeClr val="accent5"/>
                </a:solidFill>
              </a:rPr>
              <a:t>Recall S</a:t>
            </a:r>
            <a:endParaRPr lang="en-US" sz="1200" dirty="0"/>
          </a:p>
        </p:txBody>
      </p:sp>
      <p:sp>
        <p:nvSpPr>
          <p:cNvPr id="28" name="Shape 24"/>
          <p:cNvSpPr/>
          <p:nvPr/>
        </p:nvSpPr>
        <p:spPr>
          <a:xfrm>
            <a:off x="9326880" y="2331720"/>
            <a:ext cx="2331720" cy="868680"/>
          </a:xfrm>
          <a:prstGeom prst="roundRect">
            <a:avLst>
              <a:gd name="adj" fmla="val 8421"/>
            </a:avLst>
          </a:prstGeom>
          <a:solidFill>
            <a:schemeClr val="bg2"/>
          </a:solidFill>
          <a:ln w="12700">
            <a:solidFill>
              <a:schemeClr val="bg2"/>
            </a:solidFill>
            <a:prstDash val="solid"/>
          </a:ln>
        </p:spPr>
        <p:txBody>
          <a:bodyPr/>
          <a:lstStyle/>
          <a:p>
            <a:endParaRPr lang="en-IN"/>
          </a:p>
        </p:txBody>
      </p:sp>
      <p:sp>
        <p:nvSpPr>
          <p:cNvPr id="29" name="Text 25"/>
          <p:cNvSpPr txBox="1"/>
          <p:nvPr/>
        </p:nvSpPr>
        <p:spPr>
          <a:xfrm>
            <a:off x="9509760" y="2423160"/>
            <a:ext cx="1965960" cy="477774"/>
          </a:xfrm>
          <a:prstGeom prst="rect">
            <a:avLst/>
          </a:prstGeom>
          <a:noFill/>
          <a:ln/>
        </p:spPr>
        <p:txBody>
          <a:bodyPr wrap="square" lIns="0" tIns="0" rIns="0" bIns="0" rtlCol="0" anchor="ctr"/>
          <a:lstStyle/>
          <a:p>
            <a:pPr marL="0" indent="0">
              <a:buNone/>
            </a:pPr>
            <a:r>
              <a:rPr lang="en-US" sz="2800" b="1" dirty="0">
                <a:solidFill>
                  <a:schemeClr val="tx2"/>
                </a:solidFill>
              </a:rPr>
              <a:t>0.39</a:t>
            </a:r>
            <a:endParaRPr lang="en-US" sz="2800" dirty="0"/>
          </a:p>
        </p:txBody>
      </p:sp>
      <p:sp>
        <p:nvSpPr>
          <p:cNvPr id="30" name="Text 26"/>
          <p:cNvSpPr txBox="1"/>
          <p:nvPr/>
        </p:nvSpPr>
        <p:spPr>
          <a:xfrm>
            <a:off x="9509760" y="2870302"/>
            <a:ext cx="1965960" cy="260604"/>
          </a:xfrm>
          <a:prstGeom prst="rect">
            <a:avLst/>
          </a:prstGeom>
          <a:noFill/>
          <a:ln/>
        </p:spPr>
        <p:txBody>
          <a:bodyPr wrap="square" lIns="0" tIns="0" rIns="0" bIns="0" rtlCol="0" anchor="ctr"/>
          <a:lstStyle/>
          <a:p>
            <a:pPr marL="0" indent="0">
              <a:buNone/>
            </a:pPr>
            <a:r>
              <a:rPr lang="en-US" sz="1200" dirty="0">
                <a:solidFill>
                  <a:schemeClr val="accent5"/>
                </a:solidFill>
              </a:rPr>
              <a:t>Recall F</a:t>
            </a:r>
            <a:endParaRPr lang="en-US" sz="1200" dirty="0"/>
          </a:p>
        </p:txBody>
      </p:sp>
      <p:pic>
        <p:nvPicPr>
          <p:cNvPr id="31" name="Image 2" descr="C:\Users\anshu\AppData\Local\Temp\claude\d--bennett-Healthcare-eeg\68424036-4cfe-451f-8594-ecba8073e5ad\scratchpad\img\c19_4.png"/>
          <p:cNvPicPr>
            <a:picLocks noChangeAspect="1"/>
          </p:cNvPicPr>
          <p:nvPr/>
        </p:nvPicPr>
        <p:blipFill>
          <a:blip r:embed="rId5"/>
          <a:stretch>
            <a:fillRect/>
          </a:stretch>
        </p:blipFill>
        <p:spPr>
          <a:xfrm>
            <a:off x="6858000" y="3474720"/>
            <a:ext cx="2938785" cy="2743200"/>
          </a:xfrm>
          <a:prstGeom prst="rect">
            <a:avLst/>
          </a:prstGeom>
        </p:spPr>
      </p:pic>
      <p:sp>
        <p:nvSpPr>
          <p:cNvPr id="32" name="Text 27"/>
          <p:cNvSpPr txBox="1"/>
          <p:nvPr/>
        </p:nvSpPr>
        <p:spPr>
          <a:xfrm>
            <a:off x="9979665" y="3474720"/>
            <a:ext cx="1678935" cy="2743200"/>
          </a:xfrm>
          <a:prstGeom prst="rect">
            <a:avLst/>
          </a:prstGeom>
          <a:noFill/>
          <a:ln/>
        </p:spPr>
        <p:txBody>
          <a:bodyPr wrap="square" lIns="0" tIns="0" rIns="0" bIns="0" rtlCol="0" anchor="ctr"/>
          <a:lstStyle/>
          <a:p>
            <a:pPr marL="0" indent="0">
              <a:buNone/>
            </a:pPr>
            <a:r>
              <a:rPr lang="en-US" sz="1400" i="1" dirty="0">
                <a:solidFill>
                  <a:schemeClr val="tx2"/>
                </a:solidFill>
              </a:rPr>
              <a:t>Half of the S beats and 44% of the F beats are predicted as Normal.</a:t>
            </a:r>
            <a:endParaRPr lang="en-US" sz="1400" dirty="0"/>
          </a:p>
        </p:txBody>
      </p:sp>
      <p:sp>
        <p:nvSpPr>
          <p:cNvPr id="3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C7A89"/>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rgbClr val="12263A"/>
                </a:solidFill>
              </a:rPr>
              <a:t>Step 2: Add class weights</a:t>
            </a:r>
            <a:endParaRPr lang="en-US" sz="3200" dirty="0"/>
          </a:p>
        </p:txBody>
      </p:sp>
      <p:sp>
        <p:nvSpPr>
          <p:cNvPr id="3" name="Text 1"/>
          <p:cNvSpPr txBox="1"/>
          <p:nvPr/>
        </p:nvSpPr>
        <p:spPr>
          <a:xfrm>
            <a:off x="548640" y="1325880"/>
            <a:ext cx="5943600" cy="274320"/>
          </a:xfrm>
          <a:prstGeom prst="rect">
            <a:avLst/>
          </a:prstGeom>
          <a:noFill/>
          <a:ln/>
        </p:spPr>
        <p:txBody>
          <a:bodyPr wrap="square" lIns="0" tIns="0" rIns="0" bIns="0" rtlCol="0" anchor="t"/>
          <a:lstStyle/>
          <a:p>
            <a:pPr marL="0" indent="0">
              <a:buNone/>
            </a:pPr>
            <a:r>
              <a:rPr lang="en-US" sz="1500" b="1" dirty="0">
                <a:solidFill>
                  <a:schemeClr val="accent1"/>
                </a:solidFill>
              </a:rPr>
              <a:t>Why this step?</a:t>
            </a:r>
            <a:endParaRPr lang="en-US" sz="1500" dirty="0"/>
          </a:p>
        </p:txBody>
      </p:sp>
      <p:sp>
        <p:nvSpPr>
          <p:cNvPr id="4" name="Text 2"/>
          <p:cNvSpPr txBox="1"/>
          <p:nvPr/>
        </p:nvSpPr>
        <p:spPr>
          <a:xfrm>
            <a:off x="548640" y="1618488"/>
            <a:ext cx="5943600" cy="658368"/>
          </a:xfrm>
          <a:prstGeom prst="rect">
            <a:avLst/>
          </a:prstGeom>
          <a:noFill/>
          <a:ln/>
        </p:spPr>
        <p:txBody>
          <a:bodyPr wrap="square" lIns="0" tIns="0" rIns="0" bIns="0" rtlCol="0" anchor="t"/>
          <a:lstStyle/>
          <a:p>
            <a:pPr marL="0" indent="0">
              <a:buNone/>
            </a:pPr>
            <a:r>
              <a:rPr lang="en-US" sz="1400" dirty="0">
                <a:solidFill>
                  <a:schemeClr val="tx1"/>
                </a:solidFill>
              </a:rPr>
              <a:t>Step 1 ignored rare beats because 83% of the training data is Normal.</a:t>
            </a:r>
            <a:endParaRPr lang="en-US" sz="1400" dirty="0"/>
          </a:p>
        </p:txBody>
      </p:sp>
      <p:sp>
        <p:nvSpPr>
          <p:cNvPr id="5" name="Text 3"/>
          <p:cNvSpPr txBox="1"/>
          <p:nvPr/>
        </p:nvSpPr>
        <p:spPr>
          <a:xfrm>
            <a:off x="548640" y="2313432"/>
            <a:ext cx="5943600" cy="274320"/>
          </a:xfrm>
          <a:prstGeom prst="rect">
            <a:avLst/>
          </a:prstGeom>
          <a:noFill/>
          <a:ln/>
        </p:spPr>
        <p:txBody>
          <a:bodyPr wrap="square" lIns="0" tIns="0" rIns="0" bIns="0" rtlCol="0" anchor="t"/>
          <a:lstStyle/>
          <a:p>
            <a:pPr marL="0" indent="0">
              <a:buNone/>
            </a:pPr>
            <a:r>
              <a:rPr lang="en-US" sz="1500" b="1" dirty="0">
                <a:solidFill>
                  <a:schemeClr val="accent1"/>
                </a:solidFill>
              </a:rPr>
              <a:t>What we changed</a:t>
            </a:r>
            <a:endParaRPr lang="en-US" sz="1500" dirty="0"/>
          </a:p>
        </p:txBody>
      </p:sp>
      <p:sp>
        <p:nvSpPr>
          <p:cNvPr id="6" name="Text 4"/>
          <p:cNvSpPr txBox="1"/>
          <p:nvPr/>
        </p:nvSpPr>
        <p:spPr>
          <a:xfrm>
            <a:off x="548640" y="2606040"/>
            <a:ext cx="5943600" cy="658368"/>
          </a:xfrm>
          <a:prstGeom prst="rect">
            <a:avLst/>
          </a:prstGeom>
          <a:noFill/>
          <a:ln/>
        </p:spPr>
        <p:txBody>
          <a:bodyPr wrap="square" lIns="0" tIns="0" rIns="0" bIns="0" rtlCol="0" anchor="t"/>
          <a:lstStyle/>
          <a:p>
            <a:pPr marL="0" indent="0">
              <a:buNone/>
            </a:pPr>
            <a:r>
              <a:rPr lang="en-US" sz="1400" dirty="0">
                <a:solidFill>
                  <a:schemeClr val="tx1"/>
                </a:solidFill>
              </a:rPr>
              <a:t>Only the loss function. Mistakes on rare classes now cost more ("balanced" weights).</a:t>
            </a:r>
            <a:endParaRPr lang="en-US" sz="1400" dirty="0"/>
          </a:p>
        </p:txBody>
      </p:sp>
      <p:sp>
        <p:nvSpPr>
          <p:cNvPr id="7" name="Text 5"/>
          <p:cNvSpPr txBox="1"/>
          <p:nvPr/>
        </p:nvSpPr>
        <p:spPr>
          <a:xfrm>
            <a:off x="548640" y="3300984"/>
            <a:ext cx="5943600" cy="274320"/>
          </a:xfrm>
          <a:prstGeom prst="rect">
            <a:avLst/>
          </a:prstGeom>
          <a:noFill/>
          <a:ln/>
        </p:spPr>
        <p:txBody>
          <a:bodyPr wrap="square" lIns="0" tIns="0" rIns="0" bIns="0" rtlCol="0" anchor="t"/>
          <a:lstStyle/>
          <a:p>
            <a:pPr marL="0" indent="0">
              <a:buNone/>
            </a:pPr>
            <a:r>
              <a:rPr lang="en-US" sz="1500" b="1" dirty="0">
                <a:solidFill>
                  <a:schemeClr val="accent1"/>
                </a:solidFill>
              </a:rPr>
              <a:t>Intuition</a:t>
            </a:r>
            <a:endParaRPr lang="en-US" sz="1500" dirty="0"/>
          </a:p>
        </p:txBody>
      </p:sp>
      <p:sp>
        <p:nvSpPr>
          <p:cNvPr id="8" name="Text 6"/>
          <p:cNvSpPr txBox="1"/>
          <p:nvPr/>
        </p:nvSpPr>
        <p:spPr>
          <a:xfrm>
            <a:off x="548640" y="3593592"/>
            <a:ext cx="5943600" cy="658368"/>
          </a:xfrm>
          <a:prstGeom prst="rect">
            <a:avLst/>
          </a:prstGeom>
          <a:noFill/>
          <a:ln/>
        </p:spPr>
        <p:txBody>
          <a:bodyPr wrap="square" lIns="0" tIns="0" rIns="0" bIns="0" rtlCol="0" anchor="t"/>
          <a:lstStyle/>
          <a:p>
            <a:pPr marL="0" indent="0">
              <a:buNone/>
            </a:pPr>
            <a:r>
              <a:rPr lang="en-US" sz="1400" dirty="0">
                <a:solidFill>
                  <a:schemeClr val="tx1"/>
                </a:solidFill>
              </a:rPr>
              <a:t>If missing an F beat costs 27 points and missing a Normal beat costs 0.24, the model is pushed to pay attention to F.</a:t>
            </a:r>
            <a:endParaRPr lang="en-US" sz="1400" dirty="0"/>
          </a:p>
        </p:txBody>
      </p:sp>
      <p:sp>
        <p:nvSpPr>
          <p:cNvPr id="9" name="Shape 7"/>
          <p:cNvSpPr/>
          <p:nvPr/>
        </p:nvSpPr>
        <p:spPr>
          <a:xfrm>
            <a:off x="548640" y="4343400"/>
            <a:ext cx="2880360" cy="1874520"/>
          </a:xfrm>
          <a:prstGeom prst="roundRect">
            <a:avLst>
              <a:gd name="adj" fmla="val 3902"/>
            </a:avLst>
          </a:prstGeom>
          <a:solidFill>
            <a:srgbClr val="E7F1E8"/>
          </a:solidFill>
          <a:ln w="12700">
            <a:solidFill>
              <a:srgbClr val="E7F1E8"/>
            </a:solidFill>
            <a:prstDash val="solid"/>
          </a:ln>
        </p:spPr>
        <p:txBody>
          <a:bodyPr/>
          <a:lstStyle/>
          <a:p>
            <a:endParaRPr lang="en-IN"/>
          </a:p>
        </p:txBody>
      </p:sp>
      <p:sp>
        <p:nvSpPr>
          <p:cNvPr id="10" name="Shape 8"/>
          <p:cNvSpPr/>
          <p:nvPr/>
        </p:nvSpPr>
        <p:spPr>
          <a:xfrm>
            <a:off x="731520" y="4526280"/>
            <a:ext cx="365760" cy="365760"/>
          </a:xfrm>
          <a:prstGeom prst="ellipse">
            <a:avLst/>
          </a:prstGeom>
          <a:solidFill>
            <a:schemeClr val="accent3"/>
          </a:solidFill>
          <a:ln w="12700">
            <a:solidFill>
              <a:schemeClr val="accent3"/>
            </a:solidFill>
            <a:prstDash val="solid"/>
          </a:ln>
        </p:spPr>
        <p:txBody>
          <a:bodyPr/>
          <a:lstStyle/>
          <a:p>
            <a:endParaRPr lang="en-IN"/>
          </a:p>
        </p:txBody>
      </p:sp>
      <p:pic>
        <p:nvPicPr>
          <p:cNvPr id="11" name="Image 0" descr="preencoded.png"/>
          <p:cNvPicPr>
            <a:picLocks noChangeAspect="1"/>
          </p:cNvPicPr>
          <p:nvPr/>
        </p:nvPicPr>
        <p:blipFill>
          <a:blip r:embed="rId3"/>
          <a:stretch>
            <a:fillRect/>
          </a:stretch>
        </p:blipFill>
        <p:spPr>
          <a:xfrm>
            <a:off x="822960" y="4617720"/>
            <a:ext cx="182880" cy="182880"/>
          </a:xfrm>
          <a:prstGeom prst="rect">
            <a:avLst/>
          </a:prstGeom>
        </p:spPr>
      </p:pic>
      <p:sp>
        <p:nvSpPr>
          <p:cNvPr id="12" name="Text 9"/>
          <p:cNvSpPr txBox="1"/>
          <p:nvPr/>
        </p:nvSpPr>
        <p:spPr>
          <a:xfrm>
            <a:off x="1188720" y="4526280"/>
            <a:ext cx="2057400" cy="365760"/>
          </a:xfrm>
          <a:prstGeom prst="rect">
            <a:avLst/>
          </a:prstGeom>
          <a:noFill/>
          <a:ln/>
        </p:spPr>
        <p:txBody>
          <a:bodyPr wrap="square" lIns="0" tIns="0" rIns="0" bIns="0" rtlCol="0" anchor="ctr"/>
          <a:lstStyle/>
          <a:p>
            <a:pPr marL="0" indent="0">
              <a:buNone/>
            </a:pPr>
            <a:r>
              <a:rPr lang="en-US" sz="1500" b="1" dirty="0">
                <a:solidFill>
                  <a:schemeClr val="accent3"/>
                </a:solidFill>
              </a:rPr>
              <a:t>What worked</a:t>
            </a:r>
            <a:endParaRPr lang="en-US" sz="1500" dirty="0"/>
          </a:p>
        </p:txBody>
      </p:sp>
      <p:sp>
        <p:nvSpPr>
          <p:cNvPr id="13" name="Text 10"/>
          <p:cNvSpPr txBox="1"/>
          <p:nvPr/>
        </p:nvSpPr>
        <p:spPr>
          <a:xfrm>
            <a:off x="731520" y="5029200"/>
            <a:ext cx="2514600"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Rare beats are now caught much more often</a:t>
            </a:r>
            <a:endParaRPr lang="en-US" sz="1400" dirty="0"/>
          </a:p>
        </p:txBody>
      </p:sp>
      <p:sp>
        <p:nvSpPr>
          <p:cNvPr id="14" name="Shape 11"/>
          <p:cNvSpPr/>
          <p:nvPr/>
        </p:nvSpPr>
        <p:spPr>
          <a:xfrm>
            <a:off x="3611880" y="4343400"/>
            <a:ext cx="2880360" cy="1874520"/>
          </a:xfrm>
          <a:prstGeom prst="roundRect">
            <a:avLst>
              <a:gd name="adj" fmla="val 3902"/>
            </a:avLst>
          </a:prstGeom>
          <a:solidFill>
            <a:srgbClr val="FBEFE3"/>
          </a:solidFill>
          <a:ln w="12700">
            <a:solidFill>
              <a:srgbClr val="FBEFE3"/>
            </a:solidFill>
            <a:prstDash val="solid"/>
          </a:ln>
        </p:spPr>
        <p:txBody>
          <a:bodyPr/>
          <a:lstStyle/>
          <a:p>
            <a:endParaRPr lang="en-IN"/>
          </a:p>
        </p:txBody>
      </p:sp>
      <p:sp>
        <p:nvSpPr>
          <p:cNvPr id="15" name="Shape 12"/>
          <p:cNvSpPr/>
          <p:nvPr/>
        </p:nvSpPr>
        <p:spPr>
          <a:xfrm>
            <a:off x="3794760" y="4526280"/>
            <a:ext cx="365760" cy="365760"/>
          </a:xfrm>
          <a:prstGeom prst="ellipse">
            <a:avLst/>
          </a:prstGeom>
          <a:solidFill>
            <a:schemeClr val="accent4"/>
          </a:solidFill>
          <a:ln w="12700">
            <a:solidFill>
              <a:schemeClr val="accent4"/>
            </a:solidFill>
            <a:prstDash val="solid"/>
          </a:ln>
        </p:spPr>
        <p:txBody>
          <a:bodyPr/>
          <a:lstStyle/>
          <a:p>
            <a:endParaRPr lang="en-IN"/>
          </a:p>
        </p:txBody>
      </p:sp>
      <p:pic>
        <p:nvPicPr>
          <p:cNvPr id="16" name="Image 1" descr="preencoded.png"/>
          <p:cNvPicPr>
            <a:picLocks noChangeAspect="1"/>
          </p:cNvPicPr>
          <p:nvPr/>
        </p:nvPicPr>
        <p:blipFill>
          <a:blip r:embed="rId4"/>
          <a:stretch>
            <a:fillRect/>
          </a:stretch>
        </p:blipFill>
        <p:spPr>
          <a:xfrm>
            <a:off x="3886200" y="4617720"/>
            <a:ext cx="182880" cy="182880"/>
          </a:xfrm>
          <a:prstGeom prst="rect">
            <a:avLst/>
          </a:prstGeom>
        </p:spPr>
      </p:pic>
      <p:sp>
        <p:nvSpPr>
          <p:cNvPr id="17" name="Text 13"/>
          <p:cNvSpPr txBox="1"/>
          <p:nvPr/>
        </p:nvSpPr>
        <p:spPr>
          <a:xfrm>
            <a:off x="4251960" y="4526280"/>
            <a:ext cx="2057400" cy="365760"/>
          </a:xfrm>
          <a:prstGeom prst="rect">
            <a:avLst/>
          </a:prstGeom>
          <a:noFill/>
          <a:ln/>
        </p:spPr>
        <p:txBody>
          <a:bodyPr wrap="square" lIns="0" tIns="0" rIns="0" bIns="0" rtlCol="0" anchor="ctr"/>
          <a:lstStyle/>
          <a:p>
            <a:pPr marL="0" indent="0">
              <a:buNone/>
            </a:pPr>
            <a:r>
              <a:rPr lang="en-US" sz="1500" b="1" dirty="0">
                <a:solidFill>
                  <a:schemeClr val="accent4"/>
                </a:solidFill>
              </a:rPr>
              <a:t>What did not</a:t>
            </a:r>
            <a:endParaRPr lang="en-US" sz="1500" dirty="0"/>
          </a:p>
        </p:txBody>
      </p:sp>
      <p:sp>
        <p:nvSpPr>
          <p:cNvPr id="18" name="Text 14"/>
          <p:cNvSpPr txBox="1"/>
          <p:nvPr/>
        </p:nvSpPr>
        <p:spPr>
          <a:xfrm>
            <a:off x="3794760" y="5029200"/>
            <a:ext cx="2514600"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Too many false alarms: S and F precision fell to ~0.2</a:t>
            </a:r>
            <a:endParaRPr lang="en-US" sz="1400" dirty="0"/>
          </a:p>
          <a:p>
            <a:pPr marL="342900" indent="-342900">
              <a:spcAft>
                <a:spcPts val="400"/>
              </a:spcAft>
              <a:buSzPct val="100000"/>
              <a:buChar char="•"/>
            </a:pPr>
            <a:r>
              <a:rPr lang="en-US" sz="1400" dirty="0">
                <a:solidFill>
                  <a:schemeClr val="tx1"/>
                </a:solidFill>
              </a:rPr>
              <a:t>Weights were too strong (F = 27x)</a:t>
            </a:r>
            <a:endParaRPr lang="en-US" sz="1400" dirty="0"/>
          </a:p>
        </p:txBody>
      </p:sp>
      <p:sp>
        <p:nvSpPr>
          <p:cNvPr id="19" name="Shape 15"/>
          <p:cNvSpPr/>
          <p:nvPr/>
        </p:nvSpPr>
        <p:spPr>
          <a:xfrm>
            <a:off x="6858000" y="1325880"/>
            <a:ext cx="2331720" cy="868680"/>
          </a:xfrm>
          <a:prstGeom prst="roundRect">
            <a:avLst>
              <a:gd name="adj" fmla="val 8421"/>
            </a:avLst>
          </a:prstGeom>
          <a:solidFill>
            <a:schemeClr val="bg2"/>
          </a:solidFill>
          <a:ln w="12700">
            <a:solidFill>
              <a:schemeClr val="bg2"/>
            </a:solidFill>
            <a:prstDash val="solid"/>
          </a:ln>
        </p:spPr>
        <p:txBody>
          <a:bodyPr/>
          <a:lstStyle/>
          <a:p>
            <a:endParaRPr lang="en-IN"/>
          </a:p>
        </p:txBody>
      </p:sp>
      <p:sp>
        <p:nvSpPr>
          <p:cNvPr id="20" name="Text 16"/>
          <p:cNvSpPr txBox="1"/>
          <p:nvPr/>
        </p:nvSpPr>
        <p:spPr>
          <a:xfrm>
            <a:off x="7040880" y="1417320"/>
            <a:ext cx="1965960" cy="477774"/>
          </a:xfrm>
          <a:prstGeom prst="rect">
            <a:avLst/>
          </a:prstGeom>
          <a:noFill/>
          <a:ln/>
        </p:spPr>
        <p:txBody>
          <a:bodyPr wrap="square" lIns="0" tIns="0" rIns="0" bIns="0" rtlCol="0" anchor="ctr"/>
          <a:lstStyle/>
          <a:p>
            <a:pPr marL="0" indent="0">
              <a:buNone/>
            </a:pPr>
            <a:r>
              <a:rPr lang="en-US" sz="2800" b="1" dirty="0">
                <a:solidFill>
                  <a:schemeClr val="tx2"/>
                </a:solidFill>
              </a:rPr>
              <a:t>87.2%</a:t>
            </a:r>
            <a:endParaRPr lang="en-US" sz="2800" dirty="0"/>
          </a:p>
        </p:txBody>
      </p:sp>
      <p:sp>
        <p:nvSpPr>
          <p:cNvPr id="21" name="Text 17"/>
          <p:cNvSpPr txBox="1"/>
          <p:nvPr/>
        </p:nvSpPr>
        <p:spPr>
          <a:xfrm>
            <a:off x="7040880" y="1864462"/>
            <a:ext cx="1282446" cy="260604"/>
          </a:xfrm>
          <a:prstGeom prst="rect">
            <a:avLst/>
          </a:prstGeom>
          <a:noFill/>
          <a:ln/>
        </p:spPr>
        <p:txBody>
          <a:bodyPr wrap="square" lIns="0" tIns="0" rIns="0" bIns="0" rtlCol="0" anchor="ctr"/>
          <a:lstStyle/>
          <a:p>
            <a:pPr marL="0" indent="0">
              <a:buNone/>
            </a:pPr>
            <a:r>
              <a:rPr lang="en-US" sz="1200" dirty="0">
                <a:solidFill>
                  <a:schemeClr val="accent5"/>
                </a:solidFill>
              </a:rPr>
              <a:t>Accuracy</a:t>
            </a:r>
            <a:endParaRPr lang="en-US" sz="1200" dirty="0"/>
          </a:p>
        </p:txBody>
      </p:sp>
      <p:sp>
        <p:nvSpPr>
          <p:cNvPr id="22" name="Text 18"/>
          <p:cNvSpPr txBox="1"/>
          <p:nvPr/>
        </p:nvSpPr>
        <p:spPr>
          <a:xfrm>
            <a:off x="8023860" y="1864462"/>
            <a:ext cx="982980" cy="260604"/>
          </a:xfrm>
          <a:prstGeom prst="rect">
            <a:avLst/>
          </a:prstGeom>
          <a:noFill/>
          <a:ln/>
        </p:spPr>
        <p:txBody>
          <a:bodyPr wrap="square" lIns="0" tIns="0" rIns="0" bIns="0" rtlCol="0" anchor="ctr"/>
          <a:lstStyle/>
          <a:p>
            <a:pPr marL="0" indent="0" algn="r">
              <a:buNone/>
            </a:pPr>
            <a:r>
              <a:rPr lang="en-US" sz="1200" b="1" dirty="0">
                <a:solidFill>
                  <a:schemeClr val="accent4"/>
                </a:solidFill>
              </a:rPr>
              <a:t>▼ from 95.9%</a:t>
            </a:r>
            <a:endParaRPr lang="en-US" sz="1200" dirty="0"/>
          </a:p>
        </p:txBody>
      </p:sp>
      <p:sp>
        <p:nvSpPr>
          <p:cNvPr id="23" name="Shape 19"/>
          <p:cNvSpPr/>
          <p:nvPr/>
        </p:nvSpPr>
        <p:spPr>
          <a:xfrm>
            <a:off x="9326880" y="1325880"/>
            <a:ext cx="2331720" cy="868680"/>
          </a:xfrm>
          <a:prstGeom prst="roundRect">
            <a:avLst>
              <a:gd name="adj" fmla="val 8421"/>
            </a:avLst>
          </a:prstGeom>
          <a:solidFill>
            <a:schemeClr val="bg2"/>
          </a:solidFill>
          <a:ln w="12700">
            <a:solidFill>
              <a:schemeClr val="bg2"/>
            </a:solidFill>
            <a:prstDash val="solid"/>
          </a:ln>
        </p:spPr>
        <p:txBody>
          <a:bodyPr/>
          <a:lstStyle/>
          <a:p>
            <a:endParaRPr lang="en-IN"/>
          </a:p>
        </p:txBody>
      </p:sp>
      <p:sp>
        <p:nvSpPr>
          <p:cNvPr id="24" name="Text 20"/>
          <p:cNvSpPr txBox="1"/>
          <p:nvPr/>
        </p:nvSpPr>
        <p:spPr>
          <a:xfrm>
            <a:off x="9509760" y="1417320"/>
            <a:ext cx="1965960" cy="477774"/>
          </a:xfrm>
          <a:prstGeom prst="rect">
            <a:avLst/>
          </a:prstGeom>
          <a:noFill/>
          <a:ln/>
        </p:spPr>
        <p:txBody>
          <a:bodyPr wrap="square" lIns="0" tIns="0" rIns="0" bIns="0" rtlCol="0" anchor="ctr"/>
          <a:lstStyle/>
          <a:p>
            <a:pPr marL="0" indent="0">
              <a:buNone/>
            </a:pPr>
            <a:r>
              <a:rPr lang="en-US" sz="2800" b="1" dirty="0">
                <a:solidFill>
                  <a:schemeClr val="tx2"/>
                </a:solidFill>
              </a:rPr>
              <a:t>0.661</a:t>
            </a:r>
            <a:endParaRPr lang="en-US" sz="2800" dirty="0"/>
          </a:p>
        </p:txBody>
      </p:sp>
      <p:sp>
        <p:nvSpPr>
          <p:cNvPr id="25" name="Text 21"/>
          <p:cNvSpPr txBox="1"/>
          <p:nvPr/>
        </p:nvSpPr>
        <p:spPr>
          <a:xfrm>
            <a:off x="9509760" y="1864462"/>
            <a:ext cx="1282446" cy="260604"/>
          </a:xfrm>
          <a:prstGeom prst="rect">
            <a:avLst/>
          </a:prstGeom>
          <a:noFill/>
          <a:ln/>
        </p:spPr>
        <p:txBody>
          <a:bodyPr wrap="square" lIns="0" tIns="0" rIns="0" bIns="0" rtlCol="0" anchor="ctr"/>
          <a:lstStyle/>
          <a:p>
            <a:pPr marL="0" indent="0">
              <a:buNone/>
            </a:pPr>
            <a:r>
              <a:rPr lang="en-US" sz="1200" dirty="0">
                <a:solidFill>
                  <a:schemeClr val="accent5"/>
                </a:solidFill>
              </a:rPr>
              <a:t>Macro F1</a:t>
            </a:r>
            <a:endParaRPr lang="en-US" sz="1200" dirty="0"/>
          </a:p>
        </p:txBody>
      </p:sp>
      <p:sp>
        <p:nvSpPr>
          <p:cNvPr id="26" name="Text 22"/>
          <p:cNvSpPr txBox="1"/>
          <p:nvPr/>
        </p:nvSpPr>
        <p:spPr>
          <a:xfrm>
            <a:off x="10492740" y="1864462"/>
            <a:ext cx="982980" cy="260604"/>
          </a:xfrm>
          <a:prstGeom prst="rect">
            <a:avLst/>
          </a:prstGeom>
          <a:noFill/>
          <a:ln/>
        </p:spPr>
        <p:txBody>
          <a:bodyPr wrap="square" lIns="0" tIns="0" rIns="0" bIns="0" rtlCol="0" anchor="ctr"/>
          <a:lstStyle/>
          <a:p>
            <a:pPr marL="0" indent="0" algn="r">
              <a:buNone/>
            </a:pPr>
            <a:r>
              <a:rPr lang="en-US" sz="1200" b="1" dirty="0">
                <a:solidFill>
                  <a:schemeClr val="accent4"/>
                </a:solidFill>
              </a:rPr>
              <a:t>▼ from 0.776</a:t>
            </a:r>
            <a:endParaRPr lang="en-US" sz="1200" dirty="0"/>
          </a:p>
        </p:txBody>
      </p:sp>
      <p:sp>
        <p:nvSpPr>
          <p:cNvPr id="27" name="Shape 23"/>
          <p:cNvSpPr/>
          <p:nvPr/>
        </p:nvSpPr>
        <p:spPr>
          <a:xfrm>
            <a:off x="6858000" y="2331720"/>
            <a:ext cx="2331720" cy="868680"/>
          </a:xfrm>
          <a:prstGeom prst="roundRect">
            <a:avLst>
              <a:gd name="adj" fmla="val 8421"/>
            </a:avLst>
          </a:prstGeom>
          <a:solidFill>
            <a:schemeClr val="bg2"/>
          </a:solidFill>
          <a:ln w="12700">
            <a:solidFill>
              <a:schemeClr val="bg2"/>
            </a:solidFill>
            <a:prstDash val="solid"/>
          </a:ln>
        </p:spPr>
        <p:txBody>
          <a:bodyPr/>
          <a:lstStyle/>
          <a:p>
            <a:endParaRPr lang="en-IN"/>
          </a:p>
        </p:txBody>
      </p:sp>
      <p:sp>
        <p:nvSpPr>
          <p:cNvPr id="28" name="Text 24"/>
          <p:cNvSpPr txBox="1"/>
          <p:nvPr/>
        </p:nvSpPr>
        <p:spPr>
          <a:xfrm>
            <a:off x="7040880" y="2423160"/>
            <a:ext cx="1965960" cy="477774"/>
          </a:xfrm>
          <a:prstGeom prst="rect">
            <a:avLst/>
          </a:prstGeom>
          <a:noFill/>
          <a:ln/>
        </p:spPr>
        <p:txBody>
          <a:bodyPr wrap="square" lIns="0" tIns="0" rIns="0" bIns="0" rtlCol="0" anchor="ctr"/>
          <a:lstStyle/>
          <a:p>
            <a:pPr marL="0" indent="0">
              <a:buNone/>
            </a:pPr>
            <a:r>
              <a:rPr lang="en-US" sz="2800" b="1" dirty="0">
                <a:solidFill>
                  <a:schemeClr val="tx2"/>
                </a:solidFill>
              </a:rPr>
              <a:t>0.73</a:t>
            </a:r>
            <a:endParaRPr lang="en-US" sz="2800" dirty="0"/>
          </a:p>
        </p:txBody>
      </p:sp>
      <p:sp>
        <p:nvSpPr>
          <p:cNvPr id="29" name="Text 25"/>
          <p:cNvSpPr txBox="1"/>
          <p:nvPr/>
        </p:nvSpPr>
        <p:spPr>
          <a:xfrm>
            <a:off x="7040880" y="2870302"/>
            <a:ext cx="1282446" cy="260604"/>
          </a:xfrm>
          <a:prstGeom prst="rect">
            <a:avLst/>
          </a:prstGeom>
          <a:noFill/>
          <a:ln/>
        </p:spPr>
        <p:txBody>
          <a:bodyPr wrap="square" lIns="0" tIns="0" rIns="0" bIns="0" rtlCol="0" anchor="ctr"/>
          <a:lstStyle/>
          <a:p>
            <a:pPr marL="0" indent="0">
              <a:buNone/>
            </a:pPr>
            <a:r>
              <a:rPr lang="en-US" sz="1200" dirty="0">
                <a:solidFill>
                  <a:schemeClr val="accent5"/>
                </a:solidFill>
              </a:rPr>
              <a:t>Recall S</a:t>
            </a:r>
            <a:endParaRPr lang="en-US" sz="1200" dirty="0"/>
          </a:p>
        </p:txBody>
      </p:sp>
      <p:sp>
        <p:nvSpPr>
          <p:cNvPr id="30" name="Text 26"/>
          <p:cNvSpPr txBox="1"/>
          <p:nvPr/>
        </p:nvSpPr>
        <p:spPr>
          <a:xfrm>
            <a:off x="8023860" y="2870302"/>
            <a:ext cx="982980" cy="260604"/>
          </a:xfrm>
          <a:prstGeom prst="rect">
            <a:avLst/>
          </a:prstGeom>
          <a:noFill/>
          <a:ln/>
        </p:spPr>
        <p:txBody>
          <a:bodyPr wrap="square" lIns="0" tIns="0" rIns="0" bIns="0" rtlCol="0" anchor="ctr"/>
          <a:lstStyle/>
          <a:p>
            <a:pPr marL="0" indent="0" algn="r">
              <a:buNone/>
            </a:pPr>
            <a:r>
              <a:rPr lang="en-US" sz="1200" b="1" dirty="0">
                <a:solidFill>
                  <a:schemeClr val="accent3"/>
                </a:solidFill>
              </a:rPr>
              <a:t>▲ from 0.44</a:t>
            </a:r>
            <a:endParaRPr lang="en-US" sz="1200" dirty="0"/>
          </a:p>
        </p:txBody>
      </p:sp>
      <p:sp>
        <p:nvSpPr>
          <p:cNvPr id="31" name="Shape 27"/>
          <p:cNvSpPr/>
          <p:nvPr/>
        </p:nvSpPr>
        <p:spPr>
          <a:xfrm>
            <a:off x="9326880" y="2331720"/>
            <a:ext cx="2331720" cy="868680"/>
          </a:xfrm>
          <a:prstGeom prst="roundRect">
            <a:avLst>
              <a:gd name="adj" fmla="val 8421"/>
            </a:avLst>
          </a:prstGeom>
          <a:solidFill>
            <a:schemeClr val="bg2"/>
          </a:solidFill>
          <a:ln w="12700">
            <a:solidFill>
              <a:schemeClr val="bg2"/>
            </a:solidFill>
            <a:prstDash val="solid"/>
          </a:ln>
        </p:spPr>
        <p:txBody>
          <a:bodyPr/>
          <a:lstStyle/>
          <a:p>
            <a:endParaRPr lang="en-IN"/>
          </a:p>
        </p:txBody>
      </p:sp>
      <p:sp>
        <p:nvSpPr>
          <p:cNvPr id="32" name="Text 28"/>
          <p:cNvSpPr txBox="1"/>
          <p:nvPr/>
        </p:nvSpPr>
        <p:spPr>
          <a:xfrm>
            <a:off x="9509760" y="2423160"/>
            <a:ext cx="1965960" cy="477774"/>
          </a:xfrm>
          <a:prstGeom prst="rect">
            <a:avLst/>
          </a:prstGeom>
          <a:noFill/>
          <a:ln/>
        </p:spPr>
        <p:txBody>
          <a:bodyPr wrap="square" lIns="0" tIns="0" rIns="0" bIns="0" rtlCol="0" anchor="ctr"/>
          <a:lstStyle/>
          <a:p>
            <a:pPr marL="0" indent="0">
              <a:buNone/>
            </a:pPr>
            <a:r>
              <a:rPr lang="en-US" sz="2800" b="1" dirty="0">
                <a:solidFill>
                  <a:schemeClr val="tx2"/>
                </a:solidFill>
              </a:rPr>
              <a:t>0.84</a:t>
            </a:r>
            <a:endParaRPr lang="en-US" sz="2800" dirty="0"/>
          </a:p>
        </p:txBody>
      </p:sp>
      <p:sp>
        <p:nvSpPr>
          <p:cNvPr id="33" name="Text 29"/>
          <p:cNvSpPr txBox="1"/>
          <p:nvPr/>
        </p:nvSpPr>
        <p:spPr>
          <a:xfrm>
            <a:off x="9509760" y="2870302"/>
            <a:ext cx="1282446" cy="260604"/>
          </a:xfrm>
          <a:prstGeom prst="rect">
            <a:avLst/>
          </a:prstGeom>
          <a:noFill/>
          <a:ln/>
        </p:spPr>
        <p:txBody>
          <a:bodyPr wrap="square" lIns="0" tIns="0" rIns="0" bIns="0" rtlCol="0" anchor="ctr"/>
          <a:lstStyle/>
          <a:p>
            <a:pPr marL="0" indent="0">
              <a:buNone/>
            </a:pPr>
            <a:r>
              <a:rPr lang="en-US" sz="1200" dirty="0">
                <a:solidFill>
                  <a:schemeClr val="accent5"/>
                </a:solidFill>
              </a:rPr>
              <a:t>Recall F</a:t>
            </a:r>
            <a:endParaRPr lang="en-US" sz="1200" dirty="0"/>
          </a:p>
        </p:txBody>
      </p:sp>
      <p:sp>
        <p:nvSpPr>
          <p:cNvPr id="34" name="Text 30"/>
          <p:cNvSpPr txBox="1"/>
          <p:nvPr/>
        </p:nvSpPr>
        <p:spPr>
          <a:xfrm>
            <a:off x="10492740" y="2870302"/>
            <a:ext cx="982980" cy="260604"/>
          </a:xfrm>
          <a:prstGeom prst="rect">
            <a:avLst/>
          </a:prstGeom>
          <a:noFill/>
          <a:ln/>
        </p:spPr>
        <p:txBody>
          <a:bodyPr wrap="square" lIns="0" tIns="0" rIns="0" bIns="0" rtlCol="0" anchor="ctr"/>
          <a:lstStyle/>
          <a:p>
            <a:pPr marL="0" indent="0" algn="r">
              <a:buNone/>
            </a:pPr>
            <a:r>
              <a:rPr lang="en-US" sz="1200" b="1" dirty="0">
                <a:solidFill>
                  <a:schemeClr val="accent3"/>
                </a:solidFill>
              </a:rPr>
              <a:t>▲ from 0.39</a:t>
            </a:r>
            <a:endParaRPr lang="en-US" sz="1200" dirty="0"/>
          </a:p>
        </p:txBody>
      </p:sp>
      <p:graphicFrame>
        <p:nvGraphicFramePr>
          <p:cNvPr id="35" name="Chart 0"/>
          <p:cNvGraphicFramePr/>
          <p:nvPr/>
        </p:nvGraphicFramePr>
        <p:xfrm>
          <a:off x="6858000" y="3474720"/>
          <a:ext cx="4800600" cy="2743200"/>
        </p:xfrm>
        <a:graphic>
          <a:graphicData uri="http://schemas.openxmlformats.org/drawingml/2006/chart">
            <c:chart xmlns:c="http://schemas.openxmlformats.org/drawingml/2006/chart" xmlns:r="http://schemas.openxmlformats.org/officeDocument/2006/relationships" r:id="rId5"/>
          </a:graphicData>
        </a:graphic>
      </p:graphicFrame>
      <p:sp>
        <p:nvSpPr>
          <p:cNvPr id="3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C7A89"/>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rgbClr val="12263A"/>
                </a:solidFill>
              </a:rPr>
              <a:t>Step 3: CNN + BiLSTM + Attention</a:t>
            </a:r>
            <a:endParaRPr lang="en-US" sz="3200" dirty="0"/>
          </a:p>
        </p:txBody>
      </p:sp>
      <p:sp>
        <p:nvSpPr>
          <p:cNvPr id="3" name="Text 1"/>
          <p:cNvSpPr txBox="1"/>
          <p:nvPr/>
        </p:nvSpPr>
        <p:spPr>
          <a:xfrm>
            <a:off x="548640" y="1325880"/>
            <a:ext cx="5943600" cy="274320"/>
          </a:xfrm>
          <a:prstGeom prst="rect">
            <a:avLst/>
          </a:prstGeom>
          <a:noFill/>
          <a:ln/>
        </p:spPr>
        <p:txBody>
          <a:bodyPr wrap="square" lIns="0" tIns="0" rIns="0" bIns="0" rtlCol="0" anchor="t"/>
          <a:lstStyle/>
          <a:p>
            <a:pPr marL="0" indent="0">
              <a:buNone/>
            </a:pPr>
            <a:r>
              <a:rPr lang="en-US" sz="1500" b="1" dirty="0">
                <a:solidFill>
                  <a:schemeClr val="accent1"/>
                </a:solidFill>
              </a:rPr>
              <a:t>Why this step?</a:t>
            </a:r>
            <a:endParaRPr lang="en-US" sz="1500" dirty="0"/>
          </a:p>
        </p:txBody>
      </p:sp>
      <p:sp>
        <p:nvSpPr>
          <p:cNvPr id="4" name="Text 2"/>
          <p:cNvSpPr txBox="1"/>
          <p:nvPr/>
        </p:nvSpPr>
        <p:spPr>
          <a:xfrm>
            <a:off x="548640" y="1618488"/>
            <a:ext cx="5943600" cy="658368"/>
          </a:xfrm>
          <a:prstGeom prst="rect">
            <a:avLst/>
          </a:prstGeom>
          <a:noFill/>
          <a:ln/>
        </p:spPr>
        <p:txBody>
          <a:bodyPr wrap="square" lIns="0" tIns="0" rIns="0" bIns="0" rtlCol="0" anchor="t"/>
          <a:lstStyle/>
          <a:p>
            <a:pPr marL="0" indent="0">
              <a:buNone/>
            </a:pPr>
            <a:r>
              <a:rPr lang="en-US" sz="1400" dirty="0">
                <a:solidFill>
                  <a:schemeClr val="tx1"/>
                </a:solidFill>
              </a:rPr>
              <a:t>Weights cannot help if the model cannot tell the classes apart. The small CNN sees shapes, but not timing.</a:t>
            </a:r>
            <a:endParaRPr lang="en-US" sz="1400" dirty="0"/>
          </a:p>
        </p:txBody>
      </p:sp>
      <p:sp>
        <p:nvSpPr>
          <p:cNvPr id="5" name="Text 3"/>
          <p:cNvSpPr txBox="1"/>
          <p:nvPr/>
        </p:nvSpPr>
        <p:spPr>
          <a:xfrm>
            <a:off x="548640" y="2313432"/>
            <a:ext cx="5943600" cy="274320"/>
          </a:xfrm>
          <a:prstGeom prst="rect">
            <a:avLst/>
          </a:prstGeom>
          <a:noFill/>
          <a:ln/>
        </p:spPr>
        <p:txBody>
          <a:bodyPr wrap="square" lIns="0" tIns="0" rIns="0" bIns="0" rtlCol="0" anchor="t"/>
          <a:lstStyle/>
          <a:p>
            <a:pPr marL="0" indent="0">
              <a:buNone/>
            </a:pPr>
            <a:r>
              <a:rPr lang="en-US" sz="1500" b="1" dirty="0">
                <a:solidFill>
                  <a:schemeClr val="accent1"/>
                </a:solidFill>
              </a:rPr>
              <a:t>What we changed</a:t>
            </a:r>
            <a:endParaRPr lang="en-US" sz="1500" dirty="0"/>
          </a:p>
        </p:txBody>
      </p:sp>
      <p:sp>
        <p:nvSpPr>
          <p:cNvPr id="6" name="Text 4"/>
          <p:cNvSpPr txBox="1"/>
          <p:nvPr/>
        </p:nvSpPr>
        <p:spPr>
          <a:xfrm>
            <a:off x="548640" y="2606040"/>
            <a:ext cx="5943600" cy="658368"/>
          </a:xfrm>
          <a:prstGeom prst="rect">
            <a:avLst/>
          </a:prstGeom>
          <a:noFill/>
          <a:ln/>
        </p:spPr>
        <p:txBody>
          <a:bodyPr wrap="square" lIns="0" tIns="0" rIns="0" bIns="0" rtlCol="0" anchor="t"/>
          <a:lstStyle/>
          <a:p>
            <a:pPr marL="0" indent="0">
              <a:buNone/>
            </a:pPr>
            <a:r>
              <a:rPr lang="en-US" sz="1400" dirty="0">
                <a:solidFill>
                  <a:schemeClr val="tx1"/>
                </a:solidFill>
              </a:rPr>
              <a:t>Only the architecture (no class weights): CNN for shapes, BiLSTM to read the beat in order, attention to focus.</a:t>
            </a:r>
            <a:endParaRPr lang="en-US" sz="1400" dirty="0"/>
          </a:p>
        </p:txBody>
      </p:sp>
      <p:sp>
        <p:nvSpPr>
          <p:cNvPr id="7" name="Text 5"/>
          <p:cNvSpPr txBox="1"/>
          <p:nvPr/>
        </p:nvSpPr>
        <p:spPr>
          <a:xfrm>
            <a:off x="548640" y="3300984"/>
            <a:ext cx="5943600" cy="274320"/>
          </a:xfrm>
          <a:prstGeom prst="rect">
            <a:avLst/>
          </a:prstGeom>
          <a:noFill/>
          <a:ln/>
        </p:spPr>
        <p:txBody>
          <a:bodyPr wrap="square" lIns="0" tIns="0" rIns="0" bIns="0" rtlCol="0" anchor="t"/>
          <a:lstStyle/>
          <a:p>
            <a:pPr marL="0" indent="0">
              <a:buNone/>
            </a:pPr>
            <a:r>
              <a:rPr lang="en-US" sz="1500" b="1" dirty="0">
                <a:solidFill>
                  <a:schemeClr val="accent1"/>
                </a:solidFill>
              </a:rPr>
              <a:t>Intuition</a:t>
            </a:r>
            <a:endParaRPr lang="en-US" sz="1500" dirty="0"/>
          </a:p>
        </p:txBody>
      </p:sp>
      <p:sp>
        <p:nvSpPr>
          <p:cNvPr id="8" name="Text 6"/>
          <p:cNvSpPr txBox="1"/>
          <p:nvPr/>
        </p:nvSpPr>
        <p:spPr>
          <a:xfrm>
            <a:off x="548640" y="3593592"/>
            <a:ext cx="5943600" cy="658368"/>
          </a:xfrm>
          <a:prstGeom prst="rect">
            <a:avLst/>
          </a:prstGeom>
          <a:noFill/>
          <a:ln/>
        </p:spPr>
        <p:txBody>
          <a:bodyPr wrap="square" lIns="0" tIns="0" rIns="0" bIns="0" rtlCol="0" anchor="t"/>
          <a:lstStyle/>
          <a:p>
            <a:pPr marL="0" indent="0">
              <a:buNone/>
            </a:pPr>
            <a:r>
              <a:rPr lang="en-US" sz="1400" dirty="0">
                <a:solidFill>
                  <a:schemeClr val="tx1"/>
                </a:solidFill>
              </a:rPr>
              <a:t>Each beat starts at an R-peak; the next spike is the next beat. A premature (S) beat arrives early. A BiLSTM can measure that gap.</a:t>
            </a:r>
            <a:endParaRPr lang="en-US" sz="1400" dirty="0"/>
          </a:p>
        </p:txBody>
      </p:sp>
      <p:sp>
        <p:nvSpPr>
          <p:cNvPr id="9" name="Shape 7"/>
          <p:cNvSpPr/>
          <p:nvPr/>
        </p:nvSpPr>
        <p:spPr>
          <a:xfrm>
            <a:off x="548640" y="4343400"/>
            <a:ext cx="2880360" cy="1874520"/>
          </a:xfrm>
          <a:prstGeom prst="roundRect">
            <a:avLst>
              <a:gd name="adj" fmla="val 3902"/>
            </a:avLst>
          </a:prstGeom>
          <a:solidFill>
            <a:srgbClr val="E7F1E8"/>
          </a:solidFill>
          <a:ln w="12700">
            <a:solidFill>
              <a:srgbClr val="E7F1E8"/>
            </a:solidFill>
            <a:prstDash val="solid"/>
          </a:ln>
        </p:spPr>
        <p:txBody>
          <a:bodyPr/>
          <a:lstStyle/>
          <a:p>
            <a:endParaRPr lang="en-IN"/>
          </a:p>
        </p:txBody>
      </p:sp>
      <p:sp>
        <p:nvSpPr>
          <p:cNvPr id="10" name="Shape 8"/>
          <p:cNvSpPr/>
          <p:nvPr/>
        </p:nvSpPr>
        <p:spPr>
          <a:xfrm>
            <a:off x="731520" y="4526280"/>
            <a:ext cx="365760" cy="365760"/>
          </a:xfrm>
          <a:prstGeom prst="ellipse">
            <a:avLst/>
          </a:prstGeom>
          <a:solidFill>
            <a:schemeClr val="accent3"/>
          </a:solidFill>
          <a:ln w="12700">
            <a:solidFill>
              <a:schemeClr val="accent3"/>
            </a:solidFill>
            <a:prstDash val="solid"/>
          </a:ln>
        </p:spPr>
        <p:txBody>
          <a:bodyPr/>
          <a:lstStyle/>
          <a:p>
            <a:endParaRPr lang="en-IN"/>
          </a:p>
        </p:txBody>
      </p:sp>
      <p:pic>
        <p:nvPicPr>
          <p:cNvPr id="11" name="Image 0" descr="preencoded.png"/>
          <p:cNvPicPr>
            <a:picLocks noChangeAspect="1"/>
          </p:cNvPicPr>
          <p:nvPr/>
        </p:nvPicPr>
        <p:blipFill>
          <a:blip r:embed="rId3"/>
          <a:stretch>
            <a:fillRect/>
          </a:stretch>
        </p:blipFill>
        <p:spPr>
          <a:xfrm>
            <a:off x="822960" y="4617720"/>
            <a:ext cx="182880" cy="182880"/>
          </a:xfrm>
          <a:prstGeom prst="rect">
            <a:avLst/>
          </a:prstGeom>
        </p:spPr>
      </p:pic>
      <p:sp>
        <p:nvSpPr>
          <p:cNvPr id="12" name="Text 9"/>
          <p:cNvSpPr txBox="1"/>
          <p:nvPr/>
        </p:nvSpPr>
        <p:spPr>
          <a:xfrm>
            <a:off x="1188720" y="4526280"/>
            <a:ext cx="2057400" cy="365760"/>
          </a:xfrm>
          <a:prstGeom prst="rect">
            <a:avLst/>
          </a:prstGeom>
          <a:noFill/>
          <a:ln/>
        </p:spPr>
        <p:txBody>
          <a:bodyPr wrap="square" lIns="0" tIns="0" rIns="0" bIns="0" rtlCol="0" anchor="ctr"/>
          <a:lstStyle/>
          <a:p>
            <a:pPr marL="0" indent="0">
              <a:buNone/>
            </a:pPr>
            <a:r>
              <a:rPr lang="en-US" sz="1500" b="1" dirty="0">
                <a:solidFill>
                  <a:schemeClr val="accent3"/>
                </a:solidFill>
              </a:rPr>
              <a:t>What worked</a:t>
            </a:r>
            <a:endParaRPr lang="en-US" sz="1500" dirty="0"/>
          </a:p>
        </p:txBody>
      </p:sp>
      <p:sp>
        <p:nvSpPr>
          <p:cNvPr id="13" name="Text 10"/>
          <p:cNvSpPr txBox="1"/>
          <p:nvPr/>
        </p:nvSpPr>
        <p:spPr>
          <a:xfrm>
            <a:off x="731520" y="5029200"/>
            <a:ext cx="2514600"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Biggest jump in macro F1</a:t>
            </a:r>
            <a:endParaRPr lang="en-US" sz="1400" dirty="0"/>
          </a:p>
          <a:p>
            <a:pPr marL="342900" indent="-342900">
              <a:spcAft>
                <a:spcPts val="400"/>
              </a:spcAft>
              <a:buSzPct val="100000"/>
              <a:buChar char="•"/>
            </a:pPr>
            <a:r>
              <a:rPr lang="en-US" sz="1400" dirty="0">
                <a:solidFill>
                  <a:schemeClr val="tx1"/>
                </a:solidFill>
              </a:rPr>
              <a:t>High precision (S 0.90, F 0.83): real improvement</a:t>
            </a:r>
            <a:endParaRPr lang="en-US" sz="1400" dirty="0"/>
          </a:p>
        </p:txBody>
      </p:sp>
      <p:sp>
        <p:nvSpPr>
          <p:cNvPr id="14" name="Shape 11"/>
          <p:cNvSpPr/>
          <p:nvPr/>
        </p:nvSpPr>
        <p:spPr>
          <a:xfrm>
            <a:off x="3611880" y="4343400"/>
            <a:ext cx="2880360" cy="1874520"/>
          </a:xfrm>
          <a:prstGeom prst="roundRect">
            <a:avLst>
              <a:gd name="adj" fmla="val 3902"/>
            </a:avLst>
          </a:prstGeom>
          <a:solidFill>
            <a:srgbClr val="FBEFE3"/>
          </a:solidFill>
          <a:ln w="12700">
            <a:solidFill>
              <a:srgbClr val="FBEFE3"/>
            </a:solidFill>
            <a:prstDash val="solid"/>
          </a:ln>
        </p:spPr>
        <p:txBody>
          <a:bodyPr/>
          <a:lstStyle/>
          <a:p>
            <a:endParaRPr lang="en-IN"/>
          </a:p>
        </p:txBody>
      </p:sp>
      <p:sp>
        <p:nvSpPr>
          <p:cNvPr id="15" name="Shape 12"/>
          <p:cNvSpPr/>
          <p:nvPr/>
        </p:nvSpPr>
        <p:spPr>
          <a:xfrm>
            <a:off x="3794760" y="4526280"/>
            <a:ext cx="365760" cy="365760"/>
          </a:xfrm>
          <a:prstGeom prst="ellipse">
            <a:avLst/>
          </a:prstGeom>
          <a:solidFill>
            <a:schemeClr val="accent4"/>
          </a:solidFill>
          <a:ln w="12700">
            <a:solidFill>
              <a:schemeClr val="accent4"/>
            </a:solidFill>
            <a:prstDash val="solid"/>
          </a:ln>
        </p:spPr>
        <p:txBody>
          <a:bodyPr/>
          <a:lstStyle/>
          <a:p>
            <a:endParaRPr lang="en-IN"/>
          </a:p>
        </p:txBody>
      </p:sp>
      <p:pic>
        <p:nvPicPr>
          <p:cNvPr id="16" name="Image 1" descr="preencoded.png"/>
          <p:cNvPicPr>
            <a:picLocks noChangeAspect="1"/>
          </p:cNvPicPr>
          <p:nvPr/>
        </p:nvPicPr>
        <p:blipFill>
          <a:blip r:embed="rId4"/>
          <a:stretch>
            <a:fillRect/>
          </a:stretch>
        </p:blipFill>
        <p:spPr>
          <a:xfrm>
            <a:off x="3886200" y="4617720"/>
            <a:ext cx="182880" cy="182880"/>
          </a:xfrm>
          <a:prstGeom prst="rect">
            <a:avLst/>
          </a:prstGeom>
        </p:spPr>
      </p:pic>
      <p:sp>
        <p:nvSpPr>
          <p:cNvPr id="17" name="Text 13"/>
          <p:cNvSpPr txBox="1"/>
          <p:nvPr/>
        </p:nvSpPr>
        <p:spPr>
          <a:xfrm>
            <a:off x="4251960" y="4526280"/>
            <a:ext cx="2057400" cy="365760"/>
          </a:xfrm>
          <a:prstGeom prst="rect">
            <a:avLst/>
          </a:prstGeom>
          <a:noFill/>
          <a:ln/>
        </p:spPr>
        <p:txBody>
          <a:bodyPr wrap="square" lIns="0" tIns="0" rIns="0" bIns="0" rtlCol="0" anchor="ctr"/>
          <a:lstStyle/>
          <a:p>
            <a:pPr marL="0" indent="0">
              <a:buNone/>
            </a:pPr>
            <a:r>
              <a:rPr lang="en-US" sz="1500" b="1" dirty="0">
                <a:solidFill>
                  <a:schemeClr val="accent4"/>
                </a:solidFill>
              </a:rPr>
              <a:t>What did not</a:t>
            </a:r>
            <a:endParaRPr lang="en-US" sz="1500" dirty="0"/>
          </a:p>
        </p:txBody>
      </p:sp>
      <p:sp>
        <p:nvSpPr>
          <p:cNvPr id="18" name="Text 14"/>
          <p:cNvSpPr txBox="1"/>
          <p:nvPr/>
        </p:nvSpPr>
        <p:spPr>
          <a:xfrm>
            <a:off x="3794760" y="5029200"/>
            <a:ext cx="2514600"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S and F recall still the lowest</a:t>
            </a:r>
            <a:endParaRPr lang="en-US" sz="1400" dirty="0"/>
          </a:p>
          <a:p>
            <a:pPr marL="342900" indent="-342900">
              <a:spcAft>
                <a:spcPts val="400"/>
              </a:spcAft>
              <a:buSzPct val="100000"/>
              <a:buChar char="•"/>
            </a:pPr>
            <a:r>
              <a:rPr lang="en-US" sz="1400" dirty="0">
                <a:solidFill>
                  <a:schemeClr val="tx1"/>
                </a:solidFill>
              </a:rPr>
              <a:t>5x more parameters than Step 1</a:t>
            </a:r>
            <a:endParaRPr lang="en-US" sz="1400" dirty="0"/>
          </a:p>
        </p:txBody>
      </p:sp>
      <p:sp>
        <p:nvSpPr>
          <p:cNvPr id="19" name="Shape 15"/>
          <p:cNvSpPr/>
          <p:nvPr/>
        </p:nvSpPr>
        <p:spPr>
          <a:xfrm>
            <a:off x="6858000" y="1325880"/>
            <a:ext cx="2331720" cy="868680"/>
          </a:xfrm>
          <a:prstGeom prst="roundRect">
            <a:avLst>
              <a:gd name="adj" fmla="val 8421"/>
            </a:avLst>
          </a:prstGeom>
          <a:solidFill>
            <a:schemeClr val="bg2"/>
          </a:solidFill>
          <a:ln w="12700">
            <a:solidFill>
              <a:schemeClr val="bg2"/>
            </a:solidFill>
            <a:prstDash val="solid"/>
          </a:ln>
        </p:spPr>
        <p:txBody>
          <a:bodyPr/>
          <a:lstStyle/>
          <a:p>
            <a:endParaRPr lang="en-IN"/>
          </a:p>
        </p:txBody>
      </p:sp>
      <p:sp>
        <p:nvSpPr>
          <p:cNvPr id="20" name="Text 16"/>
          <p:cNvSpPr txBox="1"/>
          <p:nvPr/>
        </p:nvSpPr>
        <p:spPr>
          <a:xfrm>
            <a:off x="7040880" y="1417320"/>
            <a:ext cx="1965960" cy="477774"/>
          </a:xfrm>
          <a:prstGeom prst="rect">
            <a:avLst/>
          </a:prstGeom>
          <a:noFill/>
          <a:ln/>
        </p:spPr>
        <p:txBody>
          <a:bodyPr wrap="square" lIns="0" tIns="0" rIns="0" bIns="0" rtlCol="0" anchor="ctr"/>
          <a:lstStyle/>
          <a:p>
            <a:pPr marL="0" indent="0">
              <a:buNone/>
            </a:pPr>
            <a:r>
              <a:rPr lang="en-US" sz="2800" b="1" dirty="0">
                <a:solidFill>
                  <a:schemeClr val="tx2"/>
                </a:solidFill>
              </a:rPr>
              <a:t>97.9%</a:t>
            </a:r>
            <a:endParaRPr lang="en-US" sz="2800" dirty="0"/>
          </a:p>
        </p:txBody>
      </p:sp>
      <p:sp>
        <p:nvSpPr>
          <p:cNvPr id="21" name="Text 17"/>
          <p:cNvSpPr txBox="1"/>
          <p:nvPr/>
        </p:nvSpPr>
        <p:spPr>
          <a:xfrm>
            <a:off x="7040880" y="1864462"/>
            <a:ext cx="1282446" cy="260604"/>
          </a:xfrm>
          <a:prstGeom prst="rect">
            <a:avLst/>
          </a:prstGeom>
          <a:noFill/>
          <a:ln/>
        </p:spPr>
        <p:txBody>
          <a:bodyPr wrap="square" lIns="0" tIns="0" rIns="0" bIns="0" rtlCol="0" anchor="ctr"/>
          <a:lstStyle/>
          <a:p>
            <a:pPr marL="0" indent="0">
              <a:buNone/>
            </a:pPr>
            <a:r>
              <a:rPr lang="en-US" sz="1200" dirty="0">
                <a:solidFill>
                  <a:schemeClr val="accent5"/>
                </a:solidFill>
              </a:rPr>
              <a:t>Accuracy</a:t>
            </a:r>
            <a:endParaRPr lang="en-US" sz="1200" dirty="0"/>
          </a:p>
        </p:txBody>
      </p:sp>
      <p:sp>
        <p:nvSpPr>
          <p:cNvPr id="22" name="Text 18"/>
          <p:cNvSpPr txBox="1"/>
          <p:nvPr/>
        </p:nvSpPr>
        <p:spPr>
          <a:xfrm>
            <a:off x="8023860" y="1864462"/>
            <a:ext cx="982980" cy="260604"/>
          </a:xfrm>
          <a:prstGeom prst="rect">
            <a:avLst/>
          </a:prstGeom>
          <a:noFill/>
          <a:ln/>
        </p:spPr>
        <p:txBody>
          <a:bodyPr wrap="square" lIns="0" tIns="0" rIns="0" bIns="0" rtlCol="0" anchor="ctr"/>
          <a:lstStyle/>
          <a:p>
            <a:pPr marL="0" indent="0" algn="r">
              <a:buNone/>
            </a:pPr>
            <a:r>
              <a:rPr lang="en-US" sz="1200" b="1" dirty="0">
                <a:solidFill>
                  <a:schemeClr val="accent3"/>
                </a:solidFill>
              </a:rPr>
              <a:t>▲ from 95.9%</a:t>
            </a:r>
            <a:endParaRPr lang="en-US" sz="1200" dirty="0"/>
          </a:p>
        </p:txBody>
      </p:sp>
      <p:sp>
        <p:nvSpPr>
          <p:cNvPr id="23" name="Shape 19"/>
          <p:cNvSpPr/>
          <p:nvPr/>
        </p:nvSpPr>
        <p:spPr>
          <a:xfrm>
            <a:off x="9326880" y="1325880"/>
            <a:ext cx="2331720" cy="868680"/>
          </a:xfrm>
          <a:prstGeom prst="roundRect">
            <a:avLst>
              <a:gd name="adj" fmla="val 8421"/>
            </a:avLst>
          </a:prstGeom>
          <a:solidFill>
            <a:schemeClr val="bg2"/>
          </a:solidFill>
          <a:ln w="12700">
            <a:solidFill>
              <a:schemeClr val="bg2"/>
            </a:solidFill>
            <a:prstDash val="solid"/>
          </a:ln>
        </p:spPr>
        <p:txBody>
          <a:bodyPr/>
          <a:lstStyle/>
          <a:p>
            <a:endParaRPr lang="en-IN"/>
          </a:p>
        </p:txBody>
      </p:sp>
      <p:sp>
        <p:nvSpPr>
          <p:cNvPr id="24" name="Text 20"/>
          <p:cNvSpPr txBox="1"/>
          <p:nvPr/>
        </p:nvSpPr>
        <p:spPr>
          <a:xfrm>
            <a:off x="9509760" y="1417320"/>
            <a:ext cx="1965960" cy="477774"/>
          </a:xfrm>
          <a:prstGeom prst="rect">
            <a:avLst/>
          </a:prstGeom>
          <a:noFill/>
          <a:ln/>
        </p:spPr>
        <p:txBody>
          <a:bodyPr wrap="square" lIns="0" tIns="0" rIns="0" bIns="0" rtlCol="0" anchor="ctr"/>
          <a:lstStyle/>
          <a:p>
            <a:pPr marL="0" indent="0">
              <a:buNone/>
            </a:pPr>
            <a:r>
              <a:rPr lang="en-US" sz="2800" b="1" dirty="0">
                <a:solidFill>
                  <a:schemeClr val="tx2"/>
                </a:solidFill>
              </a:rPr>
              <a:t>0.887</a:t>
            </a:r>
            <a:endParaRPr lang="en-US" sz="2800" dirty="0"/>
          </a:p>
        </p:txBody>
      </p:sp>
      <p:sp>
        <p:nvSpPr>
          <p:cNvPr id="25" name="Text 21"/>
          <p:cNvSpPr txBox="1"/>
          <p:nvPr/>
        </p:nvSpPr>
        <p:spPr>
          <a:xfrm>
            <a:off x="9509760" y="1864462"/>
            <a:ext cx="1282446" cy="260604"/>
          </a:xfrm>
          <a:prstGeom prst="rect">
            <a:avLst/>
          </a:prstGeom>
          <a:noFill/>
          <a:ln/>
        </p:spPr>
        <p:txBody>
          <a:bodyPr wrap="square" lIns="0" tIns="0" rIns="0" bIns="0" rtlCol="0" anchor="ctr"/>
          <a:lstStyle/>
          <a:p>
            <a:pPr marL="0" indent="0">
              <a:buNone/>
            </a:pPr>
            <a:r>
              <a:rPr lang="en-US" sz="1200" dirty="0">
                <a:solidFill>
                  <a:schemeClr val="accent5"/>
                </a:solidFill>
              </a:rPr>
              <a:t>Macro F1</a:t>
            </a:r>
            <a:endParaRPr lang="en-US" sz="1200" dirty="0"/>
          </a:p>
        </p:txBody>
      </p:sp>
      <p:sp>
        <p:nvSpPr>
          <p:cNvPr id="26" name="Text 22"/>
          <p:cNvSpPr txBox="1"/>
          <p:nvPr/>
        </p:nvSpPr>
        <p:spPr>
          <a:xfrm>
            <a:off x="10492740" y="1864462"/>
            <a:ext cx="982980" cy="260604"/>
          </a:xfrm>
          <a:prstGeom prst="rect">
            <a:avLst/>
          </a:prstGeom>
          <a:noFill/>
          <a:ln/>
        </p:spPr>
        <p:txBody>
          <a:bodyPr wrap="square" lIns="0" tIns="0" rIns="0" bIns="0" rtlCol="0" anchor="ctr"/>
          <a:lstStyle/>
          <a:p>
            <a:pPr marL="0" indent="0" algn="r">
              <a:buNone/>
            </a:pPr>
            <a:r>
              <a:rPr lang="en-US" sz="1200" b="1" dirty="0">
                <a:solidFill>
                  <a:schemeClr val="accent3"/>
                </a:solidFill>
              </a:rPr>
              <a:t>▲ +0.11</a:t>
            </a:r>
            <a:endParaRPr lang="en-US" sz="1200" dirty="0"/>
          </a:p>
        </p:txBody>
      </p:sp>
      <p:sp>
        <p:nvSpPr>
          <p:cNvPr id="27" name="Shape 23"/>
          <p:cNvSpPr/>
          <p:nvPr/>
        </p:nvSpPr>
        <p:spPr>
          <a:xfrm>
            <a:off x="6858000" y="2331720"/>
            <a:ext cx="2331720" cy="868680"/>
          </a:xfrm>
          <a:prstGeom prst="roundRect">
            <a:avLst>
              <a:gd name="adj" fmla="val 8421"/>
            </a:avLst>
          </a:prstGeom>
          <a:solidFill>
            <a:schemeClr val="bg2"/>
          </a:solidFill>
          <a:ln w="12700">
            <a:solidFill>
              <a:schemeClr val="bg2"/>
            </a:solidFill>
            <a:prstDash val="solid"/>
          </a:ln>
        </p:spPr>
        <p:txBody>
          <a:bodyPr/>
          <a:lstStyle/>
          <a:p>
            <a:endParaRPr lang="en-IN"/>
          </a:p>
        </p:txBody>
      </p:sp>
      <p:sp>
        <p:nvSpPr>
          <p:cNvPr id="28" name="Text 24"/>
          <p:cNvSpPr txBox="1"/>
          <p:nvPr/>
        </p:nvSpPr>
        <p:spPr>
          <a:xfrm>
            <a:off x="7040880" y="2423160"/>
            <a:ext cx="1965960" cy="477774"/>
          </a:xfrm>
          <a:prstGeom prst="rect">
            <a:avLst/>
          </a:prstGeom>
          <a:noFill/>
          <a:ln/>
        </p:spPr>
        <p:txBody>
          <a:bodyPr wrap="square" lIns="0" tIns="0" rIns="0" bIns="0" rtlCol="0" anchor="ctr"/>
          <a:lstStyle/>
          <a:p>
            <a:pPr marL="0" indent="0">
              <a:buNone/>
            </a:pPr>
            <a:r>
              <a:rPr lang="en-US" sz="2800" b="1" dirty="0">
                <a:solidFill>
                  <a:schemeClr val="tx2"/>
                </a:solidFill>
              </a:rPr>
              <a:t>0.66</a:t>
            </a:r>
            <a:endParaRPr lang="en-US" sz="2800" dirty="0"/>
          </a:p>
        </p:txBody>
      </p:sp>
      <p:sp>
        <p:nvSpPr>
          <p:cNvPr id="29" name="Text 25"/>
          <p:cNvSpPr txBox="1"/>
          <p:nvPr/>
        </p:nvSpPr>
        <p:spPr>
          <a:xfrm>
            <a:off x="7040880" y="2870302"/>
            <a:ext cx="1282446" cy="260604"/>
          </a:xfrm>
          <a:prstGeom prst="rect">
            <a:avLst/>
          </a:prstGeom>
          <a:noFill/>
          <a:ln/>
        </p:spPr>
        <p:txBody>
          <a:bodyPr wrap="square" lIns="0" tIns="0" rIns="0" bIns="0" rtlCol="0" anchor="ctr"/>
          <a:lstStyle/>
          <a:p>
            <a:pPr marL="0" indent="0">
              <a:buNone/>
            </a:pPr>
            <a:r>
              <a:rPr lang="en-US" sz="1200" dirty="0">
                <a:solidFill>
                  <a:schemeClr val="accent5"/>
                </a:solidFill>
              </a:rPr>
              <a:t>Recall S</a:t>
            </a:r>
            <a:endParaRPr lang="en-US" sz="1200" dirty="0"/>
          </a:p>
        </p:txBody>
      </p:sp>
      <p:sp>
        <p:nvSpPr>
          <p:cNvPr id="30" name="Text 26"/>
          <p:cNvSpPr txBox="1"/>
          <p:nvPr/>
        </p:nvSpPr>
        <p:spPr>
          <a:xfrm>
            <a:off x="8023860" y="2870302"/>
            <a:ext cx="982980" cy="260604"/>
          </a:xfrm>
          <a:prstGeom prst="rect">
            <a:avLst/>
          </a:prstGeom>
          <a:noFill/>
          <a:ln/>
        </p:spPr>
        <p:txBody>
          <a:bodyPr wrap="square" lIns="0" tIns="0" rIns="0" bIns="0" rtlCol="0" anchor="ctr"/>
          <a:lstStyle/>
          <a:p>
            <a:pPr marL="0" indent="0" algn="r">
              <a:buNone/>
            </a:pPr>
            <a:r>
              <a:rPr lang="en-US" sz="1200" b="1" dirty="0">
                <a:solidFill>
                  <a:schemeClr val="accent3"/>
                </a:solidFill>
              </a:rPr>
              <a:t>▲ from 0.44</a:t>
            </a:r>
            <a:endParaRPr lang="en-US" sz="1200" dirty="0"/>
          </a:p>
        </p:txBody>
      </p:sp>
      <p:sp>
        <p:nvSpPr>
          <p:cNvPr id="31" name="Shape 27"/>
          <p:cNvSpPr/>
          <p:nvPr/>
        </p:nvSpPr>
        <p:spPr>
          <a:xfrm>
            <a:off x="9326880" y="2331720"/>
            <a:ext cx="2331720" cy="868680"/>
          </a:xfrm>
          <a:prstGeom prst="roundRect">
            <a:avLst>
              <a:gd name="adj" fmla="val 8421"/>
            </a:avLst>
          </a:prstGeom>
          <a:solidFill>
            <a:schemeClr val="bg2"/>
          </a:solidFill>
          <a:ln w="12700">
            <a:solidFill>
              <a:schemeClr val="bg2"/>
            </a:solidFill>
            <a:prstDash val="solid"/>
          </a:ln>
        </p:spPr>
        <p:txBody>
          <a:bodyPr/>
          <a:lstStyle/>
          <a:p>
            <a:endParaRPr lang="en-IN"/>
          </a:p>
        </p:txBody>
      </p:sp>
      <p:sp>
        <p:nvSpPr>
          <p:cNvPr id="32" name="Text 28"/>
          <p:cNvSpPr txBox="1"/>
          <p:nvPr/>
        </p:nvSpPr>
        <p:spPr>
          <a:xfrm>
            <a:off x="9509760" y="2423160"/>
            <a:ext cx="1965960" cy="477774"/>
          </a:xfrm>
          <a:prstGeom prst="rect">
            <a:avLst/>
          </a:prstGeom>
          <a:noFill/>
          <a:ln/>
        </p:spPr>
        <p:txBody>
          <a:bodyPr wrap="square" lIns="0" tIns="0" rIns="0" bIns="0" rtlCol="0" anchor="ctr"/>
          <a:lstStyle/>
          <a:p>
            <a:pPr marL="0" indent="0">
              <a:buNone/>
            </a:pPr>
            <a:r>
              <a:rPr lang="en-US" sz="2800" b="1" dirty="0">
                <a:solidFill>
                  <a:schemeClr val="tx2"/>
                </a:solidFill>
              </a:rPr>
              <a:t>0.71</a:t>
            </a:r>
            <a:endParaRPr lang="en-US" sz="2800" dirty="0"/>
          </a:p>
        </p:txBody>
      </p:sp>
      <p:sp>
        <p:nvSpPr>
          <p:cNvPr id="33" name="Text 29"/>
          <p:cNvSpPr txBox="1"/>
          <p:nvPr/>
        </p:nvSpPr>
        <p:spPr>
          <a:xfrm>
            <a:off x="9509760" y="2870302"/>
            <a:ext cx="1282446" cy="260604"/>
          </a:xfrm>
          <a:prstGeom prst="rect">
            <a:avLst/>
          </a:prstGeom>
          <a:noFill/>
          <a:ln/>
        </p:spPr>
        <p:txBody>
          <a:bodyPr wrap="square" lIns="0" tIns="0" rIns="0" bIns="0" rtlCol="0" anchor="ctr"/>
          <a:lstStyle/>
          <a:p>
            <a:pPr marL="0" indent="0">
              <a:buNone/>
            </a:pPr>
            <a:r>
              <a:rPr lang="en-US" sz="1200" dirty="0">
                <a:solidFill>
                  <a:schemeClr val="accent5"/>
                </a:solidFill>
              </a:rPr>
              <a:t>Recall F</a:t>
            </a:r>
            <a:endParaRPr lang="en-US" sz="1200" dirty="0"/>
          </a:p>
        </p:txBody>
      </p:sp>
      <p:sp>
        <p:nvSpPr>
          <p:cNvPr id="34" name="Text 30"/>
          <p:cNvSpPr txBox="1"/>
          <p:nvPr/>
        </p:nvSpPr>
        <p:spPr>
          <a:xfrm>
            <a:off x="10492740" y="2870302"/>
            <a:ext cx="982980" cy="260604"/>
          </a:xfrm>
          <a:prstGeom prst="rect">
            <a:avLst/>
          </a:prstGeom>
          <a:noFill/>
          <a:ln/>
        </p:spPr>
        <p:txBody>
          <a:bodyPr wrap="square" lIns="0" tIns="0" rIns="0" bIns="0" rtlCol="0" anchor="ctr"/>
          <a:lstStyle/>
          <a:p>
            <a:pPr marL="0" indent="0" algn="r">
              <a:buNone/>
            </a:pPr>
            <a:r>
              <a:rPr lang="en-US" sz="1200" b="1" dirty="0">
                <a:solidFill>
                  <a:schemeClr val="accent3"/>
                </a:solidFill>
              </a:rPr>
              <a:t>▲ from 0.39</a:t>
            </a:r>
            <a:endParaRPr lang="en-US" sz="1200" dirty="0"/>
          </a:p>
        </p:txBody>
      </p:sp>
      <p:pic>
        <p:nvPicPr>
          <p:cNvPr id="35" name="Image 2" descr="C:\Users\anshu\AppData\Local\Temp\claude\d--bennett-Healthcare-eeg\68424036-4cfe-451f-8594-ecba8073e5ad\scratchpad\img\att_N.png"/>
          <p:cNvPicPr>
            <a:picLocks noChangeAspect="1"/>
          </p:cNvPicPr>
          <p:nvPr/>
        </p:nvPicPr>
        <p:blipFill>
          <a:blip r:embed="rId5"/>
          <a:stretch>
            <a:fillRect/>
          </a:stretch>
        </p:blipFill>
        <p:spPr>
          <a:xfrm>
            <a:off x="6858000" y="3474720"/>
            <a:ext cx="2308860" cy="1950407"/>
          </a:xfrm>
          <a:prstGeom prst="rect">
            <a:avLst/>
          </a:prstGeom>
        </p:spPr>
      </p:pic>
      <p:pic>
        <p:nvPicPr>
          <p:cNvPr id="36" name="Image 3" descr="C:\Users\anshu\AppData\Local\Temp\claude\d--bennett-Healthcare-eeg\68424036-4cfe-451f-8594-ecba8073e5ad\scratchpad\img\att_S.png"/>
          <p:cNvPicPr>
            <a:picLocks noChangeAspect="1"/>
          </p:cNvPicPr>
          <p:nvPr/>
        </p:nvPicPr>
        <p:blipFill>
          <a:blip r:embed="rId6"/>
          <a:stretch>
            <a:fillRect/>
          </a:stretch>
        </p:blipFill>
        <p:spPr>
          <a:xfrm>
            <a:off x="9349740" y="3474720"/>
            <a:ext cx="2308860" cy="1950407"/>
          </a:xfrm>
          <a:prstGeom prst="rect">
            <a:avLst/>
          </a:prstGeom>
        </p:spPr>
      </p:pic>
      <p:sp>
        <p:nvSpPr>
          <p:cNvPr id="37" name="Text 31"/>
          <p:cNvSpPr txBox="1"/>
          <p:nvPr/>
        </p:nvSpPr>
        <p:spPr>
          <a:xfrm>
            <a:off x="6858000" y="5516567"/>
            <a:ext cx="4800600" cy="502920"/>
          </a:xfrm>
          <a:prstGeom prst="rect">
            <a:avLst/>
          </a:prstGeom>
          <a:noFill/>
          <a:ln/>
        </p:spPr>
        <p:txBody>
          <a:bodyPr wrap="square" lIns="0" tIns="0" rIns="0" bIns="0" rtlCol="0" anchor="t"/>
          <a:lstStyle/>
          <a:p>
            <a:pPr marL="0" indent="0" algn="ctr">
              <a:buNone/>
            </a:pPr>
            <a:r>
              <a:rPr lang="en-US" sz="1200" i="1" dirty="0">
                <a:solidFill>
                  <a:schemeClr val="accent5"/>
                </a:solidFill>
              </a:rPr>
              <a:t>Normal: next spike at ~step 100.  S: next spike at ~step 47, it comes too early.</a:t>
            </a:r>
            <a:endParaRPr lang="en-US" sz="1200" dirty="0"/>
          </a:p>
        </p:txBody>
      </p:sp>
      <p:sp>
        <p:nvSpPr>
          <p:cNvPr id="3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C7A89"/>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rgbClr val="12263A"/>
                </a:solidFill>
              </a:rPr>
              <a:t>Where does the attention look?</a:t>
            </a:r>
            <a:endParaRPr lang="en-US" sz="3200" dirty="0"/>
          </a:p>
        </p:txBody>
      </p:sp>
      <p:pic>
        <p:nvPicPr>
          <p:cNvPr id="3" name="Image 0" descr="C:\Users\anshu\AppData\Local\Temp\claude\d--bennett-Healthcare-eeg\68424036-4cfe-451f-8594-ecba8073e5ad\scratchpad\img\c31_9.png"/>
          <p:cNvPicPr>
            <a:picLocks noChangeAspect="1"/>
          </p:cNvPicPr>
          <p:nvPr/>
        </p:nvPicPr>
        <p:blipFill>
          <a:blip r:embed="rId3"/>
          <a:stretch>
            <a:fillRect/>
          </a:stretch>
        </p:blipFill>
        <p:spPr>
          <a:xfrm>
            <a:off x="548640" y="1325880"/>
            <a:ext cx="11064240" cy="1869301"/>
          </a:xfrm>
          <a:prstGeom prst="rect">
            <a:avLst/>
          </a:prstGeom>
        </p:spPr>
      </p:pic>
      <p:sp>
        <p:nvSpPr>
          <p:cNvPr id="4" name="Text 1"/>
          <p:cNvSpPr txBox="1"/>
          <p:nvPr/>
        </p:nvSpPr>
        <p:spPr>
          <a:xfrm>
            <a:off x="548640" y="3246120"/>
            <a:ext cx="11064240" cy="274320"/>
          </a:xfrm>
          <a:prstGeom prst="rect">
            <a:avLst/>
          </a:prstGeom>
          <a:noFill/>
          <a:ln/>
        </p:spPr>
        <p:txBody>
          <a:bodyPr wrap="square" lIns="0" tIns="0" rIns="0" bIns="0" rtlCol="0" anchor="t"/>
          <a:lstStyle/>
          <a:p>
            <a:pPr marL="0" indent="0">
              <a:buNone/>
            </a:pPr>
            <a:r>
              <a:rPr lang="en-US" sz="1200" i="1" dirty="0">
                <a:solidFill>
                  <a:schemeClr val="accent5"/>
                </a:solidFill>
              </a:rPr>
              <a:t>Black = ECG beat, red = attention weight over time (one correctly classified test beat per class).</a:t>
            </a:r>
            <a:endParaRPr lang="en-US" sz="1200" dirty="0"/>
          </a:p>
        </p:txBody>
      </p:sp>
      <p:sp>
        <p:nvSpPr>
          <p:cNvPr id="5" name="Shape 2"/>
          <p:cNvSpPr/>
          <p:nvPr/>
        </p:nvSpPr>
        <p:spPr>
          <a:xfrm>
            <a:off x="548640" y="3749040"/>
            <a:ext cx="5440680" cy="2377440"/>
          </a:xfrm>
          <a:prstGeom prst="roundRect">
            <a:avLst>
              <a:gd name="adj" fmla="val 3077"/>
            </a:avLst>
          </a:prstGeom>
          <a:solidFill>
            <a:schemeClr val="bg2"/>
          </a:solidFill>
          <a:ln w="12700">
            <a:solidFill>
              <a:schemeClr val="bg2"/>
            </a:solidFill>
            <a:prstDash val="solid"/>
          </a:ln>
        </p:spPr>
        <p:txBody>
          <a:bodyPr/>
          <a:lstStyle/>
          <a:p>
            <a:endParaRPr lang="en-IN"/>
          </a:p>
        </p:txBody>
      </p:sp>
      <p:sp>
        <p:nvSpPr>
          <p:cNvPr id="6" name="Shape 3"/>
          <p:cNvSpPr/>
          <p:nvPr/>
        </p:nvSpPr>
        <p:spPr>
          <a:xfrm>
            <a:off x="777240" y="3931920"/>
            <a:ext cx="502920" cy="502920"/>
          </a:xfrm>
          <a:prstGeom prst="ellipse">
            <a:avLst/>
          </a:prstGeom>
          <a:solidFill>
            <a:schemeClr val="accent1"/>
          </a:solidFill>
          <a:ln w="12700">
            <a:solidFill>
              <a:schemeClr val="accent1"/>
            </a:solidFill>
            <a:prstDash val="solid"/>
          </a:ln>
        </p:spPr>
        <p:txBody>
          <a:bodyPr/>
          <a:lstStyle/>
          <a:p>
            <a:endParaRPr lang="en-IN"/>
          </a:p>
        </p:txBody>
      </p:sp>
      <p:pic>
        <p:nvPicPr>
          <p:cNvPr id="7" name="Image 1" descr="preencoded.png"/>
          <p:cNvPicPr>
            <a:picLocks noChangeAspect="1"/>
          </p:cNvPicPr>
          <p:nvPr/>
        </p:nvPicPr>
        <p:blipFill>
          <a:blip r:embed="rId4"/>
          <a:stretch>
            <a:fillRect/>
          </a:stretch>
        </p:blipFill>
        <p:spPr>
          <a:xfrm>
            <a:off x="902970" y="4057650"/>
            <a:ext cx="251460" cy="251460"/>
          </a:xfrm>
          <a:prstGeom prst="rect">
            <a:avLst/>
          </a:prstGeom>
        </p:spPr>
      </p:pic>
      <p:sp>
        <p:nvSpPr>
          <p:cNvPr id="8" name="Text 4"/>
          <p:cNvSpPr txBox="1"/>
          <p:nvPr/>
        </p:nvSpPr>
        <p:spPr>
          <a:xfrm>
            <a:off x="1417320" y="3931920"/>
            <a:ext cx="4389120" cy="502920"/>
          </a:xfrm>
          <a:prstGeom prst="rect">
            <a:avLst/>
          </a:prstGeom>
          <a:noFill/>
          <a:ln/>
        </p:spPr>
        <p:txBody>
          <a:bodyPr wrap="square" lIns="0" tIns="0" rIns="0" bIns="0" rtlCol="0" anchor="ctr"/>
          <a:lstStyle/>
          <a:p>
            <a:pPr marL="0" indent="0">
              <a:buNone/>
            </a:pPr>
            <a:r>
              <a:rPr lang="en-US" sz="1600" b="1" dirty="0">
                <a:solidFill>
                  <a:schemeClr val="tx2"/>
                </a:solidFill>
              </a:rPr>
              <a:t>What we see</a:t>
            </a:r>
            <a:endParaRPr lang="en-US" sz="1600" dirty="0"/>
          </a:p>
        </p:txBody>
      </p:sp>
      <p:sp>
        <p:nvSpPr>
          <p:cNvPr id="9" name="Text 5"/>
          <p:cNvSpPr txBox="1"/>
          <p:nvPr/>
        </p:nvSpPr>
        <p:spPr>
          <a:xfrm>
            <a:off x="777240" y="4572000"/>
            <a:ext cx="498348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For most classes, attention sits on the first few time steps.</a:t>
            </a:r>
            <a:endParaRPr lang="en-US" sz="1400" dirty="0"/>
          </a:p>
          <a:p>
            <a:pPr marL="342900" indent="-342900">
              <a:spcAft>
                <a:spcPts val="600"/>
              </a:spcAft>
              <a:buSzPct val="100000"/>
              <a:buChar char="•"/>
            </a:pPr>
            <a:r>
              <a:rPr lang="en-US" sz="1400" dirty="0">
                <a:solidFill>
                  <a:schemeClr val="tx1"/>
                </a:solidFill>
              </a:rPr>
              <a:t>For the S beat, it spreads over the gap between the two spikes, exactly where the early beat shows.</a:t>
            </a:r>
            <a:endParaRPr lang="en-US" sz="1400" dirty="0"/>
          </a:p>
        </p:txBody>
      </p:sp>
      <p:sp>
        <p:nvSpPr>
          <p:cNvPr id="10" name="Shape 6"/>
          <p:cNvSpPr/>
          <p:nvPr/>
        </p:nvSpPr>
        <p:spPr>
          <a:xfrm>
            <a:off x="6172200" y="3749040"/>
            <a:ext cx="5440680" cy="2377440"/>
          </a:xfrm>
          <a:prstGeom prst="roundRect">
            <a:avLst>
              <a:gd name="adj" fmla="val 3077"/>
            </a:avLst>
          </a:prstGeom>
          <a:solidFill>
            <a:schemeClr val="bg2"/>
          </a:solidFill>
          <a:ln w="12700">
            <a:solidFill>
              <a:schemeClr val="bg2"/>
            </a:solidFill>
            <a:prstDash val="solid"/>
          </a:ln>
        </p:spPr>
        <p:txBody>
          <a:bodyPr/>
          <a:lstStyle/>
          <a:p>
            <a:endParaRPr lang="en-IN"/>
          </a:p>
        </p:txBody>
      </p:sp>
      <p:sp>
        <p:nvSpPr>
          <p:cNvPr id="11" name="Shape 7"/>
          <p:cNvSpPr/>
          <p:nvPr/>
        </p:nvSpPr>
        <p:spPr>
          <a:xfrm>
            <a:off x="6400800" y="3931920"/>
            <a:ext cx="502920" cy="502920"/>
          </a:xfrm>
          <a:prstGeom prst="ellipse">
            <a:avLst/>
          </a:prstGeom>
          <a:solidFill>
            <a:schemeClr val="accent1"/>
          </a:solidFill>
          <a:ln w="12700">
            <a:solidFill>
              <a:schemeClr val="accent1"/>
            </a:solidFill>
            <a:prstDash val="solid"/>
          </a:ln>
        </p:spPr>
        <p:txBody>
          <a:bodyPr/>
          <a:lstStyle/>
          <a:p>
            <a:endParaRPr lang="en-IN"/>
          </a:p>
        </p:txBody>
      </p:sp>
      <p:pic>
        <p:nvPicPr>
          <p:cNvPr id="12" name="Image 2" descr="preencoded.png"/>
          <p:cNvPicPr>
            <a:picLocks noChangeAspect="1"/>
          </p:cNvPicPr>
          <p:nvPr/>
        </p:nvPicPr>
        <p:blipFill>
          <a:blip r:embed="rId5"/>
          <a:stretch>
            <a:fillRect/>
          </a:stretch>
        </p:blipFill>
        <p:spPr>
          <a:xfrm>
            <a:off x="6526530" y="4057650"/>
            <a:ext cx="251460" cy="251460"/>
          </a:xfrm>
          <a:prstGeom prst="rect">
            <a:avLst/>
          </a:prstGeom>
        </p:spPr>
      </p:pic>
      <p:sp>
        <p:nvSpPr>
          <p:cNvPr id="13" name="Text 8"/>
          <p:cNvSpPr txBox="1"/>
          <p:nvPr/>
        </p:nvSpPr>
        <p:spPr>
          <a:xfrm>
            <a:off x="7040880" y="3931920"/>
            <a:ext cx="4389120" cy="502920"/>
          </a:xfrm>
          <a:prstGeom prst="rect">
            <a:avLst/>
          </a:prstGeom>
          <a:noFill/>
          <a:ln/>
        </p:spPr>
        <p:txBody>
          <a:bodyPr wrap="square" lIns="0" tIns="0" rIns="0" bIns="0" rtlCol="0" anchor="ctr"/>
          <a:lstStyle/>
          <a:p>
            <a:pPr marL="0" indent="0">
              <a:buNone/>
            </a:pPr>
            <a:r>
              <a:rPr lang="en-US" sz="1600" b="1" dirty="0">
                <a:solidFill>
                  <a:schemeClr val="tx2"/>
                </a:solidFill>
              </a:rPr>
              <a:t>What it means</a:t>
            </a:r>
            <a:endParaRPr lang="en-US" sz="1600" dirty="0"/>
          </a:p>
        </p:txBody>
      </p:sp>
      <p:sp>
        <p:nvSpPr>
          <p:cNvPr id="14" name="Text 9"/>
          <p:cNvSpPr txBox="1"/>
          <p:nvPr/>
        </p:nvSpPr>
        <p:spPr>
          <a:xfrm>
            <a:off x="6400800" y="4572000"/>
            <a:ext cx="498348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In a BiLSTM, the backward pass has read the whole beat by step 0, so step 0 is already a summary.</a:t>
            </a:r>
            <a:endParaRPr lang="en-US" sz="1400" dirty="0"/>
          </a:p>
          <a:p>
            <a:pPr marL="342900" indent="-342900">
              <a:spcAft>
                <a:spcPts val="600"/>
              </a:spcAft>
              <a:buSzPct val="100000"/>
              <a:buChar char="•"/>
            </a:pPr>
            <a:r>
              <a:rPr lang="en-US" sz="1400" dirty="0">
                <a:solidFill>
                  <a:schemeClr val="tx1"/>
                </a:solidFill>
              </a:rPr>
              <a:t>Attention shows where the model reads its summary, not exactly which part of the signal matters.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C7A89"/>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rgbClr val="12263A"/>
                </a:solidFill>
              </a:rPr>
              <a:t>Step 4: Softer (√) class weights</a:t>
            </a:r>
            <a:endParaRPr lang="en-US" sz="3200" dirty="0"/>
          </a:p>
        </p:txBody>
      </p:sp>
      <p:sp>
        <p:nvSpPr>
          <p:cNvPr id="3" name="Text 1"/>
          <p:cNvSpPr txBox="1"/>
          <p:nvPr/>
        </p:nvSpPr>
        <p:spPr>
          <a:xfrm>
            <a:off x="548640" y="1325880"/>
            <a:ext cx="5943600" cy="274320"/>
          </a:xfrm>
          <a:prstGeom prst="rect">
            <a:avLst/>
          </a:prstGeom>
          <a:noFill/>
          <a:ln/>
        </p:spPr>
        <p:txBody>
          <a:bodyPr wrap="square" lIns="0" tIns="0" rIns="0" bIns="0" rtlCol="0" anchor="t"/>
          <a:lstStyle/>
          <a:p>
            <a:pPr marL="0" indent="0">
              <a:buNone/>
            </a:pPr>
            <a:r>
              <a:rPr lang="en-US" sz="1500" b="1" dirty="0">
                <a:solidFill>
                  <a:schemeClr val="accent1"/>
                </a:solidFill>
              </a:rPr>
              <a:t>Why this step?</a:t>
            </a:r>
            <a:endParaRPr lang="en-US" sz="1500" dirty="0"/>
          </a:p>
        </p:txBody>
      </p:sp>
      <p:sp>
        <p:nvSpPr>
          <p:cNvPr id="4" name="Text 2"/>
          <p:cNvSpPr txBox="1"/>
          <p:nvPr/>
        </p:nvSpPr>
        <p:spPr>
          <a:xfrm>
            <a:off x="548640" y="1618488"/>
            <a:ext cx="5943600" cy="658368"/>
          </a:xfrm>
          <a:prstGeom prst="rect">
            <a:avLst/>
          </a:prstGeom>
          <a:noFill/>
          <a:ln/>
        </p:spPr>
        <p:txBody>
          <a:bodyPr wrap="square" lIns="0" tIns="0" rIns="0" bIns="0" rtlCol="0" anchor="t"/>
          <a:lstStyle/>
          <a:p>
            <a:pPr marL="0" indent="0">
              <a:buNone/>
            </a:pPr>
            <a:r>
              <a:rPr lang="en-US" sz="1400" dirty="0">
                <a:solidFill>
                  <a:schemeClr val="tx1"/>
                </a:solidFill>
              </a:rPr>
              <a:t>S and F recall were still the lowest. Step 2 showed weights help recall, but full strength was too much.</a:t>
            </a:r>
            <a:endParaRPr lang="en-US" sz="1400" dirty="0"/>
          </a:p>
        </p:txBody>
      </p:sp>
      <p:sp>
        <p:nvSpPr>
          <p:cNvPr id="5" name="Text 3"/>
          <p:cNvSpPr txBox="1"/>
          <p:nvPr/>
        </p:nvSpPr>
        <p:spPr>
          <a:xfrm>
            <a:off x="548640" y="2313432"/>
            <a:ext cx="5943600" cy="274320"/>
          </a:xfrm>
          <a:prstGeom prst="rect">
            <a:avLst/>
          </a:prstGeom>
          <a:noFill/>
          <a:ln/>
        </p:spPr>
        <p:txBody>
          <a:bodyPr wrap="square" lIns="0" tIns="0" rIns="0" bIns="0" rtlCol="0" anchor="t"/>
          <a:lstStyle/>
          <a:p>
            <a:pPr marL="0" indent="0">
              <a:buNone/>
            </a:pPr>
            <a:r>
              <a:rPr lang="en-US" sz="1500" b="1" dirty="0">
                <a:solidFill>
                  <a:schemeClr val="accent1"/>
                </a:solidFill>
              </a:rPr>
              <a:t>What we changed</a:t>
            </a:r>
            <a:endParaRPr lang="en-US" sz="1500" dirty="0"/>
          </a:p>
        </p:txBody>
      </p:sp>
      <p:sp>
        <p:nvSpPr>
          <p:cNvPr id="6" name="Text 4"/>
          <p:cNvSpPr txBox="1"/>
          <p:nvPr/>
        </p:nvSpPr>
        <p:spPr>
          <a:xfrm>
            <a:off x="548640" y="2606040"/>
            <a:ext cx="5943600" cy="658368"/>
          </a:xfrm>
          <a:prstGeom prst="rect">
            <a:avLst/>
          </a:prstGeom>
          <a:noFill/>
          <a:ln/>
        </p:spPr>
        <p:txBody>
          <a:bodyPr wrap="square" lIns="0" tIns="0" rIns="0" bIns="0" rtlCol="0" anchor="t"/>
          <a:lstStyle/>
          <a:p>
            <a:pPr marL="0" indent="0">
              <a:buNone/>
            </a:pPr>
            <a:r>
              <a:rPr lang="en-US" sz="1400" dirty="0">
                <a:solidFill>
                  <a:schemeClr val="tx1"/>
                </a:solidFill>
              </a:rPr>
              <a:t>Weights = square root of the balanced weights (F: 5x instead of 27x). Also 30 epochs instead of 15.</a:t>
            </a:r>
            <a:endParaRPr lang="en-US" sz="1400" dirty="0"/>
          </a:p>
        </p:txBody>
      </p:sp>
      <p:sp>
        <p:nvSpPr>
          <p:cNvPr id="7" name="Text 5"/>
          <p:cNvSpPr txBox="1"/>
          <p:nvPr/>
        </p:nvSpPr>
        <p:spPr>
          <a:xfrm>
            <a:off x="548640" y="3300984"/>
            <a:ext cx="5943600" cy="274320"/>
          </a:xfrm>
          <a:prstGeom prst="rect">
            <a:avLst/>
          </a:prstGeom>
          <a:noFill/>
          <a:ln/>
        </p:spPr>
        <p:txBody>
          <a:bodyPr wrap="square" lIns="0" tIns="0" rIns="0" bIns="0" rtlCol="0" anchor="t"/>
          <a:lstStyle/>
          <a:p>
            <a:pPr marL="0" indent="0">
              <a:buNone/>
            </a:pPr>
            <a:r>
              <a:rPr lang="en-US" sz="1500" b="1" dirty="0">
                <a:solidFill>
                  <a:schemeClr val="accent1"/>
                </a:solidFill>
              </a:rPr>
              <a:t>Intuition</a:t>
            </a:r>
            <a:endParaRPr lang="en-US" sz="1500" dirty="0"/>
          </a:p>
        </p:txBody>
      </p:sp>
      <p:sp>
        <p:nvSpPr>
          <p:cNvPr id="8" name="Text 6"/>
          <p:cNvSpPr txBox="1"/>
          <p:nvPr/>
        </p:nvSpPr>
        <p:spPr>
          <a:xfrm>
            <a:off x="548640" y="3593592"/>
            <a:ext cx="5943600" cy="658368"/>
          </a:xfrm>
          <a:prstGeom prst="rect">
            <a:avLst/>
          </a:prstGeom>
          <a:noFill/>
          <a:ln/>
        </p:spPr>
        <p:txBody>
          <a:bodyPr wrap="square" lIns="0" tIns="0" rIns="0" bIns="0" rtlCol="0" anchor="t"/>
          <a:lstStyle/>
          <a:p>
            <a:pPr marL="0" indent="0">
              <a:buNone/>
            </a:pPr>
            <a:r>
              <a:rPr lang="en-US" sz="1400" dirty="0">
                <a:solidFill>
                  <a:schemeClr val="tx1"/>
                </a:solidFill>
              </a:rPr>
              <a:t>Keep the direction (rare classes still count more) but remove the extreme values that caused false alarms.</a:t>
            </a:r>
            <a:endParaRPr lang="en-US" sz="1400" dirty="0"/>
          </a:p>
        </p:txBody>
      </p:sp>
      <p:sp>
        <p:nvSpPr>
          <p:cNvPr id="9" name="Shape 7"/>
          <p:cNvSpPr/>
          <p:nvPr/>
        </p:nvSpPr>
        <p:spPr>
          <a:xfrm>
            <a:off x="548640" y="4343400"/>
            <a:ext cx="2880360" cy="1874520"/>
          </a:xfrm>
          <a:prstGeom prst="roundRect">
            <a:avLst>
              <a:gd name="adj" fmla="val 3902"/>
            </a:avLst>
          </a:prstGeom>
          <a:solidFill>
            <a:srgbClr val="E7F1E8"/>
          </a:solidFill>
          <a:ln w="12700">
            <a:solidFill>
              <a:srgbClr val="E7F1E8"/>
            </a:solidFill>
            <a:prstDash val="solid"/>
          </a:ln>
        </p:spPr>
        <p:txBody>
          <a:bodyPr/>
          <a:lstStyle/>
          <a:p>
            <a:endParaRPr lang="en-IN"/>
          </a:p>
        </p:txBody>
      </p:sp>
      <p:sp>
        <p:nvSpPr>
          <p:cNvPr id="10" name="Shape 8"/>
          <p:cNvSpPr/>
          <p:nvPr/>
        </p:nvSpPr>
        <p:spPr>
          <a:xfrm>
            <a:off x="731520" y="4526280"/>
            <a:ext cx="365760" cy="365760"/>
          </a:xfrm>
          <a:prstGeom prst="ellipse">
            <a:avLst/>
          </a:prstGeom>
          <a:solidFill>
            <a:schemeClr val="accent3"/>
          </a:solidFill>
          <a:ln w="12700">
            <a:solidFill>
              <a:schemeClr val="accent3"/>
            </a:solidFill>
            <a:prstDash val="solid"/>
          </a:ln>
        </p:spPr>
        <p:txBody>
          <a:bodyPr/>
          <a:lstStyle/>
          <a:p>
            <a:endParaRPr lang="en-IN"/>
          </a:p>
        </p:txBody>
      </p:sp>
      <p:pic>
        <p:nvPicPr>
          <p:cNvPr id="11" name="Image 0" descr="preencoded.png"/>
          <p:cNvPicPr>
            <a:picLocks noChangeAspect="1"/>
          </p:cNvPicPr>
          <p:nvPr/>
        </p:nvPicPr>
        <p:blipFill>
          <a:blip r:embed="rId3"/>
          <a:stretch>
            <a:fillRect/>
          </a:stretch>
        </p:blipFill>
        <p:spPr>
          <a:xfrm>
            <a:off x="822960" y="4617720"/>
            <a:ext cx="182880" cy="182880"/>
          </a:xfrm>
          <a:prstGeom prst="rect">
            <a:avLst/>
          </a:prstGeom>
        </p:spPr>
      </p:pic>
      <p:sp>
        <p:nvSpPr>
          <p:cNvPr id="12" name="Text 9"/>
          <p:cNvSpPr txBox="1"/>
          <p:nvPr/>
        </p:nvSpPr>
        <p:spPr>
          <a:xfrm>
            <a:off x="1188720" y="4526280"/>
            <a:ext cx="2057400" cy="365760"/>
          </a:xfrm>
          <a:prstGeom prst="rect">
            <a:avLst/>
          </a:prstGeom>
          <a:noFill/>
          <a:ln/>
        </p:spPr>
        <p:txBody>
          <a:bodyPr wrap="square" lIns="0" tIns="0" rIns="0" bIns="0" rtlCol="0" anchor="ctr"/>
          <a:lstStyle/>
          <a:p>
            <a:pPr marL="0" indent="0">
              <a:buNone/>
            </a:pPr>
            <a:r>
              <a:rPr lang="en-US" sz="1500" b="1" dirty="0">
                <a:solidFill>
                  <a:schemeClr val="accent3"/>
                </a:solidFill>
              </a:rPr>
              <a:t>What worked</a:t>
            </a:r>
            <a:endParaRPr lang="en-US" sz="1500" dirty="0"/>
          </a:p>
        </p:txBody>
      </p:sp>
      <p:sp>
        <p:nvSpPr>
          <p:cNvPr id="13" name="Text 10"/>
          <p:cNvSpPr txBox="1"/>
          <p:nvPr/>
        </p:nvSpPr>
        <p:spPr>
          <a:xfrm>
            <a:off x="731520" y="5029200"/>
            <a:ext cx="2514600"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Catches more abnormal beats</a:t>
            </a:r>
            <a:endParaRPr lang="en-US" sz="1400" dirty="0"/>
          </a:p>
          <a:p>
            <a:pPr marL="342900" indent="-342900">
              <a:spcAft>
                <a:spcPts val="400"/>
              </a:spcAft>
              <a:buSzPct val="100000"/>
              <a:buChar char="•"/>
            </a:pPr>
            <a:r>
              <a:rPr lang="en-US" sz="1400" dirty="0">
                <a:solidFill>
                  <a:schemeClr val="tx1"/>
                </a:solidFill>
              </a:rPr>
              <a:t>No collapse like Step 2</a:t>
            </a:r>
            <a:endParaRPr lang="en-US" sz="1400" dirty="0"/>
          </a:p>
        </p:txBody>
      </p:sp>
      <p:sp>
        <p:nvSpPr>
          <p:cNvPr id="14" name="Shape 11"/>
          <p:cNvSpPr/>
          <p:nvPr/>
        </p:nvSpPr>
        <p:spPr>
          <a:xfrm>
            <a:off x="3611880" y="4343400"/>
            <a:ext cx="2880360" cy="1874520"/>
          </a:xfrm>
          <a:prstGeom prst="roundRect">
            <a:avLst>
              <a:gd name="adj" fmla="val 3902"/>
            </a:avLst>
          </a:prstGeom>
          <a:solidFill>
            <a:srgbClr val="FBEFE3"/>
          </a:solidFill>
          <a:ln w="12700">
            <a:solidFill>
              <a:srgbClr val="FBEFE3"/>
            </a:solidFill>
            <a:prstDash val="solid"/>
          </a:ln>
        </p:spPr>
        <p:txBody>
          <a:bodyPr/>
          <a:lstStyle/>
          <a:p>
            <a:endParaRPr lang="en-IN"/>
          </a:p>
        </p:txBody>
      </p:sp>
      <p:sp>
        <p:nvSpPr>
          <p:cNvPr id="15" name="Shape 12"/>
          <p:cNvSpPr/>
          <p:nvPr/>
        </p:nvSpPr>
        <p:spPr>
          <a:xfrm>
            <a:off x="3794760" y="4526280"/>
            <a:ext cx="365760" cy="365760"/>
          </a:xfrm>
          <a:prstGeom prst="ellipse">
            <a:avLst/>
          </a:prstGeom>
          <a:solidFill>
            <a:schemeClr val="accent4"/>
          </a:solidFill>
          <a:ln w="12700">
            <a:solidFill>
              <a:schemeClr val="accent4"/>
            </a:solidFill>
            <a:prstDash val="solid"/>
          </a:ln>
        </p:spPr>
        <p:txBody>
          <a:bodyPr/>
          <a:lstStyle/>
          <a:p>
            <a:endParaRPr lang="en-IN"/>
          </a:p>
        </p:txBody>
      </p:sp>
      <p:pic>
        <p:nvPicPr>
          <p:cNvPr id="16" name="Image 1" descr="preencoded.png"/>
          <p:cNvPicPr>
            <a:picLocks noChangeAspect="1"/>
          </p:cNvPicPr>
          <p:nvPr/>
        </p:nvPicPr>
        <p:blipFill>
          <a:blip r:embed="rId4"/>
          <a:stretch>
            <a:fillRect/>
          </a:stretch>
        </p:blipFill>
        <p:spPr>
          <a:xfrm>
            <a:off x="3886200" y="4617720"/>
            <a:ext cx="182880" cy="182880"/>
          </a:xfrm>
          <a:prstGeom prst="rect">
            <a:avLst/>
          </a:prstGeom>
        </p:spPr>
      </p:pic>
      <p:sp>
        <p:nvSpPr>
          <p:cNvPr id="17" name="Text 13"/>
          <p:cNvSpPr txBox="1"/>
          <p:nvPr/>
        </p:nvSpPr>
        <p:spPr>
          <a:xfrm>
            <a:off x="4251960" y="4526280"/>
            <a:ext cx="2057400" cy="365760"/>
          </a:xfrm>
          <a:prstGeom prst="rect">
            <a:avLst/>
          </a:prstGeom>
          <a:noFill/>
          <a:ln/>
        </p:spPr>
        <p:txBody>
          <a:bodyPr wrap="square" lIns="0" tIns="0" rIns="0" bIns="0" rtlCol="0" anchor="ctr"/>
          <a:lstStyle/>
          <a:p>
            <a:pPr marL="0" indent="0">
              <a:buNone/>
            </a:pPr>
            <a:r>
              <a:rPr lang="en-US" sz="1500" b="1" dirty="0">
                <a:solidFill>
                  <a:schemeClr val="accent4"/>
                </a:solidFill>
              </a:rPr>
              <a:t>What did not</a:t>
            </a:r>
            <a:endParaRPr lang="en-US" sz="1500" dirty="0"/>
          </a:p>
        </p:txBody>
      </p:sp>
      <p:sp>
        <p:nvSpPr>
          <p:cNvPr id="18" name="Text 14"/>
          <p:cNvSpPr txBox="1"/>
          <p:nvPr/>
        </p:nvSpPr>
        <p:spPr>
          <a:xfrm>
            <a:off x="3794760" y="5029200"/>
            <a:ext cx="2514600"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S and F precision fell to ~0.7</a:t>
            </a:r>
            <a:endParaRPr lang="en-US" sz="1400" dirty="0"/>
          </a:p>
          <a:p>
            <a:pPr marL="342900" indent="-342900">
              <a:spcAft>
                <a:spcPts val="400"/>
              </a:spcAft>
              <a:buSzPct val="100000"/>
              <a:buChar char="•"/>
            </a:pPr>
            <a:r>
              <a:rPr lang="en-US" sz="1400" dirty="0">
                <a:solidFill>
                  <a:schemeClr val="tx1"/>
                </a:solidFill>
              </a:rPr>
              <a:t>Macro F1 did not improve</a:t>
            </a:r>
            <a:endParaRPr lang="en-US" sz="1400" dirty="0"/>
          </a:p>
        </p:txBody>
      </p:sp>
      <p:sp>
        <p:nvSpPr>
          <p:cNvPr id="19" name="Shape 15"/>
          <p:cNvSpPr/>
          <p:nvPr/>
        </p:nvSpPr>
        <p:spPr>
          <a:xfrm>
            <a:off x="6858000" y="1325880"/>
            <a:ext cx="2331720" cy="868680"/>
          </a:xfrm>
          <a:prstGeom prst="roundRect">
            <a:avLst>
              <a:gd name="adj" fmla="val 8421"/>
            </a:avLst>
          </a:prstGeom>
          <a:solidFill>
            <a:schemeClr val="bg2"/>
          </a:solidFill>
          <a:ln w="12700">
            <a:solidFill>
              <a:schemeClr val="bg2"/>
            </a:solidFill>
            <a:prstDash val="solid"/>
          </a:ln>
        </p:spPr>
        <p:txBody>
          <a:bodyPr/>
          <a:lstStyle/>
          <a:p>
            <a:endParaRPr lang="en-IN"/>
          </a:p>
        </p:txBody>
      </p:sp>
      <p:sp>
        <p:nvSpPr>
          <p:cNvPr id="20" name="Text 16"/>
          <p:cNvSpPr txBox="1"/>
          <p:nvPr/>
        </p:nvSpPr>
        <p:spPr>
          <a:xfrm>
            <a:off x="7040880" y="1417320"/>
            <a:ext cx="1965960" cy="477774"/>
          </a:xfrm>
          <a:prstGeom prst="rect">
            <a:avLst/>
          </a:prstGeom>
          <a:noFill/>
          <a:ln/>
        </p:spPr>
        <p:txBody>
          <a:bodyPr wrap="square" lIns="0" tIns="0" rIns="0" bIns="0" rtlCol="0" anchor="ctr"/>
          <a:lstStyle/>
          <a:p>
            <a:pPr marL="0" indent="0">
              <a:buNone/>
            </a:pPr>
            <a:r>
              <a:rPr lang="en-US" sz="2800" b="1" dirty="0">
                <a:solidFill>
                  <a:schemeClr val="tx2"/>
                </a:solidFill>
              </a:rPr>
              <a:t>97.7%</a:t>
            </a:r>
            <a:endParaRPr lang="en-US" sz="2800" dirty="0"/>
          </a:p>
        </p:txBody>
      </p:sp>
      <p:sp>
        <p:nvSpPr>
          <p:cNvPr id="21" name="Text 17"/>
          <p:cNvSpPr txBox="1"/>
          <p:nvPr/>
        </p:nvSpPr>
        <p:spPr>
          <a:xfrm>
            <a:off x="7040880" y="1864462"/>
            <a:ext cx="1282446" cy="260604"/>
          </a:xfrm>
          <a:prstGeom prst="rect">
            <a:avLst/>
          </a:prstGeom>
          <a:noFill/>
          <a:ln/>
        </p:spPr>
        <p:txBody>
          <a:bodyPr wrap="square" lIns="0" tIns="0" rIns="0" bIns="0" rtlCol="0" anchor="ctr"/>
          <a:lstStyle/>
          <a:p>
            <a:pPr marL="0" indent="0">
              <a:buNone/>
            </a:pPr>
            <a:r>
              <a:rPr lang="en-US" sz="1200" dirty="0">
                <a:solidFill>
                  <a:schemeClr val="accent5"/>
                </a:solidFill>
              </a:rPr>
              <a:t>Accuracy</a:t>
            </a:r>
            <a:endParaRPr lang="en-US" sz="1200" dirty="0"/>
          </a:p>
        </p:txBody>
      </p:sp>
      <p:sp>
        <p:nvSpPr>
          <p:cNvPr id="22" name="Text 18"/>
          <p:cNvSpPr txBox="1"/>
          <p:nvPr/>
        </p:nvSpPr>
        <p:spPr>
          <a:xfrm>
            <a:off x="8023860" y="1864462"/>
            <a:ext cx="982980" cy="260604"/>
          </a:xfrm>
          <a:prstGeom prst="rect">
            <a:avLst/>
          </a:prstGeom>
          <a:noFill/>
          <a:ln/>
        </p:spPr>
        <p:txBody>
          <a:bodyPr wrap="square" lIns="0" tIns="0" rIns="0" bIns="0" rtlCol="0" anchor="ctr"/>
          <a:lstStyle/>
          <a:p>
            <a:pPr marL="0" indent="0" algn="r">
              <a:buNone/>
            </a:pPr>
            <a:r>
              <a:rPr lang="en-US" sz="1200" b="1" dirty="0">
                <a:solidFill>
                  <a:schemeClr val="accent5"/>
                </a:solidFill>
              </a:rPr>
              <a:t>≈ same</a:t>
            </a:r>
            <a:endParaRPr lang="en-US" sz="1200" dirty="0"/>
          </a:p>
        </p:txBody>
      </p:sp>
      <p:sp>
        <p:nvSpPr>
          <p:cNvPr id="23" name="Shape 19"/>
          <p:cNvSpPr/>
          <p:nvPr/>
        </p:nvSpPr>
        <p:spPr>
          <a:xfrm>
            <a:off x="9326880" y="1325880"/>
            <a:ext cx="2331720" cy="868680"/>
          </a:xfrm>
          <a:prstGeom prst="roundRect">
            <a:avLst>
              <a:gd name="adj" fmla="val 8421"/>
            </a:avLst>
          </a:prstGeom>
          <a:solidFill>
            <a:schemeClr val="bg2"/>
          </a:solidFill>
          <a:ln w="12700">
            <a:solidFill>
              <a:schemeClr val="bg2"/>
            </a:solidFill>
            <a:prstDash val="solid"/>
          </a:ln>
        </p:spPr>
        <p:txBody>
          <a:bodyPr/>
          <a:lstStyle/>
          <a:p>
            <a:endParaRPr lang="en-IN"/>
          </a:p>
        </p:txBody>
      </p:sp>
      <p:sp>
        <p:nvSpPr>
          <p:cNvPr id="24" name="Text 20"/>
          <p:cNvSpPr txBox="1"/>
          <p:nvPr/>
        </p:nvSpPr>
        <p:spPr>
          <a:xfrm>
            <a:off x="9509760" y="1417320"/>
            <a:ext cx="1965960" cy="477774"/>
          </a:xfrm>
          <a:prstGeom prst="rect">
            <a:avLst/>
          </a:prstGeom>
          <a:noFill/>
          <a:ln/>
        </p:spPr>
        <p:txBody>
          <a:bodyPr wrap="square" lIns="0" tIns="0" rIns="0" bIns="0" rtlCol="0" anchor="ctr"/>
          <a:lstStyle/>
          <a:p>
            <a:pPr marL="0" indent="0">
              <a:buNone/>
            </a:pPr>
            <a:r>
              <a:rPr lang="en-US" sz="2800" b="1" dirty="0">
                <a:solidFill>
                  <a:schemeClr val="tx2"/>
                </a:solidFill>
              </a:rPr>
              <a:t>0.883</a:t>
            </a:r>
            <a:endParaRPr lang="en-US" sz="2800" dirty="0"/>
          </a:p>
        </p:txBody>
      </p:sp>
      <p:sp>
        <p:nvSpPr>
          <p:cNvPr id="25" name="Text 21"/>
          <p:cNvSpPr txBox="1"/>
          <p:nvPr/>
        </p:nvSpPr>
        <p:spPr>
          <a:xfrm>
            <a:off x="9509760" y="1864462"/>
            <a:ext cx="1282446" cy="260604"/>
          </a:xfrm>
          <a:prstGeom prst="rect">
            <a:avLst/>
          </a:prstGeom>
          <a:noFill/>
          <a:ln/>
        </p:spPr>
        <p:txBody>
          <a:bodyPr wrap="square" lIns="0" tIns="0" rIns="0" bIns="0" rtlCol="0" anchor="ctr"/>
          <a:lstStyle/>
          <a:p>
            <a:pPr marL="0" indent="0">
              <a:buNone/>
            </a:pPr>
            <a:r>
              <a:rPr lang="en-US" sz="1200" dirty="0">
                <a:solidFill>
                  <a:schemeClr val="accent5"/>
                </a:solidFill>
              </a:rPr>
              <a:t>Macro F1</a:t>
            </a:r>
            <a:endParaRPr lang="en-US" sz="1200" dirty="0"/>
          </a:p>
        </p:txBody>
      </p:sp>
      <p:sp>
        <p:nvSpPr>
          <p:cNvPr id="26" name="Text 22"/>
          <p:cNvSpPr txBox="1"/>
          <p:nvPr/>
        </p:nvSpPr>
        <p:spPr>
          <a:xfrm>
            <a:off x="10492740" y="1864462"/>
            <a:ext cx="982980" cy="260604"/>
          </a:xfrm>
          <a:prstGeom prst="rect">
            <a:avLst/>
          </a:prstGeom>
          <a:noFill/>
          <a:ln/>
        </p:spPr>
        <p:txBody>
          <a:bodyPr wrap="square" lIns="0" tIns="0" rIns="0" bIns="0" rtlCol="0" anchor="ctr"/>
          <a:lstStyle/>
          <a:p>
            <a:pPr marL="0" indent="0" algn="r">
              <a:buNone/>
            </a:pPr>
            <a:r>
              <a:rPr lang="en-US" sz="1200" b="1" dirty="0">
                <a:solidFill>
                  <a:schemeClr val="accent5"/>
                </a:solidFill>
              </a:rPr>
              <a:t>≈ same</a:t>
            </a:r>
            <a:endParaRPr lang="en-US" sz="1200" dirty="0"/>
          </a:p>
        </p:txBody>
      </p:sp>
      <p:sp>
        <p:nvSpPr>
          <p:cNvPr id="27" name="Shape 23"/>
          <p:cNvSpPr/>
          <p:nvPr/>
        </p:nvSpPr>
        <p:spPr>
          <a:xfrm>
            <a:off x="6858000" y="2331720"/>
            <a:ext cx="2331720" cy="868680"/>
          </a:xfrm>
          <a:prstGeom prst="roundRect">
            <a:avLst>
              <a:gd name="adj" fmla="val 8421"/>
            </a:avLst>
          </a:prstGeom>
          <a:solidFill>
            <a:schemeClr val="bg2"/>
          </a:solidFill>
          <a:ln w="12700">
            <a:solidFill>
              <a:schemeClr val="bg2"/>
            </a:solidFill>
            <a:prstDash val="solid"/>
          </a:ln>
        </p:spPr>
        <p:txBody>
          <a:bodyPr/>
          <a:lstStyle/>
          <a:p>
            <a:endParaRPr lang="en-IN"/>
          </a:p>
        </p:txBody>
      </p:sp>
      <p:sp>
        <p:nvSpPr>
          <p:cNvPr id="28" name="Text 24"/>
          <p:cNvSpPr txBox="1"/>
          <p:nvPr/>
        </p:nvSpPr>
        <p:spPr>
          <a:xfrm>
            <a:off x="7040880" y="2423160"/>
            <a:ext cx="1965960" cy="477774"/>
          </a:xfrm>
          <a:prstGeom prst="rect">
            <a:avLst/>
          </a:prstGeom>
          <a:noFill/>
          <a:ln/>
        </p:spPr>
        <p:txBody>
          <a:bodyPr wrap="square" lIns="0" tIns="0" rIns="0" bIns="0" rtlCol="0" anchor="ctr"/>
          <a:lstStyle/>
          <a:p>
            <a:pPr marL="0" indent="0">
              <a:buNone/>
            </a:pPr>
            <a:r>
              <a:rPr lang="en-US" sz="2800" b="1" dirty="0">
                <a:solidFill>
                  <a:schemeClr val="tx2"/>
                </a:solidFill>
              </a:rPr>
              <a:t>0.78</a:t>
            </a:r>
            <a:endParaRPr lang="en-US" sz="2800" dirty="0"/>
          </a:p>
        </p:txBody>
      </p:sp>
      <p:sp>
        <p:nvSpPr>
          <p:cNvPr id="29" name="Text 25"/>
          <p:cNvSpPr txBox="1"/>
          <p:nvPr/>
        </p:nvSpPr>
        <p:spPr>
          <a:xfrm>
            <a:off x="7040880" y="2870302"/>
            <a:ext cx="1282446" cy="260604"/>
          </a:xfrm>
          <a:prstGeom prst="rect">
            <a:avLst/>
          </a:prstGeom>
          <a:noFill/>
          <a:ln/>
        </p:spPr>
        <p:txBody>
          <a:bodyPr wrap="square" lIns="0" tIns="0" rIns="0" bIns="0" rtlCol="0" anchor="ctr"/>
          <a:lstStyle/>
          <a:p>
            <a:pPr marL="0" indent="0">
              <a:buNone/>
            </a:pPr>
            <a:r>
              <a:rPr lang="en-US" sz="1200" dirty="0">
                <a:solidFill>
                  <a:schemeClr val="accent5"/>
                </a:solidFill>
              </a:rPr>
              <a:t>Recall S</a:t>
            </a:r>
            <a:endParaRPr lang="en-US" sz="1200" dirty="0"/>
          </a:p>
        </p:txBody>
      </p:sp>
      <p:sp>
        <p:nvSpPr>
          <p:cNvPr id="30" name="Text 26"/>
          <p:cNvSpPr txBox="1"/>
          <p:nvPr/>
        </p:nvSpPr>
        <p:spPr>
          <a:xfrm>
            <a:off x="8023860" y="2870302"/>
            <a:ext cx="982980" cy="260604"/>
          </a:xfrm>
          <a:prstGeom prst="rect">
            <a:avLst/>
          </a:prstGeom>
          <a:noFill/>
          <a:ln/>
        </p:spPr>
        <p:txBody>
          <a:bodyPr wrap="square" lIns="0" tIns="0" rIns="0" bIns="0" rtlCol="0" anchor="ctr"/>
          <a:lstStyle/>
          <a:p>
            <a:pPr marL="0" indent="0" algn="r">
              <a:buNone/>
            </a:pPr>
            <a:r>
              <a:rPr lang="en-US" sz="1200" b="1" dirty="0">
                <a:solidFill>
                  <a:schemeClr val="accent3"/>
                </a:solidFill>
              </a:rPr>
              <a:t>▲ from 0.66</a:t>
            </a:r>
            <a:endParaRPr lang="en-US" sz="1200" dirty="0"/>
          </a:p>
        </p:txBody>
      </p:sp>
      <p:sp>
        <p:nvSpPr>
          <p:cNvPr id="31" name="Shape 27"/>
          <p:cNvSpPr/>
          <p:nvPr/>
        </p:nvSpPr>
        <p:spPr>
          <a:xfrm>
            <a:off x="9326880" y="2331720"/>
            <a:ext cx="2331720" cy="868680"/>
          </a:xfrm>
          <a:prstGeom prst="roundRect">
            <a:avLst>
              <a:gd name="adj" fmla="val 8421"/>
            </a:avLst>
          </a:prstGeom>
          <a:solidFill>
            <a:schemeClr val="bg2"/>
          </a:solidFill>
          <a:ln w="12700">
            <a:solidFill>
              <a:schemeClr val="bg2"/>
            </a:solidFill>
            <a:prstDash val="solid"/>
          </a:ln>
        </p:spPr>
        <p:txBody>
          <a:bodyPr/>
          <a:lstStyle/>
          <a:p>
            <a:endParaRPr lang="en-IN"/>
          </a:p>
        </p:txBody>
      </p:sp>
      <p:sp>
        <p:nvSpPr>
          <p:cNvPr id="32" name="Text 28"/>
          <p:cNvSpPr txBox="1"/>
          <p:nvPr/>
        </p:nvSpPr>
        <p:spPr>
          <a:xfrm>
            <a:off x="9509760" y="2423160"/>
            <a:ext cx="1965960" cy="477774"/>
          </a:xfrm>
          <a:prstGeom prst="rect">
            <a:avLst/>
          </a:prstGeom>
          <a:noFill/>
          <a:ln/>
        </p:spPr>
        <p:txBody>
          <a:bodyPr wrap="square" lIns="0" tIns="0" rIns="0" bIns="0" rtlCol="0" anchor="ctr"/>
          <a:lstStyle/>
          <a:p>
            <a:pPr marL="0" indent="0">
              <a:buNone/>
            </a:pPr>
            <a:r>
              <a:rPr lang="en-US" sz="2800" b="1" dirty="0">
                <a:solidFill>
                  <a:schemeClr val="tx2"/>
                </a:solidFill>
              </a:rPr>
              <a:t>0.80</a:t>
            </a:r>
            <a:endParaRPr lang="en-US" sz="2800" dirty="0"/>
          </a:p>
        </p:txBody>
      </p:sp>
      <p:sp>
        <p:nvSpPr>
          <p:cNvPr id="33" name="Text 29"/>
          <p:cNvSpPr txBox="1"/>
          <p:nvPr/>
        </p:nvSpPr>
        <p:spPr>
          <a:xfrm>
            <a:off x="9509760" y="2870302"/>
            <a:ext cx="1282446" cy="260604"/>
          </a:xfrm>
          <a:prstGeom prst="rect">
            <a:avLst/>
          </a:prstGeom>
          <a:noFill/>
          <a:ln/>
        </p:spPr>
        <p:txBody>
          <a:bodyPr wrap="square" lIns="0" tIns="0" rIns="0" bIns="0" rtlCol="0" anchor="ctr"/>
          <a:lstStyle/>
          <a:p>
            <a:pPr marL="0" indent="0">
              <a:buNone/>
            </a:pPr>
            <a:r>
              <a:rPr lang="en-US" sz="1200" dirty="0">
                <a:solidFill>
                  <a:schemeClr val="accent5"/>
                </a:solidFill>
              </a:rPr>
              <a:t>Recall F</a:t>
            </a:r>
            <a:endParaRPr lang="en-US" sz="1200" dirty="0"/>
          </a:p>
        </p:txBody>
      </p:sp>
      <p:sp>
        <p:nvSpPr>
          <p:cNvPr id="34" name="Text 30"/>
          <p:cNvSpPr txBox="1"/>
          <p:nvPr/>
        </p:nvSpPr>
        <p:spPr>
          <a:xfrm>
            <a:off x="10492740" y="2870302"/>
            <a:ext cx="982980" cy="260604"/>
          </a:xfrm>
          <a:prstGeom prst="rect">
            <a:avLst/>
          </a:prstGeom>
          <a:noFill/>
          <a:ln/>
        </p:spPr>
        <p:txBody>
          <a:bodyPr wrap="square" lIns="0" tIns="0" rIns="0" bIns="0" rtlCol="0" anchor="ctr"/>
          <a:lstStyle/>
          <a:p>
            <a:pPr marL="0" indent="0" algn="r">
              <a:buNone/>
            </a:pPr>
            <a:r>
              <a:rPr lang="en-US" sz="1200" b="1" dirty="0">
                <a:solidFill>
                  <a:schemeClr val="accent3"/>
                </a:solidFill>
              </a:rPr>
              <a:t>▲ from 0.71</a:t>
            </a:r>
            <a:endParaRPr lang="en-US" sz="1200" dirty="0"/>
          </a:p>
        </p:txBody>
      </p:sp>
      <p:graphicFrame>
        <p:nvGraphicFramePr>
          <p:cNvPr id="35" name="Chart 0"/>
          <p:cNvGraphicFramePr/>
          <p:nvPr/>
        </p:nvGraphicFramePr>
        <p:xfrm>
          <a:off x="6858000" y="3474720"/>
          <a:ext cx="4800600" cy="2743200"/>
        </p:xfrm>
        <a:graphic>
          <a:graphicData uri="http://schemas.openxmlformats.org/drawingml/2006/chart">
            <c:chart xmlns:c="http://schemas.openxmlformats.org/drawingml/2006/chart" xmlns:r="http://schemas.openxmlformats.org/officeDocument/2006/relationships" r:id="rId5"/>
          </a:graphicData>
        </a:graphic>
      </p:graphicFrame>
      <p:sp>
        <p:nvSpPr>
          <p:cNvPr id="3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C7A89"/>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rgbClr val="12263A"/>
                </a:solidFill>
              </a:rPr>
              <a:t>Step 5: 1D ResNet (deep residual CNN)</a:t>
            </a:r>
            <a:endParaRPr lang="en-US" sz="3200" dirty="0"/>
          </a:p>
        </p:txBody>
      </p:sp>
      <p:sp>
        <p:nvSpPr>
          <p:cNvPr id="3" name="Text 1"/>
          <p:cNvSpPr txBox="1"/>
          <p:nvPr/>
        </p:nvSpPr>
        <p:spPr>
          <a:xfrm>
            <a:off x="548640" y="1325880"/>
            <a:ext cx="5943600" cy="274320"/>
          </a:xfrm>
          <a:prstGeom prst="rect">
            <a:avLst/>
          </a:prstGeom>
          <a:noFill/>
          <a:ln/>
        </p:spPr>
        <p:txBody>
          <a:bodyPr wrap="square" lIns="0" tIns="0" rIns="0" bIns="0" rtlCol="0" anchor="t"/>
          <a:lstStyle/>
          <a:p>
            <a:pPr marL="0" indent="0">
              <a:buNone/>
            </a:pPr>
            <a:r>
              <a:rPr lang="en-US" sz="1500" b="1" dirty="0">
                <a:solidFill>
                  <a:schemeClr val="accent1"/>
                </a:solidFill>
              </a:rPr>
              <a:t>Why this step?</a:t>
            </a:r>
            <a:endParaRPr lang="en-US" sz="1500" dirty="0"/>
          </a:p>
        </p:txBody>
      </p:sp>
      <p:sp>
        <p:nvSpPr>
          <p:cNvPr id="4" name="Text 2"/>
          <p:cNvSpPr txBox="1"/>
          <p:nvPr/>
        </p:nvSpPr>
        <p:spPr>
          <a:xfrm>
            <a:off x="548640" y="1618488"/>
            <a:ext cx="5943600" cy="658368"/>
          </a:xfrm>
          <a:prstGeom prst="rect">
            <a:avLst/>
          </a:prstGeom>
          <a:noFill/>
          <a:ln/>
        </p:spPr>
        <p:txBody>
          <a:bodyPr wrap="square" lIns="0" tIns="0" rIns="0" bIns="0" rtlCol="0" anchor="t"/>
          <a:lstStyle/>
          <a:p>
            <a:pPr marL="0" indent="0">
              <a:buNone/>
            </a:pPr>
            <a:r>
              <a:rPr lang="en-US" sz="1400" dirty="0">
                <a:solidFill>
                  <a:schemeClr val="tx1"/>
                </a:solidFill>
              </a:rPr>
              <a:t>Step 4 bought recall with precision. Can a better model raise both? The shallow CNN was the limit.</a:t>
            </a:r>
            <a:endParaRPr lang="en-US" sz="1400" dirty="0"/>
          </a:p>
        </p:txBody>
      </p:sp>
      <p:sp>
        <p:nvSpPr>
          <p:cNvPr id="5" name="Text 3"/>
          <p:cNvSpPr txBox="1"/>
          <p:nvPr/>
        </p:nvSpPr>
        <p:spPr>
          <a:xfrm>
            <a:off x="548640" y="2313432"/>
            <a:ext cx="5943600" cy="274320"/>
          </a:xfrm>
          <a:prstGeom prst="rect">
            <a:avLst/>
          </a:prstGeom>
          <a:noFill/>
          <a:ln/>
        </p:spPr>
        <p:txBody>
          <a:bodyPr wrap="square" lIns="0" tIns="0" rIns="0" bIns="0" rtlCol="0" anchor="t"/>
          <a:lstStyle/>
          <a:p>
            <a:pPr marL="0" indent="0">
              <a:buNone/>
            </a:pPr>
            <a:r>
              <a:rPr lang="en-US" sz="1500" b="1" dirty="0">
                <a:solidFill>
                  <a:schemeClr val="accent1"/>
                </a:solidFill>
              </a:rPr>
              <a:t>What we changed</a:t>
            </a:r>
            <a:endParaRPr lang="en-US" sz="1500" dirty="0"/>
          </a:p>
        </p:txBody>
      </p:sp>
      <p:sp>
        <p:nvSpPr>
          <p:cNvPr id="6" name="Text 4"/>
          <p:cNvSpPr txBox="1"/>
          <p:nvPr/>
        </p:nvSpPr>
        <p:spPr>
          <a:xfrm>
            <a:off x="548640" y="2606040"/>
            <a:ext cx="5943600" cy="658368"/>
          </a:xfrm>
          <a:prstGeom prst="rect">
            <a:avLst/>
          </a:prstGeom>
          <a:noFill/>
          <a:ln/>
        </p:spPr>
        <p:txBody>
          <a:bodyPr wrap="square" lIns="0" tIns="0" rIns="0" bIns="0" rtlCol="0" anchor="t"/>
          <a:lstStyle/>
          <a:p>
            <a:pPr marL="0" indent="0">
              <a:buNone/>
            </a:pPr>
            <a:r>
              <a:rPr lang="en-US" sz="1400" dirty="0">
                <a:solidFill>
                  <a:schemeClr val="tx1"/>
                </a:solidFill>
              </a:rPr>
              <a:t>Only the architecture: a deep CNN with skip connections. Same √ weights and 30 epochs as Step 4.</a:t>
            </a:r>
            <a:endParaRPr lang="en-US" sz="1400" dirty="0"/>
          </a:p>
        </p:txBody>
      </p:sp>
      <p:sp>
        <p:nvSpPr>
          <p:cNvPr id="7" name="Text 5"/>
          <p:cNvSpPr txBox="1"/>
          <p:nvPr/>
        </p:nvSpPr>
        <p:spPr>
          <a:xfrm>
            <a:off x="548640" y="3300984"/>
            <a:ext cx="5943600" cy="274320"/>
          </a:xfrm>
          <a:prstGeom prst="rect">
            <a:avLst/>
          </a:prstGeom>
          <a:noFill/>
          <a:ln/>
        </p:spPr>
        <p:txBody>
          <a:bodyPr wrap="square" lIns="0" tIns="0" rIns="0" bIns="0" rtlCol="0" anchor="t"/>
          <a:lstStyle/>
          <a:p>
            <a:pPr marL="0" indent="0">
              <a:buNone/>
            </a:pPr>
            <a:r>
              <a:rPr lang="en-US" sz="1500" b="1" dirty="0">
                <a:solidFill>
                  <a:schemeClr val="accent1"/>
                </a:solidFill>
              </a:rPr>
              <a:t>Intuition</a:t>
            </a:r>
            <a:endParaRPr lang="en-US" sz="1500" dirty="0"/>
          </a:p>
        </p:txBody>
      </p:sp>
      <p:sp>
        <p:nvSpPr>
          <p:cNvPr id="8" name="Text 6"/>
          <p:cNvSpPr txBox="1"/>
          <p:nvPr/>
        </p:nvSpPr>
        <p:spPr>
          <a:xfrm>
            <a:off x="548640" y="3593592"/>
            <a:ext cx="5943600" cy="658368"/>
          </a:xfrm>
          <a:prstGeom prst="rect">
            <a:avLst/>
          </a:prstGeom>
          <a:noFill/>
          <a:ln/>
        </p:spPr>
        <p:txBody>
          <a:bodyPr wrap="square" lIns="0" tIns="0" rIns="0" bIns="0" rtlCol="0" anchor="t"/>
          <a:lstStyle/>
          <a:p>
            <a:pPr marL="0" indent="0">
              <a:buNone/>
            </a:pPr>
            <a:r>
              <a:rPr lang="en-US" sz="1400" dirty="0">
                <a:solidFill>
                  <a:schemeClr val="tx1"/>
                </a:solidFill>
              </a:rPr>
              <a:t>A deep CNN sees the whole beat, timing included. Skip connections (out = out + x) let it train well even with 11 layers.</a:t>
            </a:r>
            <a:endParaRPr lang="en-US" sz="1400" dirty="0"/>
          </a:p>
        </p:txBody>
      </p:sp>
      <p:sp>
        <p:nvSpPr>
          <p:cNvPr id="9" name="Shape 7"/>
          <p:cNvSpPr/>
          <p:nvPr/>
        </p:nvSpPr>
        <p:spPr>
          <a:xfrm>
            <a:off x="548640" y="4343400"/>
            <a:ext cx="2880360" cy="1874520"/>
          </a:xfrm>
          <a:prstGeom prst="roundRect">
            <a:avLst>
              <a:gd name="adj" fmla="val 3902"/>
            </a:avLst>
          </a:prstGeom>
          <a:solidFill>
            <a:srgbClr val="E7F1E8"/>
          </a:solidFill>
          <a:ln w="12700">
            <a:solidFill>
              <a:srgbClr val="E7F1E8"/>
            </a:solidFill>
            <a:prstDash val="solid"/>
          </a:ln>
        </p:spPr>
        <p:txBody>
          <a:bodyPr/>
          <a:lstStyle/>
          <a:p>
            <a:endParaRPr lang="en-IN"/>
          </a:p>
        </p:txBody>
      </p:sp>
      <p:sp>
        <p:nvSpPr>
          <p:cNvPr id="10" name="Shape 8"/>
          <p:cNvSpPr/>
          <p:nvPr/>
        </p:nvSpPr>
        <p:spPr>
          <a:xfrm>
            <a:off x="731520" y="4526280"/>
            <a:ext cx="365760" cy="365760"/>
          </a:xfrm>
          <a:prstGeom prst="ellipse">
            <a:avLst/>
          </a:prstGeom>
          <a:solidFill>
            <a:schemeClr val="accent3"/>
          </a:solidFill>
          <a:ln w="12700">
            <a:solidFill>
              <a:schemeClr val="accent3"/>
            </a:solidFill>
            <a:prstDash val="solid"/>
          </a:ln>
        </p:spPr>
        <p:txBody>
          <a:bodyPr/>
          <a:lstStyle/>
          <a:p>
            <a:endParaRPr lang="en-IN"/>
          </a:p>
        </p:txBody>
      </p:sp>
      <p:pic>
        <p:nvPicPr>
          <p:cNvPr id="11" name="Image 0" descr="preencoded.png"/>
          <p:cNvPicPr>
            <a:picLocks noChangeAspect="1"/>
          </p:cNvPicPr>
          <p:nvPr/>
        </p:nvPicPr>
        <p:blipFill>
          <a:blip r:embed="rId3"/>
          <a:stretch>
            <a:fillRect/>
          </a:stretch>
        </p:blipFill>
        <p:spPr>
          <a:xfrm>
            <a:off x="822960" y="4617720"/>
            <a:ext cx="182880" cy="182880"/>
          </a:xfrm>
          <a:prstGeom prst="rect">
            <a:avLst/>
          </a:prstGeom>
        </p:spPr>
      </p:pic>
      <p:sp>
        <p:nvSpPr>
          <p:cNvPr id="12" name="Text 9"/>
          <p:cNvSpPr txBox="1"/>
          <p:nvPr/>
        </p:nvSpPr>
        <p:spPr>
          <a:xfrm>
            <a:off x="1188720" y="4526280"/>
            <a:ext cx="2057400" cy="365760"/>
          </a:xfrm>
          <a:prstGeom prst="rect">
            <a:avLst/>
          </a:prstGeom>
          <a:noFill/>
          <a:ln/>
        </p:spPr>
        <p:txBody>
          <a:bodyPr wrap="square" lIns="0" tIns="0" rIns="0" bIns="0" rtlCol="0" anchor="ctr"/>
          <a:lstStyle/>
          <a:p>
            <a:pPr marL="0" indent="0">
              <a:buNone/>
            </a:pPr>
            <a:r>
              <a:rPr lang="en-US" sz="1500" b="1" dirty="0">
                <a:solidFill>
                  <a:schemeClr val="accent3"/>
                </a:solidFill>
              </a:rPr>
              <a:t>What worked</a:t>
            </a:r>
            <a:endParaRPr lang="en-US" sz="1500" dirty="0"/>
          </a:p>
        </p:txBody>
      </p:sp>
      <p:sp>
        <p:nvSpPr>
          <p:cNvPr id="13" name="Text 10"/>
          <p:cNvSpPr txBox="1"/>
          <p:nvPr/>
        </p:nvSpPr>
        <p:spPr>
          <a:xfrm>
            <a:off x="731520" y="5029200"/>
            <a:ext cx="2514600"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Recall AND precision both improve</a:t>
            </a:r>
            <a:endParaRPr lang="en-US" sz="1400" dirty="0"/>
          </a:p>
          <a:p>
            <a:pPr marL="342900" indent="-342900">
              <a:spcAft>
                <a:spcPts val="400"/>
              </a:spcAft>
              <a:buSzPct val="100000"/>
              <a:buChar char="•"/>
            </a:pPr>
            <a:r>
              <a:rPr lang="en-US" sz="1400" dirty="0">
                <a:solidFill>
                  <a:schemeClr val="tx1"/>
                </a:solidFill>
              </a:rPr>
              <a:t>Fewer parameters than Step 4 (54k)</a:t>
            </a:r>
            <a:endParaRPr lang="en-US" sz="1400" dirty="0"/>
          </a:p>
        </p:txBody>
      </p:sp>
      <p:sp>
        <p:nvSpPr>
          <p:cNvPr id="14" name="Shape 11"/>
          <p:cNvSpPr/>
          <p:nvPr/>
        </p:nvSpPr>
        <p:spPr>
          <a:xfrm>
            <a:off x="3611880" y="4343400"/>
            <a:ext cx="2880360" cy="1874520"/>
          </a:xfrm>
          <a:prstGeom prst="roundRect">
            <a:avLst>
              <a:gd name="adj" fmla="val 3902"/>
            </a:avLst>
          </a:prstGeom>
          <a:solidFill>
            <a:srgbClr val="FBEFE3"/>
          </a:solidFill>
          <a:ln w="12700">
            <a:solidFill>
              <a:srgbClr val="FBEFE3"/>
            </a:solidFill>
            <a:prstDash val="solid"/>
          </a:ln>
        </p:spPr>
        <p:txBody>
          <a:bodyPr/>
          <a:lstStyle/>
          <a:p>
            <a:endParaRPr lang="en-IN"/>
          </a:p>
        </p:txBody>
      </p:sp>
      <p:sp>
        <p:nvSpPr>
          <p:cNvPr id="15" name="Shape 12"/>
          <p:cNvSpPr/>
          <p:nvPr/>
        </p:nvSpPr>
        <p:spPr>
          <a:xfrm>
            <a:off x="3794760" y="4526280"/>
            <a:ext cx="365760" cy="365760"/>
          </a:xfrm>
          <a:prstGeom prst="ellipse">
            <a:avLst/>
          </a:prstGeom>
          <a:solidFill>
            <a:schemeClr val="accent4"/>
          </a:solidFill>
          <a:ln w="12700">
            <a:solidFill>
              <a:schemeClr val="accent4"/>
            </a:solidFill>
            <a:prstDash val="solid"/>
          </a:ln>
        </p:spPr>
        <p:txBody>
          <a:bodyPr/>
          <a:lstStyle/>
          <a:p>
            <a:endParaRPr lang="en-IN"/>
          </a:p>
        </p:txBody>
      </p:sp>
      <p:pic>
        <p:nvPicPr>
          <p:cNvPr id="16" name="Image 1" descr="preencoded.png"/>
          <p:cNvPicPr>
            <a:picLocks noChangeAspect="1"/>
          </p:cNvPicPr>
          <p:nvPr/>
        </p:nvPicPr>
        <p:blipFill>
          <a:blip r:embed="rId4"/>
          <a:stretch>
            <a:fillRect/>
          </a:stretch>
        </p:blipFill>
        <p:spPr>
          <a:xfrm>
            <a:off x="3886200" y="4617720"/>
            <a:ext cx="182880" cy="182880"/>
          </a:xfrm>
          <a:prstGeom prst="rect">
            <a:avLst/>
          </a:prstGeom>
        </p:spPr>
      </p:pic>
      <p:sp>
        <p:nvSpPr>
          <p:cNvPr id="17" name="Text 13"/>
          <p:cNvSpPr txBox="1"/>
          <p:nvPr/>
        </p:nvSpPr>
        <p:spPr>
          <a:xfrm>
            <a:off x="4251960" y="4526280"/>
            <a:ext cx="2057400" cy="365760"/>
          </a:xfrm>
          <a:prstGeom prst="rect">
            <a:avLst/>
          </a:prstGeom>
          <a:noFill/>
          <a:ln/>
        </p:spPr>
        <p:txBody>
          <a:bodyPr wrap="square" lIns="0" tIns="0" rIns="0" bIns="0" rtlCol="0" anchor="ctr"/>
          <a:lstStyle/>
          <a:p>
            <a:pPr marL="0" indent="0">
              <a:buNone/>
            </a:pPr>
            <a:r>
              <a:rPr lang="en-US" sz="1500" b="1" dirty="0">
                <a:solidFill>
                  <a:schemeClr val="accent4"/>
                </a:solidFill>
              </a:rPr>
              <a:t>What did not</a:t>
            </a:r>
            <a:endParaRPr lang="en-US" sz="1500" dirty="0"/>
          </a:p>
        </p:txBody>
      </p:sp>
      <p:sp>
        <p:nvSpPr>
          <p:cNvPr id="18" name="Text 14"/>
          <p:cNvSpPr txBox="1"/>
          <p:nvPr/>
        </p:nvSpPr>
        <p:spPr>
          <a:xfrm>
            <a:off x="3794760" y="5029200"/>
            <a:ext cx="2514600"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Slowest to train (~3.7 min)</a:t>
            </a:r>
            <a:endParaRPr lang="en-US" sz="1400" dirty="0"/>
          </a:p>
          <a:p>
            <a:pPr marL="342900" indent="-342900">
              <a:spcAft>
                <a:spcPts val="400"/>
              </a:spcAft>
              <a:buSzPct val="100000"/>
              <a:buChar char="•"/>
            </a:pPr>
            <a:r>
              <a:rPr lang="en-US" sz="1400" dirty="0">
                <a:solidFill>
                  <a:schemeClr val="tx1"/>
                </a:solidFill>
              </a:rPr>
              <a:t>Validation F1 jumps between epochs</a:t>
            </a:r>
            <a:endParaRPr lang="en-US" sz="1400" dirty="0"/>
          </a:p>
        </p:txBody>
      </p:sp>
      <p:sp>
        <p:nvSpPr>
          <p:cNvPr id="19" name="Shape 15"/>
          <p:cNvSpPr/>
          <p:nvPr/>
        </p:nvSpPr>
        <p:spPr>
          <a:xfrm>
            <a:off x="6858000" y="1325880"/>
            <a:ext cx="2331720" cy="868680"/>
          </a:xfrm>
          <a:prstGeom prst="roundRect">
            <a:avLst>
              <a:gd name="adj" fmla="val 8421"/>
            </a:avLst>
          </a:prstGeom>
          <a:solidFill>
            <a:schemeClr val="tx2"/>
          </a:solidFill>
          <a:ln w="12700">
            <a:solidFill>
              <a:schemeClr val="tx2"/>
            </a:solidFill>
            <a:prstDash val="solid"/>
          </a:ln>
        </p:spPr>
        <p:txBody>
          <a:bodyPr/>
          <a:lstStyle/>
          <a:p>
            <a:endParaRPr lang="en-IN"/>
          </a:p>
        </p:txBody>
      </p:sp>
      <p:sp>
        <p:nvSpPr>
          <p:cNvPr id="20" name="Text 16"/>
          <p:cNvSpPr txBox="1"/>
          <p:nvPr/>
        </p:nvSpPr>
        <p:spPr>
          <a:xfrm>
            <a:off x="7040880" y="1417320"/>
            <a:ext cx="1965960" cy="477774"/>
          </a:xfrm>
          <a:prstGeom prst="rect">
            <a:avLst/>
          </a:prstGeom>
          <a:noFill/>
          <a:ln/>
        </p:spPr>
        <p:txBody>
          <a:bodyPr wrap="square" lIns="0" tIns="0" rIns="0" bIns="0" rtlCol="0" anchor="ctr"/>
          <a:lstStyle/>
          <a:p>
            <a:pPr marL="0" indent="0">
              <a:buNone/>
            </a:pPr>
            <a:r>
              <a:rPr lang="en-US" sz="2800" b="1" dirty="0">
                <a:solidFill>
                  <a:schemeClr val="bg1"/>
                </a:solidFill>
              </a:rPr>
              <a:t>98.6%</a:t>
            </a:r>
            <a:endParaRPr lang="en-US" sz="2800" dirty="0"/>
          </a:p>
        </p:txBody>
      </p:sp>
      <p:sp>
        <p:nvSpPr>
          <p:cNvPr id="21" name="Text 17"/>
          <p:cNvSpPr txBox="1"/>
          <p:nvPr/>
        </p:nvSpPr>
        <p:spPr>
          <a:xfrm>
            <a:off x="7040880" y="1864462"/>
            <a:ext cx="1282446" cy="260604"/>
          </a:xfrm>
          <a:prstGeom prst="rect">
            <a:avLst/>
          </a:prstGeom>
          <a:noFill/>
          <a:ln/>
        </p:spPr>
        <p:txBody>
          <a:bodyPr wrap="square" lIns="0" tIns="0" rIns="0" bIns="0" rtlCol="0" anchor="ctr"/>
          <a:lstStyle/>
          <a:p>
            <a:pPr marL="0" indent="0">
              <a:buNone/>
            </a:pPr>
            <a:r>
              <a:rPr lang="en-US" sz="1200" dirty="0">
                <a:solidFill>
                  <a:srgbClr val="CADCFC"/>
                </a:solidFill>
              </a:rPr>
              <a:t>Accuracy</a:t>
            </a:r>
            <a:endParaRPr lang="en-US" sz="1200" dirty="0"/>
          </a:p>
        </p:txBody>
      </p:sp>
      <p:sp>
        <p:nvSpPr>
          <p:cNvPr id="22" name="Text 18"/>
          <p:cNvSpPr txBox="1"/>
          <p:nvPr/>
        </p:nvSpPr>
        <p:spPr>
          <a:xfrm>
            <a:off x="8023860" y="1864462"/>
            <a:ext cx="982980" cy="260604"/>
          </a:xfrm>
          <a:prstGeom prst="rect">
            <a:avLst/>
          </a:prstGeom>
          <a:noFill/>
          <a:ln/>
        </p:spPr>
        <p:txBody>
          <a:bodyPr wrap="square" lIns="0" tIns="0" rIns="0" bIns="0" rtlCol="0" anchor="ctr"/>
          <a:lstStyle/>
          <a:p>
            <a:pPr marL="0" indent="0" algn="r">
              <a:buNone/>
            </a:pPr>
            <a:r>
              <a:rPr lang="en-US" sz="1200" b="1" dirty="0">
                <a:solidFill>
                  <a:srgbClr val="9BE3A8"/>
                </a:solidFill>
              </a:rPr>
              <a:t>▲ best</a:t>
            </a:r>
            <a:endParaRPr lang="en-US" sz="1200" dirty="0"/>
          </a:p>
        </p:txBody>
      </p:sp>
      <p:sp>
        <p:nvSpPr>
          <p:cNvPr id="23" name="Shape 19"/>
          <p:cNvSpPr/>
          <p:nvPr/>
        </p:nvSpPr>
        <p:spPr>
          <a:xfrm>
            <a:off x="9326880" y="1325880"/>
            <a:ext cx="2331720" cy="868680"/>
          </a:xfrm>
          <a:prstGeom prst="roundRect">
            <a:avLst>
              <a:gd name="adj" fmla="val 8421"/>
            </a:avLst>
          </a:prstGeom>
          <a:solidFill>
            <a:schemeClr val="tx2"/>
          </a:solidFill>
          <a:ln w="12700">
            <a:solidFill>
              <a:schemeClr val="tx2"/>
            </a:solidFill>
            <a:prstDash val="solid"/>
          </a:ln>
        </p:spPr>
        <p:txBody>
          <a:bodyPr/>
          <a:lstStyle/>
          <a:p>
            <a:endParaRPr lang="en-IN"/>
          </a:p>
        </p:txBody>
      </p:sp>
      <p:sp>
        <p:nvSpPr>
          <p:cNvPr id="24" name="Text 20"/>
          <p:cNvSpPr txBox="1"/>
          <p:nvPr/>
        </p:nvSpPr>
        <p:spPr>
          <a:xfrm>
            <a:off x="9509760" y="1417320"/>
            <a:ext cx="1965960" cy="477774"/>
          </a:xfrm>
          <a:prstGeom prst="rect">
            <a:avLst/>
          </a:prstGeom>
          <a:noFill/>
          <a:ln/>
        </p:spPr>
        <p:txBody>
          <a:bodyPr wrap="square" lIns="0" tIns="0" rIns="0" bIns="0" rtlCol="0" anchor="ctr"/>
          <a:lstStyle/>
          <a:p>
            <a:pPr marL="0" indent="0">
              <a:buNone/>
            </a:pPr>
            <a:r>
              <a:rPr lang="en-US" sz="2800" b="1" dirty="0">
                <a:solidFill>
                  <a:schemeClr val="bg1"/>
                </a:solidFill>
              </a:rPr>
              <a:t>0.920</a:t>
            </a:r>
            <a:endParaRPr lang="en-US" sz="2800" dirty="0"/>
          </a:p>
        </p:txBody>
      </p:sp>
      <p:sp>
        <p:nvSpPr>
          <p:cNvPr id="25" name="Text 21"/>
          <p:cNvSpPr txBox="1"/>
          <p:nvPr/>
        </p:nvSpPr>
        <p:spPr>
          <a:xfrm>
            <a:off x="9509760" y="1864462"/>
            <a:ext cx="1282446" cy="260604"/>
          </a:xfrm>
          <a:prstGeom prst="rect">
            <a:avLst/>
          </a:prstGeom>
          <a:noFill/>
          <a:ln/>
        </p:spPr>
        <p:txBody>
          <a:bodyPr wrap="square" lIns="0" tIns="0" rIns="0" bIns="0" rtlCol="0" anchor="ctr"/>
          <a:lstStyle/>
          <a:p>
            <a:pPr marL="0" indent="0">
              <a:buNone/>
            </a:pPr>
            <a:r>
              <a:rPr lang="en-US" sz="1200" dirty="0">
                <a:solidFill>
                  <a:srgbClr val="CADCFC"/>
                </a:solidFill>
              </a:rPr>
              <a:t>Macro F1</a:t>
            </a:r>
            <a:endParaRPr lang="en-US" sz="1200" dirty="0"/>
          </a:p>
        </p:txBody>
      </p:sp>
      <p:sp>
        <p:nvSpPr>
          <p:cNvPr id="26" name="Text 22"/>
          <p:cNvSpPr txBox="1"/>
          <p:nvPr/>
        </p:nvSpPr>
        <p:spPr>
          <a:xfrm>
            <a:off x="10492740" y="1864462"/>
            <a:ext cx="982980" cy="260604"/>
          </a:xfrm>
          <a:prstGeom prst="rect">
            <a:avLst/>
          </a:prstGeom>
          <a:noFill/>
          <a:ln/>
        </p:spPr>
        <p:txBody>
          <a:bodyPr wrap="square" lIns="0" tIns="0" rIns="0" bIns="0" rtlCol="0" anchor="ctr"/>
          <a:lstStyle/>
          <a:p>
            <a:pPr marL="0" indent="0" algn="r">
              <a:buNone/>
            </a:pPr>
            <a:r>
              <a:rPr lang="en-US" sz="1200" b="1" dirty="0">
                <a:solidFill>
                  <a:srgbClr val="9BE3A8"/>
                </a:solidFill>
              </a:rPr>
              <a:t>▲ best</a:t>
            </a:r>
            <a:endParaRPr lang="en-US" sz="1200" dirty="0"/>
          </a:p>
        </p:txBody>
      </p:sp>
      <p:sp>
        <p:nvSpPr>
          <p:cNvPr id="27" name="Shape 23"/>
          <p:cNvSpPr/>
          <p:nvPr/>
        </p:nvSpPr>
        <p:spPr>
          <a:xfrm>
            <a:off x="6858000" y="2331720"/>
            <a:ext cx="2331720" cy="868680"/>
          </a:xfrm>
          <a:prstGeom prst="roundRect">
            <a:avLst>
              <a:gd name="adj" fmla="val 8421"/>
            </a:avLst>
          </a:prstGeom>
          <a:solidFill>
            <a:schemeClr val="bg2"/>
          </a:solidFill>
          <a:ln w="12700">
            <a:solidFill>
              <a:schemeClr val="bg2"/>
            </a:solidFill>
            <a:prstDash val="solid"/>
          </a:ln>
        </p:spPr>
        <p:txBody>
          <a:bodyPr/>
          <a:lstStyle/>
          <a:p>
            <a:endParaRPr lang="en-IN"/>
          </a:p>
        </p:txBody>
      </p:sp>
      <p:sp>
        <p:nvSpPr>
          <p:cNvPr id="28" name="Text 24"/>
          <p:cNvSpPr txBox="1"/>
          <p:nvPr/>
        </p:nvSpPr>
        <p:spPr>
          <a:xfrm>
            <a:off x="7040880" y="2423160"/>
            <a:ext cx="1965960" cy="477774"/>
          </a:xfrm>
          <a:prstGeom prst="rect">
            <a:avLst/>
          </a:prstGeom>
          <a:noFill/>
          <a:ln/>
        </p:spPr>
        <p:txBody>
          <a:bodyPr wrap="square" lIns="0" tIns="0" rIns="0" bIns="0" rtlCol="0" anchor="ctr"/>
          <a:lstStyle/>
          <a:p>
            <a:pPr marL="0" indent="0">
              <a:buNone/>
            </a:pPr>
            <a:r>
              <a:rPr lang="en-US" sz="2800" b="1" dirty="0">
                <a:solidFill>
                  <a:schemeClr val="tx2"/>
                </a:solidFill>
              </a:rPr>
              <a:t>0.84</a:t>
            </a:r>
            <a:endParaRPr lang="en-US" sz="2800" dirty="0"/>
          </a:p>
        </p:txBody>
      </p:sp>
      <p:sp>
        <p:nvSpPr>
          <p:cNvPr id="29" name="Text 25"/>
          <p:cNvSpPr txBox="1"/>
          <p:nvPr/>
        </p:nvSpPr>
        <p:spPr>
          <a:xfrm>
            <a:off x="7040880" y="2870302"/>
            <a:ext cx="1282446" cy="260604"/>
          </a:xfrm>
          <a:prstGeom prst="rect">
            <a:avLst/>
          </a:prstGeom>
          <a:noFill/>
          <a:ln/>
        </p:spPr>
        <p:txBody>
          <a:bodyPr wrap="square" lIns="0" tIns="0" rIns="0" bIns="0" rtlCol="0" anchor="ctr"/>
          <a:lstStyle/>
          <a:p>
            <a:pPr marL="0" indent="0">
              <a:buNone/>
            </a:pPr>
            <a:r>
              <a:rPr lang="en-US" sz="1200" dirty="0">
                <a:solidFill>
                  <a:schemeClr val="accent5"/>
                </a:solidFill>
              </a:rPr>
              <a:t>Recall S</a:t>
            </a:r>
            <a:endParaRPr lang="en-US" sz="1200" dirty="0"/>
          </a:p>
        </p:txBody>
      </p:sp>
      <p:sp>
        <p:nvSpPr>
          <p:cNvPr id="30" name="Text 26"/>
          <p:cNvSpPr txBox="1"/>
          <p:nvPr/>
        </p:nvSpPr>
        <p:spPr>
          <a:xfrm>
            <a:off x="8023860" y="2870302"/>
            <a:ext cx="982980" cy="260604"/>
          </a:xfrm>
          <a:prstGeom prst="rect">
            <a:avLst/>
          </a:prstGeom>
          <a:noFill/>
          <a:ln/>
        </p:spPr>
        <p:txBody>
          <a:bodyPr wrap="square" lIns="0" tIns="0" rIns="0" bIns="0" rtlCol="0" anchor="ctr"/>
          <a:lstStyle/>
          <a:p>
            <a:pPr marL="0" indent="0" algn="r">
              <a:buNone/>
            </a:pPr>
            <a:r>
              <a:rPr lang="en-US" sz="1200" b="1" dirty="0">
                <a:solidFill>
                  <a:schemeClr val="accent3"/>
                </a:solidFill>
              </a:rPr>
              <a:t>▲ from 0.78</a:t>
            </a:r>
            <a:endParaRPr lang="en-US" sz="1200" dirty="0"/>
          </a:p>
        </p:txBody>
      </p:sp>
      <p:sp>
        <p:nvSpPr>
          <p:cNvPr id="31" name="Shape 27"/>
          <p:cNvSpPr/>
          <p:nvPr/>
        </p:nvSpPr>
        <p:spPr>
          <a:xfrm>
            <a:off x="9326880" y="2331720"/>
            <a:ext cx="2331720" cy="868680"/>
          </a:xfrm>
          <a:prstGeom prst="roundRect">
            <a:avLst>
              <a:gd name="adj" fmla="val 8421"/>
            </a:avLst>
          </a:prstGeom>
          <a:solidFill>
            <a:schemeClr val="bg2"/>
          </a:solidFill>
          <a:ln w="12700">
            <a:solidFill>
              <a:schemeClr val="bg2"/>
            </a:solidFill>
            <a:prstDash val="solid"/>
          </a:ln>
        </p:spPr>
        <p:txBody>
          <a:bodyPr/>
          <a:lstStyle/>
          <a:p>
            <a:endParaRPr lang="en-IN"/>
          </a:p>
        </p:txBody>
      </p:sp>
      <p:sp>
        <p:nvSpPr>
          <p:cNvPr id="32" name="Text 28"/>
          <p:cNvSpPr txBox="1"/>
          <p:nvPr/>
        </p:nvSpPr>
        <p:spPr>
          <a:xfrm>
            <a:off x="9509760" y="2423160"/>
            <a:ext cx="1965960" cy="477774"/>
          </a:xfrm>
          <a:prstGeom prst="rect">
            <a:avLst/>
          </a:prstGeom>
          <a:noFill/>
          <a:ln/>
        </p:spPr>
        <p:txBody>
          <a:bodyPr wrap="square" lIns="0" tIns="0" rIns="0" bIns="0" rtlCol="0" anchor="ctr"/>
          <a:lstStyle/>
          <a:p>
            <a:pPr marL="0" indent="0">
              <a:buNone/>
            </a:pPr>
            <a:r>
              <a:rPr lang="en-US" sz="2800" b="1" dirty="0">
                <a:solidFill>
                  <a:schemeClr val="tx2"/>
                </a:solidFill>
              </a:rPr>
              <a:t>0.86</a:t>
            </a:r>
            <a:endParaRPr lang="en-US" sz="2800" dirty="0"/>
          </a:p>
        </p:txBody>
      </p:sp>
      <p:sp>
        <p:nvSpPr>
          <p:cNvPr id="33" name="Text 29"/>
          <p:cNvSpPr txBox="1"/>
          <p:nvPr/>
        </p:nvSpPr>
        <p:spPr>
          <a:xfrm>
            <a:off x="9509760" y="2870302"/>
            <a:ext cx="1282446" cy="260604"/>
          </a:xfrm>
          <a:prstGeom prst="rect">
            <a:avLst/>
          </a:prstGeom>
          <a:noFill/>
          <a:ln/>
        </p:spPr>
        <p:txBody>
          <a:bodyPr wrap="square" lIns="0" tIns="0" rIns="0" bIns="0" rtlCol="0" anchor="ctr"/>
          <a:lstStyle/>
          <a:p>
            <a:pPr marL="0" indent="0">
              <a:buNone/>
            </a:pPr>
            <a:r>
              <a:rPr lang="en-US" sz="1200" dirty="0">
                <a:solidFill>
                  <a:schemeClr val="accent5"/>
                </a:solidFill>
              </a:rPr>
              <a:t>Recall F</a:t>
            </a:r>
            <a:endParaRPr lang="en-US" sz="1200" dirty="0"/>
          </a:p>
        </p:txBody>
      </p:sp>
      <p:sp>
        <p:nvSpPr>
          <p:cNvPr id="34" name="Text 30"/>
          <p:cNvSpPr txBox="1"/>
          <p:nvPr/>
        </p:nvSpPr>
        <p:spPr>
          <a:xfrm>
            <a:off x="10492740" y="2870302"/>
            <a:ext cx="982980" cy="260604"/>
          </a:xfrm>
          <a:prstGeom prst="rect">
            <a:avLst/>
          </a:prstGeom>
          <a:noFill/>
          <a:ln/>
        </p:spPr>
        <p:txBody>
          <a:bodyPr wrap="square" lIns="0" tIns="0" rIns="0" bIns="0" rtlCol="0" anchor="ctr"/>
          <a:lstStyle/>
          <a:p>
            <a:pPr marL="0" indent="0" algn="r">
              <a:buNone/>
            </a:pPr>
            <a:r>
              <a:rPr lang="en-US" sz="1200" b="1" dirty="0">
                <a:solidFill>
                  <a:schemeClr val="accent3"/>
                </a:solidFill>
              </a:rPr>
              <a:t>▲ from 0.80</a:t>
            </a:r>
            <a:endParaRPr lang="en-US" sz="1200" dirty="0"/>
          </a:p>
        </p:txBody>
      </p:sp>
      <p:sp>
        <p:nvSpPr>
          <p:cNvPr id="35" name="Shape 31"/>
          <p:cNvSpPr/>
          <p:nvPr/>
        </p:nvSpPr>
        <p:spPr>
          <a:xfrm>
            <a:off x="7132320" y="3520440"/>
            <a:ext cx="2651760" cy="457200"/>
          </a:xfrm>
          <a:prstGeom prst="roundRect">
            <a:avLst>
              <a:gd name="adj" fmla="val 16000"/>
            </a:avLst>
          </a:prstGeom>
          <a:solidFill>
            <a:schemeClr val="bg2"/>
          </a:solidFill>
          <a:ln w="12700">
            <a:solidFill>
              <a:schemeClr val="bg2"/>
            </a:solidFill>
            <a:prstDash val="solid"/>
          </a:ln>
        </p:spPr>
        <p:txBody>
          <a:bodyPr/>
          <a:lstStyle/>
          <a:p>
            <a:endParaRPr lang="en-IN"/>
          </a:p>
        </p:txBody>
      </p:sp>
      <p:sp>
        <p:nvSpPr>
          <p:cNvPr id="36" name="Text 32"/>
          <p:cNvSpPr txBox="1"/>
          <p:nvPr/>
        </p:nvSpPr>
        <p:spPr>
          <a:xfrm>
            <a:off x="7132320" y="3520440"/>
            <a:ext cx="2651760" cy="457200"/>
          </a:xfrm>
          <a:prstGeom prst="rect">
            <a:avLst/>
          </a:prstGeom>
          <a:noFill/>
          <a:ln/>
        </p:spPr>
        <p:txBody>
          <a:bodyPr wrap="square" lIns="0" tIns="0" rIns="0" bIns="0" rtlCol="0" anchor="ctr"/>
          <a:lstStyle/>
          <a:p>
            <a:pPr marL="0" indent="0" algn="ctr">
              <a:buNone/>
            </a:pPr>
            <a:r>
              <a:rPr lang="en-US" sz="1400" b="1" dirty="0">
                <a:solidFill>
                  <a:schemeClr val="tx2"/>
                </a:solidFill>
              </a:rPr>
              <a:t>Input x</a:t>
            </a:r>
            <a:endParaRPr lang="en-US" sz="1400" dirty="0"/>
          </a:p>
        </p:txBody>
      </p:sp>
      <p:sp>
        <p:nvSpPr>
          <p:cNvPr id="37" name="Shape 33"/>
          <p:cNvSpPr/>
          <p:nvPr/>
        </p:nvSpPr>
        <p:spPr>
          <a:xfrm>
            <a:off x="8458200" y="3977640"/>
            <a:ext cx="0" cy="182880"/>
          </a:xfrm>
          <a:prstGeom prst="line">
            <a:avLst/>
          </a:prstGeom>
          <a:noFill/>
          <a:ln w="19050">
            <a:solidFill>
              <a:srgbClr val="6C7A89"/>
            </a:solidFill>
            <a:prstDash val="solid"/>
            <a:tailEnd type="triangle"/>
          </a:ln>
        </p:spPr>
        <p:txBody>
          <a:bodyPr/>
          <a:lstStyle/>
          <a:p>
            <a:endParaRPr lang="en-IN"/>
          </a:p>
        </p:txBody>
      </p:sp>
      <p:sp>
        <p:nvSpPr>
          <p:cNvPr id="38" name="Shape 34"/>
          <p:cNvSpPr/>
          <p:nvPr/>
        </p:nvSpPr>
        <p:spPr>
          <a:xfrm>
            <a:off x="7132320" y="4160520"/>
            <a:ext cx="2651760" cy="457200"/>
          </a:xfrm>
          <a:prstGeom prst="roundRect">
            <a:avLst>
              <a:gd name="adj" fmla="val 16000"/>
            </a:avLst>
          </a:prstGeom>
          <a:solidFill>
            <a:schemeClr val="tx2"/>
          </a:solidFill>
          <a:ln w="12700">
            <a:solidFill>
              <a:schemeClr val="tx2"/>
            </a:solidFill>
            <a:prstDash val="solid"/>
          </a:ln>
        </p:spPr>
        <p:txBody>
          <a:bodyPr/>
          <a:lstStyle/>
          <a:p>
            <a:endParaRPr lang="en-IN"/>
          </a:p>
        </p:txBody>
      </p:sp>
      <p:sp>
        <p:nvSpPr>
          <p:cNvPr id="39" name="Text 35"/>
          <p:cNvSpPr txBox="1"/>
          <p:nvPr/>
        </p:nvSpPr>
        <p:spPr>
          <a:xfrm>
            <a:off x="7132320" y="4160520"/>
            <a:ext cx="2651760" cy="457200"/>
          </a:xfrm>
          <a:prstGeom prst="rect">
            <a:avLst/>
          </a:prstGeom>
          <a:noFill/>
          <a:ln/>
        </p:spPr>
        <p:txBody>
          <a:bodyPr wrap="square" lIns="0" tIns="0" rIns="0" bIns="0" rtlCol="0" anchor="ctr"/>
          <a:lstStyle/>
          <a:p>
            <a:pPr marL="0" indent="0" algn="ctr">
              <a:buNone/>
            </a:pPr>
            <a:r>
              <a:rPr lang="en-US" sz="1400" b="1" dirty="0">
                <a:solidFill>
                  <a:schemeClr val="bg1"/>
                </a:solidFill>
              </a:rPr>
              <a:t>Conv → BatchNorm → ReLU</a:t>
            </a:r>
            <a:endParaRPr lang="en-US" sz="1400" dirty="0"/>
          </a:p>
        </p:txBody>
      </p:sp>
      <p:sp>
        <p:nvSpPr>
          <p:cNvPr id="40" name="Shape 36"/>
          <p:cNvSpPr/>
          <p:nvPr/>
        </p:nvSpPr>
        <p:spPr>
          <a:xfrm>
            <a:off x="8458200" y="4617720"/>
            <a:ext cx="0" cy="182880"/>
          </a:xfrm>
          <a:prstGeom prst="line">
            <a:avLst/>
          </a:prstGeom>
          <a:noFill/>
          <a:ln w="19050">
            <a:solidFill>
              <a:srgbClr val="6C7A89"/>
            </a:solidFill>
            <a:prstDash val="solid"/>
            <a:tailEnd type="triangle"/>
          </a:ln>
        </p:spPr>
        <p:txBody>
          <a:bodyPr/>
          <a:lstStyle/>
          <a:p>
            <a:endParaRPr lang="en-IN"/>
          </a:p>
        </p:txBody>
      </p:sp>
      <p:sp>
        <p:nvSpPr>
          <p:cNvPr id="41" name="Shape 37"/>
          <p:cNvSpPr/>
          <p:nvPr/>
        </p:nvSpPr>
        <p:spPr>
          <a:xfrm>
            <a:off x="7132320" y="4800600"/>
            <a:ext cx="2651760" cy="457200"/>
          </a:xfrm>
          <a:prstGeom prst="roundRect">
            <a:avLst>
              <a:gd name="adj" fmla="val 16000"/>
            </a:avLst>
          </a:prstGeom>
          <a:solidFill>
            <a:schemeClr val="tx2"/>
          </a:solidFill>
          <a:ln w="12700">
            <a:solidFill>
              <a:schemeClr val="tx2"/>
            </a:solidFill>
            <a:prstDash val="solid"/>
          </a:ln>
        </p:spPr>
        <p:txBody>
          <a:bodyPr/>
          <a:lstStyle/>
          <a:p>
            <a:endParaRPr lang="en-IN"/>
          </a:p>
        </p:txBody>
      </p:sp>
      <p:sp>
        <p:nvSpPr>
          <p:cNvPr id="42" name="Text 38"/>
          <p:cNvSpPr txBox="1"/>
          <p:nvPr/>
        </p:nvSpPr>
        <p:spPr>
          <a:xfrm>
            <a:off x="7132320" y="4800600"/>
            <a:ext cx="2651760" cy="457200"/>
          </a:xfrm>
          <a:prstGeom prst="rect">
            <a:avLst/>
          </a:prstGeom>
          <a:noFill/>
          <a:ln/>
        </p:spPr>
        <p:txBody>
          <a:bodyPr wrap="square" lIns="0" tIns="0" rIns="0" bIns="0" rtlCol="0" anchor="ctr"/>
          <a:lstStyle/>
          <a:p>
            <a:pPr marL="0" indent="0" algn="ctr">
              <a:buNone/>
            </a:pPr>
            <a:r>
              <a:rPr lang="en-US" sz="1400" b="1" dirty="0">
                <a:solidFill>
                  <a:schemeClr val="bg1"/>
                </a:solidFill>
              </a:rPr>
              <a:t>Conv → BatchNorm</a:t>
            </a:r>
            <a:endParaRPr lang="en-US" sz="1400" dirty="0"/>
          </a:p>
        </p:txBody>
      </p:sp>
      <p:sp>
        <p:nvSpPr>
          <p:cNvPr id="43" name="Shape 39"/>
          <p:cNvSpPr/>
          <p:nvPr/>
        </p:nvSpPr>
        <p:spPr>
          <a:xfrm>
            <a:off x="8458200" y="5257800"/>
            <a:ext cx="0" cy="182880"/>
          </a:xfrm>
          <a:prstGeom prst="line">
            <a:avLst/>
          </a:prstGeom>
          <a:noFill/>
          <a:ln w="19050">
            <a:solidFill>
              <a:srgbClr val="6C7A89"/>
            </a:solidFill>
            <a:prstDash val="solid"/>
            <a:tailEnd type="triangle"/>
          </a:ln>
        </p:spPr>
        <p:txBody>
          <a:bodyPr/>
          <a:lstStyle/>
          <a:p>
            <a:endParaRPr lang="en-IN"/>
          </a:p>
        </p:txBody>
      </p:sp>
      <p:sp>
        <p:nvSpPr>
          <p:cNvPr id="44" name="Shape 40"/>
          <p:cNvSpPr/>
          <p:nvPr/>
        </p:nvSpPr>
        <p:spPr>
          <a:xfrm>
            <a:off x="8229600" y="5440680"/>
            <a:ext cx="457200" cy="457200"/>
          </a:xfrm>
          <a:prstGeom prst="ellipse">
            <a:avLst/>
          </a:prstGeom>
          <a:solidFill>
            <a:schemeClr val="accent2"/>
          </a:solidFill>
          <a:ln w="12700">
            <a:solidFill>
              <a:schemeClr val="accent2"/>
            </a:solidFill>
            <a:prstDash val="solid"/>
          </a:ln>
        </p:spPr>
        <p:txBody>
          <a:bodyPr/>
          <a:lstStyle/>
          <a:p>
            <a:endParaRPr lang="en-IN"/>
          </a:p>
        </p:txBody>
      </p:sp>
      <p:sp>
        <p:nvSpPr>
          <p:cNvPr id="45" name="Text 41"/>
          <p:cNvSpPr txBox="1"/>
          <p:nvPr/>
        </p:nvSpPr>
        <p:spPr>
          <a:xfrm>
            <a:off x="8229600" y="5440680"/>
            <a:ext cx="457200" cy="457200"/>
          </a:xfrm>
          <a:prstGeom prst="rect">
            <a:avLst/>
          </a:prstGeom>
          <a:noFill/>
          <a:ln/>
        </p:spPr>
        <p:txBody>
          <a:bodyPr wrap="square" lIns="0" tIns="0" rIns="0" bIns="0" rtlCol="0" anchor="ctr"/>
          <a:lstStyle/>
          <a:p>
            <a:pPr marL="0" indent="0" algn="ctr">
              <a:buNone/>
            </a:pPr>
            <a:r>
              <a:rPr lang="en-US" sz="2200" b="1" dirty="0">
                <a:solidFill>
                  <a:schemeClr val="bg1"/>
                </a:solidFill>
              </a:rPr>
              <a:t>+</a:t>
            </a:r>
            <a:endParaRPr lang="en-US" sz="2200" dirty="0"/>
          </a:p>
        </p:txBody>
      </p:sp>
      <p:sp>
        <p:nvSpPr>
          <p:cNvPr id="46" name="Shape 42"/>
          <p:cNvSpPr/>
          <p:nvPr/>
        </p:nvSpPr>
        <p:spPr>
          <a:xfrm>
            <a:off x="8458200" y="5897880"/>
            <a:ext cx="0" cy="182880"/>
          </a:xfrm>
          <a:prstGeom prst="line">
            <a:avLst/>
          </a:prstGeom>
          <a:noFill/>
          <a:ln w="19050">
            <a:solidFill>
              <a:srgbClr val="6C7A89"/>
            </a:solidFill>
            <a:prstDash val="solid"/>
            <a:tailEnd type="triangle"/>
          </a:ln>
        </p:spPr>
        <p:txBody>
          <a:bodyPr/>
          <a:lstStyle/>
          <a:p>
            <a:endParaRPr lang="en-IN"/>
          </a:p>
        </p:txBody>
      </p:sp>
      <p:sp>
        <p:nvSpPr>
          <p:cNvPr id="47" name="Text 43"/>
          <p:cNvSpPr txBox="1"/>
          <p:nvPr/>
        </p:nvSpPr>
        <p:spPr>
          <a:xfrm>
            <a:off x="7132320" y="6080760"/>
            <a:ext cx="2651760" cy="274320"/>
          </a:xfrm>
          <a:prstGeom prst="rect">
            <a:avLst/>
          </a:prstGeom>
          <a:noFill/>
          <a:ln/>
        </p:spPr>
        <p:txBody>
          <a:bodyPr wrap="square" lIns="0" tIns="0" rIns="0" bIns="0" rtlCol="0" anchor="ctr"/>
          <a:lstStyle/>
          <a:p>
            <a:pPr marL="0" indent="0" algn="ctr">
              <a:buNone/>
            </a:pPr>
            <a:r>
              <a:rPr lang="en-US" sz="1400" b="1" dirty="0">
                <a:solidFill>
                  <a:schemeClr val="tx2"/>
                </a:solidFill>
              </a:rPr>
              <a:t>ReLU → output</a:t>
            </a:r>
            <a:endParaRPr lang="en-US" sz="1400" dirty="0"/>
          </a:p>
        </p:txBody>
      </p:sp>
      <p:sp>
        <p:nvSpPr>
          <p:cNvPr id="48" name="Shape 44"/>
          <p:cNvSpPr/>
          <p:nvPr/>
        </p:nvSpPr>
        <p:spPr>
          <a:xfrm>
            <a:off x="9784080" y="3749040"/>
            <a:ext cx="411480" cy="0"/>
          </a:xfrm>
          <a:prstGeom prst="line">
            <a:avLst/>
          </a:prstGeom>
          <a:noFill/>
          <a:ln w="25400">
            <a:solidFill>
              <a:srgbClr val="E63946"/>
            </a:solidFill>
            <a:prstDash val="solid"/>
          </a:ln>
        </p:spPr>
        <p:txBody>
          <a:bodyPr/>
          <a:lstStyle/>
          <a:p>
            <a:endParaRPr lang="en-IN"/>
          </a:p>
        </p:txBody>
      </p:sp>
      <p:sp>
        <p:nvSpPr>
          <p:cNvPr id="49" name="Shape 45"/>
          <p:cNvSpPr/>
          <p:nvPr/>
        </p:nvSpPr>
        <p:spPr>
          <a:xfrm>
            <a:off x="10195560" y="3749040"/>
            <a:ext cx="0" cy="1920240"/>
          </a:xfrm>
          <a:prstGeom prst="line">
            <a:avLst/>
          </a:prstGeom>
          <a:noFill/>
          <a:ln w="25400">
            <a:solidFill>
              <a:srgbClr val="E63946"/>
            </a:solidFill>
            <a:prstDash val="solid"/>
          </a:ln>
        </p:spPr>
        <p:txBody>
          <a:bodyPr/>
          <a:lstStyle/>
          <a:p>
            <a:endParaRPr lang="en-IN"/>
          </a:p>
        </p:txBody>
      </p:sp>
      <p:sp>
        <p:nvSpPr>
          <p:cNvPr id="50" name="Shape 46"/>
          <p:cNvSpPr/>
          <p:nvPr/>
        </p:nvSpPr>
        <p:spPr>
          <a:xfrm flipH="1">
            <a:off x="8686800" y="5669280"/>
            <a:ext cx="1508760" cy="0"/>
          </a:xfrm>
          <a:prstGeom prst="line">
            <a:avLst/>
          </a:prstGeom>
          <a:noFill/>
          <a:ln w="25400">
            <a:solidFill>
              <a:srgbClr val="E63946"/>
            </a:solidFill>
            <a:prstDash val="solid"/>
            <a:tailEnd type="triangle"/>
          </a:ln>
        </p:spPr>
        <p:txBody>
          <a:bodyPr/>
          <a:lstStyle/>
          <a:p>
            <a:endParaRPr lang="en-IN"/>
          </a:p>
        </p:txBody>
      </p:sp>
      <p:sp>
        <p:nvSpPr>
          <p:cNvPr id="51" name="Text 47"/>
          <p:cNvSpPr txBox="1"/>
          <p:nvPr/>
        </p:nvSpPr>
        <p:spPr>
          <a:xfrm>
            <a:off x="10332720" y="4297680"/>
            <a:ext cx="1325880" cy="914400"/>
          </a:xfrm>
          <a:prstGeom prst="rect">
            <a:avLst/>
          </a:prstGeom>
          <a:noFill/>
          <a:ln/>
        </p:spPr>
        <p:txBody>
          <a:bodyPr wrap="square" lIns="0" tIns="0" rIns="0" bIns="0" rtlCol="0" anchor="ctr"/>
          <a:lstStyle/>
          <a:p>
            <a:pPr marL="0" indent="0">
              <a:buNone/>
            </a:pPr>
            <a:r>
              <a:rPr lang="en-US" sz="1400" b="1" dirty="0">
                <a:solidFill>
                  <a:schemeClr val="accent2"/>
                </a:solidFill>
              </a:rPr>
              <a:t>Skip connection: add the input back</a:t>
            </a:r>
            <a:endParaRPr lang="en-US" sz="1400" dirty="0"/>
          </a:p>
        </p:txBody>
      </p:sp>
      <p:sp>
        <p:nvSpPr>
          <p:cNvPr id="5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C7A89"/>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rgbClr val="12263A"/>
                </a:solidFill>
              </a:rPr>
              <a:t>Results: all 5 steps compared</a:t>
            </a:r>
            <a:endParaRPr lang="en-US" sz="3200" dirty="0"/>
          </a:p>
        </p:txBody>
      </p:sp>
      <p:graphicFrame>
        <p:nvGraphicFramePr>
          <p:cNvPr id="3" name="Chart 0"/>
          <p:cNvGraphicFramePr/>
          <p:nvPr/>
        </p:nvGraphicFramePr>
        <p:xfrm>
          <a:off x="548640" y="1280160"/>
          <a:ext cx="1106424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548640" y="5806440"/>
            <a:ext cx="11064240" cy="457200"/>
          </a:xfrm>
          <a:prstGeom prst="rect">
            <a:avLst/>
          </a:prstGeom>
          <a:noFill/>
          <a:ln/>
        </p:spPr>
        <p:txBody>
          <a:bodyPr wrap="square" lIns="0" tIns="0" rIns="0" bIns="0" rtlCol="0" anchor="t"/>
          <a:lstStyle/>
          <a:p>
            <a:pPr marL="0" indent="0">
              <a:buNone/>
            </a:pPr>
            <a:r>
              <a:rPr lang="en-US" sz="1400" i="1" dirty="0">
                <a:solidFill>
                  <a:schemeClr val="tx2"/>
                </a:solidFill>
              </a:rPr>
              <a:t>Step 5 (1D ResNet) is the best on all three: macro F1, recall S and recall F.</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C7A89"/>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rgbClr val="12263A"/>
                </a:solidFill>
              </a:rPr>
              <a:t>Results in numbers</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3017520"/>
        </p:xfrm>
        <a:graphic>
          <a:graphicData uri="http://schemas.openxmlformats.org/drawingml/2006/table">
            <a:tbl>
              <a:tblPr/>
              <a:tblGrid>
                <a:gridCol w="6400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gridCol w="1005840">
                  <a:extLst>
                    <a:ext uri="{9D8B030D-6E8A-4147-A177-3AD203B41FA5}">
                      <a16:colId xmlns:a16="http://schemas.microsoft.com/office/drawing/2014/main" val="20007"/>
                    </a:ext>
                  </a:extLst>
                </a:gridCol>
                <a:gridCol w="822960">
                  <a:extLst>
                    <a:ext uri="{9D8B030D-6E8A-4147-A177-3AD203B41FA5}">
                      <a16:colId xmlns:a16="http://schemas.microsoft.com/office/drawing/2014/main" val="20008"/>
                    </a:ext>
                  </a:extLst>
                </a:gridCol>
                <a:gridCol w="1097280">
                  <a:extLst>
                    <a:ext uri="{9D8B030D-6E8A-4147-A177-3AD203B41FA5}">
                      <a16:colId xmlns:a16="http://schemas.microsoft.com/office/drawing/2014/main" val="20009"/>
                    </a:ext>
                  </a:extLst>
                </a:gridCol>
              </a:tblGrid>
              <a:tr h="502920">
                <a:tc>
                  <a:txBody>
                    <a:bodyPr/>
                    <a:lstStyle/>
                    <a:p>
                      <a:pPr marL="0" indent="0">
                        <a:buNone/>
                      </a:pPr>
                      <a:r>
                        <a:rPr lang="en-US" sz="1400" b="1" dirty="0">
                          <a:solidFill>
                            <a:schemeClr val="bg1"/>
                          </a:solidFill>
                        </a:rPr>
                        <a:t>Step</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Model</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Accuracy</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Macro F1</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Recall S</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Recall F</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Precision S</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Precision F</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Params</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Train time</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02920">
                <a:tc>
                  <a:txBody>
                    <a:bodyPr/>
                    <a:lstStyle/>
                    <a:p>
                      <a:pPr marL="0" indent="0" algn="l">
                        <a:buNone/>
                      </a:pPr>
                      <a:r>
                        <a:rPr lang="en-US" sz="1400" dirty="0">
                          <a:solidFill>
                            <a:schemeClr val="tx1"/>
                          </a:solidFill>
                        </a:rPr>
                        <a:t>1</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Simple CNN</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0.959</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0.776</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0.44</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0.39</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0.79</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0.70</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17k</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43 s</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02920">
                <a:tc>
                  <a:txBody>
                    <a:bodyPr/>
                    <a:lstStyle/>
                    <a:p>
                      <a:pPr marL="0" indent="0" algn="l">
                        <a:buNone/>
                      </a:pPr>
                      <a:r>
                        <a:rPr lang="en-US" sz="1400" dirty="0">
                          <a:solidFill>
                            <a:schemeClr val="tx1"/>
                          </a:solidFill>
                        </a:rPr>
                        <a:t>2</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rPr>
                        <a:t>+ Class weights</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0.872</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0.661</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0.73</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0.84</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0.23</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0.21</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17k</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42 s</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02920">
                <a:tc>
                  <a:txBody>
                    <a:bodyPr/>
                    <a:lstStyle/>
                    <a:p>
                      <a:pPr marL="0" indent="0" algn="l">
                        <a:buNone/>
                      </a:pPr>
                      <a:r>
                        <a:rPr lang="en-US" sz="1400" dirty="0">
                          <a:solidFill>
                            <a:schemeClr val="tx1"/>
                          </a:solidFill>
                        </a:rPr>
                        <a:t>3</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CNN + BiLSTM + Attention</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0.979</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0.887</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0.66</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0.71</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0.90</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0.83</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86k</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58 s</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02920">
                <a:tc>
                  <a:txBody>
                    <a:bodyPr/>
                    <a:lstStyle/>
                    <a:p>
                      <a:pPr marL="0" indent="0" algn="l">
                        <a:buNone/>
                      </a:pPr>
                      <a:r>
                        <a:rPr lang="en-US" sz="1400" dirty="0">
                          <a:solidFill>
                            <a:schemeClr val="tx1"/>
                          </a:solidFill>
                        </a:rPr>
                        <a:t>4</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rPr>
                        <a:t>+ √ weights, 30 epochs</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0.977</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0.883</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0.78</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0.80</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0.73</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0.68</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86k</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134 s</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02920">
                <a:tc>
                  <a:txBody>
                    <a:bodyPr/>
                    <a:lstStyle/>
                    <a:p>
                      <a:pPr marL="0" indent="0" algn="l">
                        <a:buNone/>
                      </a:pPr>
                      <a:r>
                        <a:rPr lang="en-US" sz="1400" b="1" dirty="0">
                          <a:solidFill>
                            <a:schemeClr val="tx1"/>
                          </a:solidFill>
                        </a:rPr>
                        <a:t>5</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DE8EA"/>
                    </a:solidFill>
                  </a:tcPr>
                </a:tc>
                <a:tc>
                  <a:txBody>
                    <a:bodyPr/>
                    <a:lstStyle/>
                    <a:p>
                      <a:pPr marL="0" indent="0" algn="l">
                        <a:buNone/>
                      </a:pPr>
                      <a:r>
                        <a:rPr lang="en-US" sz="1400" b="1" dirty="0">
                          <a:solidFill>
                            <a:schemeClr val="tx1"/>
                          </a:solidFill>
                        </a:rPr>
                        <a:t>1D ResNet + √ weights</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DE8EA"/>
                    </a:solidFill>
                  </a:tcPr>
                </a:tc>
                <a:tc>
                  <a:txBody>
                    <a:bodyPr/>
                    <a:lstStyle/>
                    <a:p>
                      <a:pPr marL="0" indent="0" algn="ctr">
                        <a:buNone/>
                      </a:pPr>
                      <a:r>
                        <a:rPr lang="en-US" sz="1400" b="1" dirty="0">
                          <a:solidFill>
                            <a:schemeClr val="tx1"/>
                          </a:solidFill>
                        </a:rPr>
                        <a:t>0.986</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DE8EA"/>
                    </a:solidFill>
                  </a:tcPr>
                </a:tc>
                <a:tc>
                  <a:txBody>
                    <a:bodyPr/>
                    <a:lstStyle/>
                    <a:p>
                      <a:pPr marL="0" indent="0" algn="ctr">
                        <a:buNone/>
                      </a:pPr>
                      <a:r>
                        <a:rPr lang="en-US" sz="1400" b="1" dirty="0">
                          <a:solidFill>
                            <a:schemeClr val="tx1"/>
                          </a:solidFill>
                        </a:rPr>
                        <a:t>0.920</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DE8EA"/>
                    </a:solidFill>
                  </a:tcPr>
                </a:tc>
                <a:tc>
                  <a:txBody>
                    <a:bodyPr/>
                    <a:lstStyle/>
                    <a:p>
                      <a:pPr marL="0" indent="0" algn="ctr">
                        <a:buNone/>
                      </a:pPr>
                      <a:r>
                        <a:rPr lang="en-US" sz="1400" b="1" dirty="0">
                          <a:solidFill>
                            <a:schemeClr val="tx1"/>
                          </a:solidFill>
                        </a:rPr>
                        <a:t>0.84</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DE8EA"/>
                    </a:solidFill>
                  </a:tcPr>
                </a:tc>
                <a:tc>
                  <a:txBody>
                    <a:bodyPr/>
                    <a:lstStyle/>
                    <a:p>
                      <a:pPr marL="0" indent="0" algn="ctr">
                        <a:buNone/>
                      </a:pPr>
                      <a:r>
                        <a:rPr lang="en-US" sz="1400" b="1" dirty="0">
                          <a:solidFill>
                            <a:schemeClr val="tx1"/>
                          </a:solidFill>
                        </a:rPr>
                        <a:t>0.86</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DE8EA"/>
                    </a:solidFill>
                  </a:tcPr>
                </a:tc>
                <a:tc>
                  <a:txBody>
                    <a:bodyPr/>
                    <a:lstStyle/>
                    <a:p>
                      <a:pPr marL="0" indent="0" algn="ctr">
                        <a:buNone/>
                      </a:pPr>
                      <a:r>
                        <a:rPr lang="en-US" sz="1400" b="1" dirty="0">
                          <a:solidFill>
                            <a:schemeClr val="tx1"/>
                          </a:solidFill>
                        </a:rPr>
                        <a:t>0.83</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DE8EA"/>
                    </a:solidFill>
                  </a:tcPr>
                </a:tc>
                <a:tc>
                  <a:txBody>
                    <a:bodyPr/>
                    <a:lstStyle/>
                    <a:p>
                      <a:pPr marL="0" indent="0" algn="ctr">
                        <a:buNone/>
                      </a:pPr>
                      <a:r>
                        <a:rPr lang="en-US" sz="1400" b="1" dirty="0">
                          <a:solidFill>
                            <a:schemeClr val="tx1"/>
                          </a:solidFill>
                        </a:rPr>
                        <a:t>0.78</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DE8EA"/>
                    </a:solidFill>
                  </a:tcPr>
                </a:tc>
                <a:tc>
                  <a:txBody>
                    <a:bodyPr/>
                    <a:lstStyle/>
                    <a:p>
                      <a:pPr marL="0" indent="0" algn="ctr">
                        <a:buNone/>
                      </a:pPr>
                      <a:r>
                        <a:rPr lang="en-US" sz="1400" b="1" dirty="0">
                          <a:solidFill>
                            <a:schemeClr val="tx1"/>
                          </a:solidFill>
                        </a:rPr>
                        <a:t>54k</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DE8EA"/>
                    </a:solidFill>
                  </a:tcPr>
                </a:tc>
                <a:tc>
                  <a:txBody>
                    <a:bodyPr/>
                    <a:lstStyle/>
                    <a:p>
                      <a:pPr marL="0" indent="0" algn="ctr">
                        <a:buNone/>
                      </a:pPr>
                      <a:r>
                        <a:rPr lang="en-US" sz="1400" b="1" dirty="0">
                          <a:solidFill>
                            <a:schemeClr val="tx1"/>
                          </a:solidFill>
                        </a:rPr>
                        <a:t>220 s</a:t>
                      </a:r>
                      <a:endParaRPr lang="en-US" sz="1400" dirty="0"/>
                    </a:p>
                  </a:txBody>
                  <a:tcPr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DE8EA"/>
                    </a:solidFill>
                  </a:tcPr>
                </a:tc>
                <a:extLst>
                  <a:ext uri="{0D108BD9-81ED-4DB2-BD59-A6C34878D82A}">
                    <a16:rowId xmlns:a16="http://schemas.microsoft.com/office/drawing/2014/main" val="10005"/>
                  </a:ext>
                </a:extLst>
              </a:tr>
            </a:tbl>
          </a:graphicData>
        </a:graphic>
      </p:graphicFrame>
      <p:sp>
        <p:nvSpPr>
          <p:cNvPr id="4" name="Shape 1"/>
          <p:cNvSpPr/>
          <p:nvPr/>
        </p:nvSpPr>
        <p:spPr>
          <a:xfrm>
            <a:off x="548640" y="4754880"/>
            <a:ext cx="5440680" cy="1325880"/>
          </a:xfrm>
          <a:prstGeom prst="roundRect">
            <a:avLst>
              <a:gd name="adj" fmla="val 5517"/>
            </a:avLst>
          </a:prstGeom>
          <a:solidFill>
            <a:schemeClr val="bg2"/>
          </a:solidFill>
          <a:ln w="12700">
            <a:solidFill>
              <a:schemeClr val="bg2"/>
            </a:solidFill>
            <a:prstDash val="solid"/>
          </a:ln>
        </p:spPr>
        <p:txBody>
          <a:bodyPr/>
          <a:lstStyle/>
          <a:p>
            <a:endParaRPr lang="en-IN"/>
          </a:p>
        </p:txBody>
      </p:sp>
      <p:sp>
        <p:nvSpPr>
          <p:cNvPr id="5" name="Shape 2"/>
          <p:cNvSpPr/>
          <p:nvPr/>
        </p:nvSpPr>
        <p:spPr>
          <a:xfrm>
            <a:off x="777240" y="5029200"/>
            <a:ext cx="731520" cy="731520"/>
          </a:xfrm>
          <a:prstGeom prst="ellipse">
            <a:avLst/>
          </a:prstGeom>
          <a:solidFill>
            <a:schemeClr val="accent2"/>
          </a:solidFill>
          <a:ln w="12700">
            <a:solidFill>
              <a:schemeClr val="accent2"/>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960120" y="5212080"/>
            <a:ext cx="365760" cy="365760"/>
          </a:xfrm>
          <a:prstGeom prst="rect">
            <a:avLst/>
          </a:prstGeom>
        </p:spPr>
      </p:pic>
      <p:sp>
        <p:nvSpPr>
          <p:cNvPr id="7" name="Text 3"/>
          <p:cNvSpPr txBox="1"/>
          <p:nvPr/>
        </p:nvSpPr>
        <p:spPr>
          <a:xfrm>
            <a:off x="1737360" y="4846320"/>
            <a:ext cx="4069080" cy="1143000"/>
          </a:xfrm>
          <a:prstGeom prst="rect">
            <a:avLst/>
          </a:prstGeom>
          <a:noFill/>
          <a:ln/>
        </p:spPr>
        <p:txBody>
          <a:bodyPr wrap="square" lIns="0" tIns="0" rIns="0" bIns="0" rtlCol="0" anchor="ctr"/>
          <a:lstStyle/>
          <a:p>
            <a:pPr marL="0" indent="0">
              <a:buNone/>
            </a:pPr>
            <a:r>
              <a:rPr lang="en-US" sz="1400" dirty="0">
                <a:solidFill>
                  <a:schemeClr val="tx1"/>
                </a:solidFill>
              </a:rPr>
              <a:t>Step 5 is best in accuracy, macro F1 and recall S/F, while keeping precision high.</a:t>
            </a:r>
            <a:endParaRPr lang="en-US" sz="1400" dirty="0"/>
          </a:p>
        </p:txBody>
      </p:sp>
      <p:sp>
        <p:nvSpPr>
          <p:cNvPr id="8" name="Shape 4"/>
          <p:cNvSpPr/>
          <p:nvPr/>
        </p:nvSpPr>
        <p:spPr>
          <a:xfrm>
            <a:off x="6172200" y="4754880"/>
            <a:ext cx="5440680" cy="1325880"/>
          </a:xfrm>
          <a:prstGeom prst="roundRect">
            <a:avLst>
              <a:gd name="adj" fmla="val 5517"/>
            </a:avLst>
          </a:prstGeom>
          <a:solidFill>
            <a:schemeClr val="bg2"/>
          </a:solidFill>
          <a:ln w="12700">
            <a:solidFill>
              <a:schemeClr val="bg2"/>
            </a:solidFill>
            <a:prstDash val="solid"/>
          </a:ln>
        </p:spPr>
        <p:txBody>
          <a:bodyPr/>
          <a:lstStyle/>
          <a:p>
            <a:endParaRPr lang="en-IN"/>
          </a:p>
        </p:txBody>
      </p:sp>
      <p:sp>
        <p:nvSpPr>
          <p:cNvPr id="9" name="Shape 5"/>
          <p:cNvSpPr/>
          <p:nvPr/>
        </p:nvSpPr>
        <p:spPr>
          <a:xfrm>
            <a:off x="6400800" y="5029200"/>
            <a:ext cx="731520" cy="731520"/>
          </a:xfrm>
          <a:prstGeom prst="ellipse">
            <a:avLst/>
          </a:prstGeom>
          <a:solidFill>
            <a:schemeClr val="accent4"/>
          </a:solidFill>
          <a:ln w="12700">
            <a:solidFill>
              <a:schemeClr val="accent4"/>
            </a:solidFill>
            <a:prstDash val="solid"/>
          </a:ln>
        </p:spPr>
        <p:txBody>
          <a:bodyPr/>
          <a:lstStyle/>
          <a:p>
            <a:endParaRPr lang="en-IN"/>
          </a:p>
        </p:txBody>
      </p:sp>
      <p:pic>
        <p:nvPicPr>
          <p:cNvPr id="10" name="Image 1" descr="preencoded.png"/>
          <p:cNvPicPr>
            <a:picLocks noChangeAspect="1"/>
          </p:cNvPicPr>
          <p:nvPr/>
        </p:nvPicPr>
        <p:blipFill>
          <a:blip r:embed="rId4"/>
          <a:stretch>
            <a:fillRect/>
          </a:stretch>
        </p:blipFill>
        <p:spPr>
          <a:xfrm>
            <a:off x="6583680" y="5212080"/>
            <a:ext cx="365760" cy="365760"/>
          </a:xfrm>
          <a:prstGeom prst="rect">
            <a:avLst/>
          </a:prstGeom>
        </p:spPr>
      </p:pic>
      <p:sp>
        <p:nvSpPr>
          <p:cNvPr id="11" name="Text 6"/>
          <p:cNvSpPr txBox="1"/>
          <p:nvPr/>
        </p:nvSpPr>
        <p:spPr>
          <a:xfrm>
            <a:off x="7360920" y="4846320"/>
            <a:ext cx="4069080" cy="1143000"/>
          </a:xfrm>
          <a:prstGeom prst="rect">
            <a:avLst/>
          </a:prstGeom>
          <a:noFill/>
          <a:ln/>
        </p:spPr>
        <p:txBody>
          <a:bodyPr wrap="square" lIns="0" tIns="0" rIns="0" bIns="0" rtlCol="0" anchor="ctr"/>
          <a:lstStyle/>
          <a:p>
            <a:pPr marL="0" indent="0">
              <a:buNone/>
            </a:pPr>
            <a:r>
              <a:rPr lang="en-US" sz="1400" dirty="0">
                <a:solidFill>
                  <a:schemeClr val="tx1"/>
                </a:solidFill>
              </a:rPr>
              <a:t>Step 2 has high F recall but terrible precision, so it is not a good model.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C7A89"/>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rgbClr val="12263A"/>
                </a:solidFill>
              </a:rPr>
              <a:t>Final model: 1D ResNet + √ class weights</a:t>
            </a:r>
            <a:endParaRPr lang="en-US" sz="3200" dirty="0"/>
          </a:p>
        </p:txBody>
      </p:sp>
      <p:pic>
        <p:nvPicPr>
          <p:cNvPr id="3" name="Image 0" descr="C:\Users\anshu\AppData\Local\Temp\claude\d--bennett-Healthcare-eeg\68424036-4cfe-451f-8594-ecba8073e5ad\scratchpad\img\c41_13.png"/>
          <p:cNvPicPr>
            <a:picLocks noChangeAspect="1"/>
          </p:cNvPicPr>
          <p:nvPr/>
        </p:nvPicPr>
        <p:blipFill>
          <a:blip r:embed="rId3"/>
          <a:stretch>
            <a:fillRect/>
          </a:stretch>
        </p:blipFill>
        <p:spPr>
          <a:xfrm>
            <a:off x="548640" y="1325880"/>
            <a:ext cx="5191853" cy="4846320"/>
          </a:xfrm>
          <a:prstGeom prst="rect">
            <a:avLst/>
          </a:prstGeom>
        </p:spPr>
      </p:pic>
      <p:sp>
        <p:nvSpPr>
          <p:cNvPr id="4" name="Shape 1"/>
          <p:cNvSpPr/>
          <p:nvPr/>
        </p:nvSpPr>
        <p:spPr>
          <a:xfrm>
            <a:off x="6309360" y="1371600"/>
            <a:ext cx="685800" cy="685800"/>
          </a:xfrm>
          <a:prstGeom prst="ellipse">
            <a:avLst/>
          </a:prstGeom>
          <a:solidFill>
            <a:schemeClr val="accent2"/>
          </a:solidFill>
          <a:ln w="12700">
            <a:solidFill>
              <a:schemeClr val="accent2"/>
            </a:solidFill>
            <a:prstDash val="solid"/>
          </a:ln>
        </p:spPr>
        <p:txBody>
          <a:bodyPr/>
          <a:lstStyle/>
          <a:p>
            <a:endParaRPr lang="en-IN"/>
          </a:p>
        </p:txBody>
      </p:sp>
      <p:pic>
        <p:nvPicPr>
          <p:cNvPr id="5" name="Image 1" descr="preencoded.png"/>
          <p:cNvPicPr>
            <a:picLocks noChangeAspect="1"/>
          </p:cNvPicPr>
          <p:nvPr/>
        </p:nvPicPr>
        <p:blipFill>
          <a:blip r:embed="rId4"/>
          <a:stretch>
            <a:fillRect/>
          </a:stretch>
        </p:blipFill>
        <p:spPr>
          <a:xfrm>
            <a:off x="6480810" y="1543050"/>
            <a:ext cx="342900" cy="342900"/>
          </a:xfrm>
          <a:prstGeom prst="rect">
            <a:avLst/>
          </a:prstGeom>
        </p:spPr>
      </p:pic>
      <p:sp>
        <p:nvSpPr>
          <p:cNvPr id="6" name="Text 2"/>
          <p:cNvSpPr txBox="1"/>
          <p:nvPr/>
        </p:nvSpPr>
        <p:spPr>
          <a:xfrm>
            <a:off x="7178040" y="1371600"/>
            <a:ext cx="4434840" cy="365760"/>
          </a:xfrm>
          <a:prstGeom prst="rect">
            <a:avLst/>
          </a:prstGeom>
          <a:noFill/>
          <a:ln/>
        </p:spPr>
        <p:txBody>
          <a:bodyPr wrap="square" lIns="0" tIns="0" rIns="0" bIns="0" rtlCol="0" anchor="t"/>
          <a:lstStyle/>
          <a:p>
            <a:pPr marL="0" indent="0">
              <a:buNone/>
            </a:pPr>
            <a:r>
              <a:rPr lang="en-US" sz="1700" b="1" dirty="0">
                <a:solidFill>
                  <a:schemeClr val="tx2"/>
                </a:solidFill>
              </a:rPr>
              <a:t>Best macro F1 (0.920)</a:t>
            </a:r>
            <a:endParaRPr lang="en-US" sz="1700" dirty="0"/>
          </a:p>
        </p:txBody>
      </p:sp>
      <p:sp>
        <p:nvSpPr>
          <p:cNvPr id="7" name="Text 3"/>
          <p:cNvSpPr txBox="1"/>
          <p:nvPr/>
        </p:nvSpPr>
        <p:spPr>
          <a:xfrm>
            <a:off x="7178040" y="1755648"/>
            <a:ext cx="4434840" cy="548640"/>
          </a:xfrm>
          <a:prstGeom prst="rect">
            <a:avLst/>
          </a:prstGeom>
          <a:noFill/>
          <a:ln/>
        </p:spPr>
        <p:txBody>
          <a:bodyPr wrap="square" lIns="0" tIns="0" rIns="0" bIns="0" rtlCol="0" anchor="t"/>
          <a:lstStyle/>
          <a:p>
            <a:pPr marL="0" indent="0">
              <a:buNone/>
            </a:pPr>
            <a:r>
              <a:rPr lang="en-US" sz="1400" dirty="0">
                <a:solidFill>
                  <a:schemeClr val="tx1"/>
                </a:solidFill>
              </a:rPr>
              <a:t>and best accuracy (98.6%) of all models.</a:t>
            </a:r>
            <a:endParaRPr lang="en-US" sz="1400" dirty="0"/>
          </a:p>
        </p:txBody>
      </p:sp>
      <p:sp>
        <p:nvSpPr>
          <p:cNvPr id="8" name="Shape 4"/>
          <p:cNvSpPr/>
          <p:nvPr/>
        </p:nvSpPr>
        <p:spPr>
          <a:xfrm>
            <a:off x="6309360" y="2560320"/>
            <a:ext cx="685800" cy="685800"/>
          </a:xfrm>
          <a:prstGeom prst="ellipse">
            <a:avLst/>
          </a:prstGeom>
          <a:solidFill>
            <a:schemeClr val="accent1"/>
          </a:solidFill>
          <a:ln w="12700">
            <a:solidFill>
              <a:schemeClr val="accent1"/>
            </a:solidFill>
            <a:prstDash val="solid"/>
          </a:ln>
        </p:spPr>
        <p:txBody>
          <a:bodyPr/>
          <a:lstStyle/>
          <a:p>
            <a:endParaRPr lang="en-IN"/>
          </a:p>
        </p:txBody>
      </p:sp>
      <p:pic>
        <p:nvPicPr>
          <p:cNvPr id="9" name="Image 2" descr="preencoded.png"/>
          <p:cNvPicPr>
            <a:picLocks noChangeAspect="1"/>
          </p:cNvPicPr>
          <p:nvPr/>
        </p:nvPicPr>
        <p:blipFill>
          <a:blip r:embed="rId5"/>
          <a:stretch>
            <a:fillRect/>
          </a:stretch>
        </p:blipFill>
        <p:spPr>
          <a:xfrm>
            <a:off x="6480810" y="2731770"/>
            <a:ext cx="342900" cy="342900"/>
          </a:xfrm>
          <a:prstGeom prst="rect">
            <a:avLst/>
          </a:prstGeom>
        </p:spPr>
      </p:pic>
      <p:sp>
        <p:nvSpPr>
          <p:cNvPr id="10" name="Text 5"/>
          <p:cNvSpPr txBox="1"/>
          <p:nvPr/>
        </p:nvSpPr>
        <p:spPr>
          <a:xfrm>
            <a:off x="7178040" y="2560320"/>
            <a:ext cx="4434840" cy="365760"/>
          </a:xfrm>
          <a:prstGeom prst="rect">
            <a:avLst/>
          </a:prstGeom>
          <a:noFill/>
          <a:ln/>
        </p:spPr>
        <p:txBody>
          <a:bodyPr wrap="square" lIns="0" tIns="0" rIns="0" bIns="0" rtlCol="0" anchor="t"/>
          <a:lstStyle/>
          <a:p>
            <a:pPr marL="0" indent="0">
              <a:buNone/>
            </a:pPr>
            <a:r>
              <a:rPr lang="en-US" sz="1700" b="1" dirty="0">
                <a:solidFill>
                  <a:schemeClr val="tx2"/>
                </a:solidFill>
              </a:rPr>
              <a:t>Catches abnormal beats</a:t>
            </a:r>
            <a:endParaRPr lang="en-US" sz="1700" dirty="0"/>
          </a:p>
        </p:txBody>
      </p:sp>
      <p:sp>
        <p:nvSpPr>
          <p:cNvPr id="11" name="Text 6"/>
          <p:cNvSpPr txBox="1"/>
          <p:nvPr/>
        </p:nvSpPr>
        <p:spPr>
          <a:xfrm>
            <a:off x="7178040" y="2944368"/>
            <a:ext cx="4434840" cy="548640"/>
          </a:xfrm>
          <a:prstGeom prst="rect">
            <a:avLst/>
          </a:prstGeom>
          <a:noFill/>
          <a:ln/>
        </p:spPr>
        <p:txBody>
          <a:bodyPr wrap="square" lIns="0" tIns="0" rIns="0" bIns="0" rtlCol="0" anchor="t"/>
          <a:lstStyle/>
          <a:p>
            <a:pPr marL="0" indent="0">
              <a:buNone/>
            </a:pPr>
            <a:r>
              <a:rPr lang="en-US" sz="1400" dirty="0">
                <a:solidFill>
                  <a:schemeClr val="tx1"/>
                </a:solidFill>
              </a:rPr>
              <a:t>Recall at least 0.84 for every abnormal class.</a:t>
            </a:r>
            <a:endParaRPr lang="en-US" sz="1400" dirty="0"/>
          </a:p>
        </p:txBody>
      </p:sp>
      <p:sp>
        <p:nvSpPr>
          <p:cNvPr id="12" name="Shape 7"/>
          <p:cNvSpPr/>
          <p:nvPr/>
        </p:nvSpPr>
        <p:spPr>
          <a:xfrm>
            <a:off x="6309360" y="3749040"/>
            <a:ext cx="685800" cy="685800"/>
          </a:xfrm>
          <a:prstGeom prst="ellipse">
            <a:avLst/>
          </a:prstGeom>
          <a:solidFill>
            <a:schemeClr val="accent1"/>
          </a:solidFill>
          <a:ln w="12700">
            <a:solidFill>
              <a:schemeClr val="accent1"/>
            </a:solidFill>
            <a:prstDash val="solid"/>
          </a:ln>
        </p:spPr>
        <p:txBody>
          <a:bodyPr/>
          <a:lstStyle/>
          <a:p>
            <a:endParaRPr lang="en-IN"/>
          </a:p>
        </p:txBody>
      </p:sp>
      <p:pic>
        <p:nvPicPr>
          <p:cNvPr id="13" name="Image 3" descr="preencoded.png"/>
          <p:cNvPicPr>
            <a:picLocks noChangeAspect="1"/>
          </p:cNvPicPr>
          <p:nvPr/>
        </p:nvPicPr>
        <p:blipFill>
          <a:blip r:embed="rId6"/>
          <a:stretch>
            <a:fillRect/>
          </a:stretch>
        </p:blipFill>
        <p:spPr>
          <a:xfrm>
            <a:off x="6480810" y="3920490"/>
            <a:ext cx="342900" cy="342900"/>
          </a:xfrm>
          <a:prstGeom prst="rect">
            <a:avLst/>
          </a:prstGeom>
        </p:spPr>
      </p:pic>
      <p:sp>
        <p:nvSpPr>
          <p:cNvPr id="14" name="Text 8"/>
          <p:cNvSpPr txBox="1"/>
          <p:nvPr/>
        </p:nvSpPr>
        <p:spPr>
          <a:xfrm>
            <a:off x="7178040" y="3749040"/>
            <a:ext cx="4434840" cy="365760"/>
          </a:xfrm>
          <a:prstGeom prst="rect">
            <a:avLst/>
          </a:prstGeom>
          <a:noFill/>
          <a:ln/>
        </p:spPr>
        <p:txBody>
          <a:bodyPr wrap="square" lIns="0" tIns="0" rIns="0" bIns="0" rtlCol="0" anchor="t"/>
          <a:lstStyle/>
          <a:p>
            <a:pPr marL="0" indent="0">
              <a:buNone/>
            </a:pPr>
            <a:r>
              <a:rPr lang="en-US" sz="1700" b="1" dirty="0">
                <a:solidFill>
                  <a:schemeClr val="tx2"/>
                </a:solidFill>
              </a:rPr>
              <a:t>Few false alarms</a:t>
            </a:r>
            <a:endParaRPr lang="en-US" sz="1700" dirty="0"/>
          </a:p>
        </p:txBody>
      </p:sp>
      <p:sp>
        <p:nvSpPr>
          <p:cNvPr id="15" name="Text 9"/>
          <p:cNvSpPr txBox="1"/>
          <p:nvPr/>
        </p:nvSpPr>
        <p:spPr>
          <a:xfrm>
            <a:off x="7178040" y="4133088"/>
            <a:ext cx="4434840" cy="548640"/>
          </a:xfrm>
          <a:prstGeom prst="rect">
            <a:avLst/>
          </a:prstGeom>
          <a:noFill/>
          <a:ln/>
        </p:spPr>
        <p:txBody>
          <a:bodyPr wrap="square" lIns="0" tIns="0" rIns="0" bIns="0" rtlCol="0" anchor="t"/>
          <a:lstStyle/>
          <a:p>
            <a:pPr marL="0" indent="0">
              <a:buNone/>
            </a:pPr>
            <a:r>
              <a:rPr lang="en-US" sz="1400" dirty="0">
                <a:solidFill>
                  <a:schemeClr val="tx1"/>
                </a:solidFill>
              </a:rPr>
              <a:t>Precision of S and F stays high (0.83 / 0.78).</a:t>
            </a:r>
            <a:endParaRPr lang="en-US" sz="1400" dirty="0"/>
          </a:p>
        </p:txBody>
      </p:sp>
      <p:sp>
        <p:nvSpPr>
          <p:cNvPr id="16" name="Shape 10"/>
          <p:cNvSpPr/>
          <p:nvPr/>
        </p:nvSpPr>
        <p:spPr>
          <a:xfrm>
            <a:off x="6309360" y="4937760"/>
            <a:ext cx="685800" cy="685800"/>
          </a:xfrm>
          <a:prstGeom prst="ellipse">
            <a:avLst/>
          </a:prstGeom>
          <a:solidFill>
            <a:schemeClr val="accent1"/>
          </a:solidFill>
          <a:ln w="12700">
            <a:solidFill>
              <a:schemeClr val="accent1"/>
            </a:solidFill>
            <a:prstDash val="solid"/>
          </a:ln>
        </p:spPr>
        <p:txBody>
          <a:bodyPr/>
          <a:lstStyle/>
          <a:p>
            <a:endParaRPr lang="en-IN"/>
          </a:p>
        </p:txBody>
      </p:sp>
      <p:pic>
        <p:nvPicPr>
          <p:cNvPr id="17" name="Image 4" descr="preencoded.png"/>
          <p:cNvPicPr>
            <a:picLocks noChangeAspect="1"/>
          </p:cNvPicPr>
          <p:nvPr/>
        </p:nvPicPr>
        <p:blipFill>
          <a:blip r:embed="rId7"/>
          <a:stretch>
            <a:fillRect/>
          </a:stretch>
        </p:blipFill>
        <p:spPr>
          <a:xfrm>
            <a:off x="6480810" y="5109210"/>
            <a:ext cx="342900" cy="342900"/>
          </a:xfrm>
          <a:prstGeom prst="rect">
            <a:avLst/>
          </a:prstGeom>
        </p:spPr>
      </p:pic>
      <p:sp>
        <p:nvSpPr>
          <p:cNvPr id="18" name="Text 11"/>
          <p:cNvSpPr txBox="1"/>
          <p:nvPr/>
        </p:nvSpPr>
        <p:spPr>
          <a:xfrm>
            <a:off x="7178040" y="4937760"/>
            <a:ext cx="4434840" cy="365760"/>
          </a:xfrm>
          <a:prstGeom prst="rect">
            <a:avLst/>
          </a:prstGeom>
          <a:noFill/>
          <a:ln/>
        </p:spPr>
        <p:txBody>
          <a:bodyPr wrap="square" lIns="0" tIns="0" rIns="0" bIns="0" rtlCol="0" anchor="t"/>
          <a:lstStyle/>
          <a:p>
            <a:pPr marL="0" indent="0">
              <a:buNone/>
            </a:pPr>
            <a:r>
              <a:rPr lang="en-US" sz="1700" b="1" dirty="0">
                <a:solidFill>
                  <a:schemeClr val="tx2"/>
                </a:solidFill>
              </a:rPr>
              <a:t>Smaller than Step 4</a:t>
            </a:r>
            <a:endParaRPr lang="en-US" sz="1700" dirty="0"/>
          </a:p>
        </p:txBody>
      </p:sp>
      <p:sp>
        <p:nvSpPr>
          <p:cNvPr id="19" name="Text 12"/>
          <p:cNvSpPr txBox="1"/>
          <p:nvPr/>
        </p:nvSpPr>
        <p:spPr>
          <a:xfrm>
            <a:off x="7178040" y="5321808"/>
            <a:ext cx="4434840" cy="548640"/>
          </a:xfrm>
          <a:prstGeom prst="rect">
            <a:avLst/>
          </a:prstGeom>
          <a:noFill/>
          <a:ln/>
        </p:spPr>
        <p:txBody>
          <a:bodyPr wrap="square" lIns="0" tIns="0" rIns="0" bIns="0" rtlCol="0" anchor="t"/>
          <a:lstStyle/>
          <a:p>
            <a:pPr marL="0" indent="0">
              <a:buNone/>
            </a:pPr>
            <a:r>
              <a:rPr lang="en-US" sz="1400" dirty="0">
                <a:solidFill>
                  <a:schemeClr val="tx1"/>
                </a:solidFill>
              </a:rPr>
              <a:t>54k parameters vs 86k, simple to explain.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C7A89"/>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rgbClr val="12263A"/>
                </a:solidFill>
              </a:rPr>
              <a:t>CNN vs LSTM: what did we learn?</a:t>
            </a:r>
            <a:endParaRPr lang="en-US" sz="3200" dirty="0"/>
          </a:p>
        </p:txBody>
      </p:sp>
      <p:sp>
        <p:nvSpPr>
          <p:cNvPr id="3" name="Shape 1"/>
          <p:cNvSpPr/>
          <p:nvPr/>
        </p:nvSpPr>
        <p:spPr>
          <a:xfrm>
            <a:off x="548640" y="1325880"/>
            <a:ext cx="3566160" cy="3063240"/>
          </a:xfrm>
          <a:prstGeom prst="roundRect">
            <a:avLst>
              <a:gd name="adj" fmla="val 2388"/>
            </a:avLst>
          </a:prstGeom>
          <a:solidFill>
            <a:schemeClr val="bg2"/>
          </a:solidFill>
          <a:ln w="12700">
            <a:solidFill>
              <a:schemeClr val="bg2"/>
            </a:solidFill>
            <a:prstDash val="solid"/>
          </a:ln>
        </p:spPr>
        <p:txBody>
          <a:bodyPr/>
          <a:lstStyle/>
          <a:p>
            <a:endParaRPr lang="en-IN"/>
          </a:p>
        </p:txBody>
      </p:sp>
      <p:sp>
        <p:nvSpPr>
          <p:cNvPr id="4" name="Text 2"/>
          <p:cNvSpPr txBox="1"/>
          <p:nvPr/>
        </p:nvSpPr>
        <p:spPr>
          <a:xfrm>
            <a:off x="822960" y="1508760"/>
            <a:ext cx="3017520" cy="411480"/>
          </a:xfrm>
          <a:prstGeom prst="rect">
            <a:avLst/>
          </a:prstGeom>
          <a:noFill/>
          <a:ln/>
        </p:spPr>
        <p:txBody>
          <a:bodyPr wrap="square" lIns="0" tIns="0" rIns="0" bIns="0" rtlCol="0" anchor="t"/>
          <a:lstStyle/>
          <a:p>
            <a:pPr marL="0" indent="0">
              <a:buNone/>
            </a:pPr>
            <a:r>
              <a:rPr lang="en-US" sz="1800" b="1" dirty="0">
                <a:solidFill>
                  <a:schemeClr val="tx2"/>
                </a:solidFill>
              </a:rPr>
              <a:t>Shallow CNN</a:t>
            </a:r>
            <a:endParaRPr lang="en-US" sz="1800" dirty="0"/>
          </a:p>
        </p:txBody>
      </p:sp>
      <p:sp>
        <p:nvSpPr>
          <p:cNvPr id="5" name="Text 3"/>
          <p:cNvSpPr txBox="1"/>
          <p:nvPr/>
        </p:nvSpPr>
        <p:spPr>
          <a:xfrm>
            <a:off x="822960" y="1965960"/>
            <a:ext cx="3017520" cy="822960"/>
          </a:xfrm>
          <a:prstGeom prst="rect">
            <a:avLst/>
          </a:prstGeom>
          <a:noFill/>
          <a:ln/>
        </p:spPr>
        <p:txBody>
          <a:bodyPr wrap="square" lIns="0" tIns="0" rIns="0" bIns="0" rtlCol="0" anchor="ctr"/>
          <a:lstStyle/>
          <a:p>
            <a:pPr marL="0" indent="0">
              <a:buNone/>
            </a:pPr>
            <a:r>
              <a:rPr lang="en-US" sz="4400" b="1" dirty="0">
                <a:solidFill>
                  <a:schemeClr val="accent5"/>
                </a:solidFill>
              </a:rPr>
              <a:t>0.776</a:t>
            </a:r>
            <a:endParaRPr lang="en-US" sz="4400" dirty="0"/>
          </a:p>
        </p:txBody>
      </p:sp>
      <p:sp>
        <p:nvSpPr>
          <p:cNvPr id="6" name="Text 4"/>
          <p:cNvSpPr txBox="1"/>
          <p:nvPr/>
        </p:nvSpPr>
        <p:spPr>
          <a:xfrm>
            <a:off x="822960" y="2743200"/>
            <a:ext cx="3017520" cy="274320"/>
          </a:xfrm>
          <a:prstGeom prst="rect">
            <a:avLst/>
          </a:prstGeom>
          <a:noFill/>
          <a:ln/>
        </p:spPr>
        <p:txBody>
          <a:bodyPr wrap="square" lIns="0" tIns="0" rIns="0" bIns="0" rtlCol="0" anchor="t"/>
          <a:lstStyle/>
          <a:p>
            <a:pPr marL="0" indent="0">
              <a:buNone/>
            </a:pPr>
            <a:r>
              <a:rPr lang="en-US" sz="1200" dirty="0">
                <a:solidFill>
                  <a:schemeClr val="accent5"/>
                </a:solidFill>
              </a:rPr>
              <a:t>macro F1</a:t>
            </a:r>
            <a:endParaRPr lang="en-US" sz="1200" dirty="0"/>
          </a:p>
        </p:txBody>
      </p:sp>
      <p:sp>
        <p:nvSpPr>
          <p:cNvPr id="7" name="Text 5"/>
          <p:cNvSpPr txBox="1"/>
          <p:nvPr/>
        </p:nvSpPr>
        <p:spPr>
          <a:xfrm>
            <a:off x="822960" y="3108960"/>
            <a:ext cx="3017520" cy="1143000"/>
          </a:xfrm>
          <a:prstGeom prst="rect">
            <a:avLst/>
          </a:prstGeom>
          <a:noFill/>
          <a:ln/>
        </p:spPr>
        <p:txBody>
          <a:bodyPr wrap="square" lIns="0" tIns="0" rIns="0" bIns="0" rtlCol="0" anchor="t"/>
          <a:lstStyle/>
          <a:p>
            <a:pPr marL="0" indent="0">
              <a:buNone/>
            </a:pPr>
            <a:r>
              <a:rPr lang="en-US" sz="1400" dirty="0">
                <a:solidFill>
                  <a:schemeClr val="tx1"/>
                </a:solidFill>
              </a:rPr>
              <a:t>Sees only small windows, so it detects shapes but cannot measure timing.</a:t>
            </a:r>
            <a:endParaRPr lang="en-US" sz="1400" dirty="0"/>
          </a:p>
        </p:txBody>
      </p:sp>
      <p:sp>
        <p:nvSpPr>
          <p:cNvPr id="8" name="Shape 6"/>
          <p:cNvSpPr/>
          <p:nvPr/>
        </p:nvSpPr>
        <p:spPr>
          <a:xfrm>
            <a:off x="4297680" y="1325880"/>
            <a:ext cx="3566160" cy="3063240"/>
          </a:xfrm>
          <a:prstGeom prst="roundRect">
            <a:avLst>
              <a:gd name="adj" fmla="val 2388"/>
            </a:avLst>
          </a:prstGeom>
          <a:solidFill>
            <a:schemeClr val="bg2"/>
          </a:solidFill>
          <a:ln w="12700">
            <a:solidFill>
              <a:schemeClr val="bg2"/>
            </a:solidFill>
            <a:prstDash val="solid"/>
          </a:ln>
        </p:spPr>
        <p:txBody>
          <a:bodyPr/>
          <a:lstStyle/>
          <a:p>
            <a:endParaRPr lang="en-IN"/>
          </a:p>
        </p:txBody>
      </p:sp>
      <p:sp>
        <p:nvSpPr>
          <p:cNvPr id="9" name="Text 7"/>
          <p:cNvSpPr txBox="1"/>
          <p:nvPr/>
        </p:nvSpPr>
        <p:spPr>
          <a:xfrm>
            <a:off x="4572000" y="1508760"/>
            <a:ext cx="3017520" cy="411480"/>
          </a:xfrm>
          <a:prstGeom prst="rect">
            <a:avLst/>
          </a:prstGeom>
          <a:noFill/>
          <a:ln/>
        </p:spPr>
        <p:txBody>
          <a:bodyPr wrap="square" lIns="0" tIns="0" rIns="0" bIns="0" rtlCol="0" anchor="t"/>
          <a:lstStyle/>
          <a:p>
            <a:pPr marL="0" indent="0">
              <a:buNone/>
            </a:pPr>
            <a:r>
              <a:rPr lang="en-US" sz="1800" b="1" dirty="0">
                <a:solidFill>
                  <a:schemeClr val="tx2"/>
                </a:solidFill>
              </a:rPr>
              <a:t>CNN + BiLSTM</a:t>
            </a:r>
            <a:endParaRPr lang="en-US" sz="1800" dirty="0"/>
          </a:p>
        </p:txBody>
      </p:sp>
      <p:sp>
        <p:nvSpPr>
          <p:cNvPr id="10" name="Text 8"/>
          <p:cNvSpPr txBox="1"/>
          <p:nvPr/>
        </p:nvSpPr>
        <p:spPr>
          <a:xfrm>
            <a:off x="4572000" y="1965960"/>
            <a:ext cx="3017520" cy="822960"/>
          </a:xfrm>
          <a:prstGeom prst="rect">
            <a:avLst/>
          </a:prstGeom>
          <a:noFill/>
          <a:ln/>
        </p:spPr>
        <p:txBody>
          <a:bodyPr wrap="square" lIns="0" tIns="0" rIns="0" bIns="0" rtlCol="0" anchor="ctr"/>
          <a:lstStyle/>
          <a:p>
            <a:pPr marL="0" indent="0">
              <a:buNone/>
            </a:pPr>
            <a:r>
              <a:rPr lang="en-US" sz="4400" b="1" dirty="0">
                <a:solidFill>
                  <a:schemeClr val="accent6"/>
                </a:solidFill>
              </a:rPr>
              <a:t>0.887</a:t>
            </a:r>
            <a:endParaRPr lang="en-US" sz="4400" dirty="0"/>
          </a:p>
        </p:txBody>
      </p:sp>
      <p:sp>
        <p:nvSpPr>
          <p:cNvPr id="11" name="Text 9"/>
          <p:cNvSpPr txBox="1"/>
          <p:nvPr/>
        </p:nvSpPr>
        <p:spPr>
          <a:xfrm>
            <a:off x="4572000" y="2743200"/>
            <a:ext cx="3017520" cy="274320"/>
          </a:xfrm>
          <a:prstGeom prst="rect">
            <a:avLst/>
          </a:prstGeom>
          <a:noFill/>
          <a:ln/>
        </p:spPr>
        <p:txBody>
          <a:bodyPr wrap="square" lIns="0" tIns="0" rIns="0" bIns="0" rtlCol="0" anchor="t"/>
          <a:lstStyle/>
          <a:p>
            <a:pPr marL="0" indent="0">
              <a:buNone/>
            </a:pPr>
            <a:r>
              <a:rPr lang="en-US" sz="1200" dirty="0">
                <a:solidFill>
                  <a:schemeClr val="accent5"/>
                </a:solidFill>
              </a:rPr>
              <a:t>macro F1</a:t>
            </a:r>
            <a:endParaRPr lang="en-US" sz="1200" dirty="0"/>
          </a:p>
        </p:txBody>
      </p:sp>
      <p:sp>
        <p:nvSpPr>
          <p:cNvPr id="12" name="Text 10"/>
          <p:cNvSpPr txBox="1"/>
          <p:nvPr/>
        </p:nvSpPr>
        <p:spPr>
          <a:xfrm>
            <a:off x="4572000" y="3108960"/>
            <a:ext cx="3017520" cy="1143000"/>
          </a:xfrm>
          <a:prstGeom prst="rect">
            <a:avLst/>
          </a:prstGeom>
          <a:noFill/>
          <a:ln/>
        </p:spPr>
        <p:txBody>
          <a:bodyPr wrap="square" lIns="0" tIns="0" rIns="0" bIns="0" rtlCol="0" anchor="t"/>
          <a:lstStyle/>
          <a:p>
            <a:pPr marL="0" indent="0">
              <a:buNone/>
            </a:pPr>
            <a:r>
              <a:rPr lang="en-US" sz="1400" dirty="0">
                <a:solidFill>
                  <a:schemeClr val="tx1"/>
                </a:solidFill>
              </a:rPr>
              <a:t>Reads the beat in order, so it also understands timing (gap between spikes).</a:t>
            </a:r>
            <a:endParaRPr lang="en-US" sz="1400" dirty="0"/>
          </a:p>
        </p:txBody>
      </p:sp>
      <p:sp>
        <p:nvSpPr>
          <p:cNvPr id="13" name="Shape 11"/>
          <p:cNvSpPr/>
          <p:nvPr/>
        </p:nvSpPr>
        <p:spPr>
          <a:xfrm>
            <a:off x="8046720" y="1325880"/>
            <a:ext cx="3566160" cy="3063240"/>
          </a:xfrm>
          <a:prstGeom prst="roundRect">
            <a:avLst>
              <a:gd name="adj" fmla="val 2388"/>
            </a:avLst>
          </a:prstGeom>
          <a:solidFill>
            <a:schemeClr val="bg2"/>
          </a:solidFill>
          <a:ln w="12700">
            <a:solidFill>
              <a:schemeClr val="bg2"/>
            </a:solidFill>
            <a:prstDash val="solid"/>
          </a:ln>
        </p:spPr>
        <p:txBody>
          <a:bodyPr/>
          <a:lstStyle/>
          <a:p>
            <a:endParaRPr lang="en-IN"/>
          </a:p>
        </p:txBody>
      </p:sp>
      <p:sp>
        <p:nvSpPr>
          <p:cNvPr id="14" name="Text 12"/>
          <p:cNvSpPr txBox="1"/>
          <p:nvPr/>
        </p:nvSpPr>
        <p:spPr>
          <a:xfrm>
            <a:off x="8321040" y="1508760"/>
            <a:ext cx="3017520" cy="411480"/>
          </a:xfrm>
          <a:prstGeom prst="rect">
            <a:avLst/>
          </a:prstGeom>
          <a:noFill/>
          <a:ln/>
        </p:spPr>
        <p:txBody>
          <a:bodyPr wrap="square" lIns="0" tIns="0" rIns="0" bIns="0" rtlCol="0" anchor="t"/>
          <a:lstStyle/>
          <a:p>
            <a:pPr marL="0" indent="0">
              <a:buNone/>
            </a:pPr>
            <a:r>
              <a:rPr lang="en-US" sz="1800" b="1" dirty="0">
                <a:solidFill>
                  <a:schemeClr val="tx2"/>
                </a:solidFill>
              </a:rPr>
              <a:t>Deep ResNet CNN</a:t>
            </a:r>
            <a:endParaRPr lang="en-US" sz="1800" dirty="0"/>
          </a:p>
        </p:txBody>
      </p:sp>
      <p:sp>
        <p:nvSpPr>
          <p:cNvPr id="15" name="Text 13"/>
          <p:cNvSpPr txBox="1"/>
          <p:nvPr/>
        </p:nvSpPr>
        <p:spPr>
          <a:xfrm>
            <a:off x="8321040" y="1965960"/>
            <a:ext cx="3017520" cy="822960"/>
          </a:xfrm>
          <a:prstGeom prst="rect">
            <a:avLst/>
          </a:prstGeom>
          <a:noFill/>
          <a:ln/>
        </p:spPr>
        <p:txBody>
          <a:bodyPr wrap="square" lIns="0" tIns="0" rIns="0" bIns="0" rtlCol="0" anchor="ctr"/>
          <a:lstStyle/>
          <a:p>
            <a:pPr marL="0" indent="0">
              <a:buNone/>
            </a:pPr>
            <a:r>
              <a:rPr lang="en-US" sz="4400" b="1" dirty="0">
                <a:solidFill>
                  <a:schemeClr val="accent2"/>
                </a:solidFill>
              </a:rPr>
              <a:t>0.920</a:t>
            </a:r>
            <a:endParaRPr lang="en-US" sz="4400" dirty="0"/>
          </a:p>
        </p:txBody>
      </p:sp>
      <p:sp>
        <p:nvSpPr>
          <p:cNvPr id="16" name="Text 14"/>
          <p:cNvSpPr txBox="1"/>
          <p:nvPr/>
        </p:nvSpPr>
        <p:spPr>
          <a:xfrm>
            <a:off x="8321040" y="2743200"/>
            <a:ext cx="3017520" cy="274320"/>
          </a:xfrm>
          <a:prstGeom prst="rect">
            <a:avLst/>
          </a:prstGeom>
          <a:noFill/>
          <a:ln/>
        </p:spPr>
        <p:txBody>
          <a:bodyPr wrap="square" lIns="0" tIns="0" rIns="0" bIns="0" rtlCol="0" anchor="t"/>
          <a:lstStyle/>
          <a:p>
            <a:pPr marL="0" indent="0">
              <a:buNone/>
            </a:pPr>
            <a:r>
              <a:rPr lang="en-US" sz="1200" dirty="0">
                <a:solidFill>
                  <a:schemeClr val="accent5"/>
                </a:solidFill>
              </a:rPr>
              <a:t>macro F1</a:t>
            </a:r>
            <a:endParaRPr lang="en-US" sz="1200" dirty="0"/>
          </a:p>
        </p:txBody>
      </p:sp>
      <p:sp>
        <p:nvSpPr>
          <p:cNvPr id="17" name="Text 15"/>
          <p:cNvSpPr txBox="1"/>
          <p:nvPr/>
        </p:nvSpPr>
        <p:spPr>
          <a:xfrm>
            <a:off x="8321040" y="3108960"/>
            <a:ext cx="3017520" cy="1143000"/>
          </a:xfrm>
          <a:prstGeom prst="rect">
            <a:avLst/>
          </a:prstGeom>
          <a:noFill/>
          <a:ln/>
        </p:spPr>
        <p:txBody>
          <a:bodyPr wrap="square" lIns="0" tIns="0" rIns="0" bIns="0" rtlCol="0" anchor="t"/>
          <a:lstStyle/>
          <a:p>
            <a:pPr marL="0" indent="0">
              <a:buNone/>
            </a:pPr>
            <a:r>
              <a:rPr lang="en-US" sz="1400" dirty="0">
                <a:solidFill>
                  <a:schemeClr val="tx1"/>
                </a:solidFill>
              </a:rPr>
              <a:t>Deep enough to see the whole beat, so shapes AND timing, with fewer parameters.</a:t>
            </a:r>
            <a:endParaRPr lang="en-US" sz="1400" dirty="0"/>
          </a:p>
        </p:txBody>
      </p:sp>
      <p:sp>
        <p:nvSpPr>
          <p:cNvPr id="18" name="Shape 16"/>
          <p:cNvSpPr/>
          <p:nvPr/>
        </p:nvSpPr>
        <p:spPr>
          <a:xfrm>
            <a:off x="548640" y="4663440"/>
            <a:ext cx="11064240" cy="1417320"/>
          </a:xfrm>
          <a:prstGeom prst="roundRect">
            <a:avLst>
              <a:gd name="adj" fmla="val 5161"/>
            </a:avLst>
          </a:prstGeom>
          <a:solidFill>
            <a:schemeClr val="tx2"/>
          </a:solidFill>
          <a:ln w="12700">
            <a:solidFill>
              <a:schemeClr val="tx2"/>
            </a:solidFill>
            <a:prstDash val="solid"/>
          </a:ln>
        </p:spPr>
        <p:txBody>
          <a:bodyPr/>
          <a:lstStyle/>
          <a:p>
            <a:endParaRPr lang="en-IN"/>
          </a:p>
        </p:txBody>
      </p:sp>
      <p:sp>
        <p:nvSpPr>
          <p:cNvPr id="19" name="Shape 17"/>
          <p:cNvSpPr/>
          <p:nvPr/>
        </p:nvSpPr>
        <p:spPr>
          <a:xfrm>
            <a:off x="822960" y="4956048"/>
            <a:ext cx="822960" cy="822960"/>
          </a:xfrm>
          <a:prstGeom prst="ellipse">
            <a:avLst/>
          </a:prstGeom>
          <a:solidFill>
            <a:schemeClr val="accent2"/>
          </a:solidFill>
          <a:ln w="12700">
            <a:solidFill>
              <a:schemeClr val="accent2"/>
            </a:solidFill>
            <a:prstDash val="solid"/>
          </a:ln>
        </p:spPr>
        <p:txBody>
          <a:bodyPr/>
          <a:lstStyle/>
          <a:p>
            <a:endParaRPr lang="en-IN"/>
          </a:p>
        </p:txBody>
      </p:sp>
      <p:pic>
        <p:nvPicPr>
          <p:cNvPr id="20" name="Image 0" descr="preencoded.png"/>
          <p:cNvPicPr>
            <a:picLocks noChangeAspect="1"/>
          </p:cNvPicPr>
          <p:nvPr/>
        </p:nvPicPr>
        <p:blipFill>
          <a:blip r:embed="rId3"/>
          <a:stretch>
            <a:fillRect/>
          </a:stretch>
        </p:blipFill>
        <p:spPr>
          <a:xfrm>
            <a:off x="1028700" y="5161788"/>
            <a:ext cx="411480" cy="411480"/>
          </a:xfrm>
          <a:prstGeom prst="rect">
            <a:avLst/>
          </a:prstGeom>
        </p:spPr>
      </p:pic>
      <p:sp>
        <p:nvSpPr>
          <p:cNvPr id="21" name="Text 18"/>
          <p:cNvSpPr txBox="1"/>
          <p:nvPr/>
        </p:nvSpPr>
        <p:spPr>
          <a:xfrm>
            <a:off x="1920240" y="4800600"/>
            <a:ext cx="9418320" cy="1143000"/>
          </a:xfrm>
          <a:prstGeom prst="rect">
            <a:avLst/>
          </a:prstGeom>
          <a:noFill/>
          <a:ln/>
        </p:spPr>
        <p:txBody>
          <a:bodyPr wrap="square" lIns="0" tIns="0" rIns="0" bIns="0" rtlCol="0" anchor="ctr"/>
          <a:lstStyle/>
          <a:p>
            <a:pPr marL="0" indent="0">
              <a:buNone/>
            </a:pPr>
            <a:r>
              <a:rPr lang="en-US" sz="1500" b="1" dirty="0">
                <a:solidFill>
                  <a:schemeClr val="bg1"/>
                </a:solidFill>
              </a:rPr>
              <a:t>Answer: </a:t>
            </a:r>
            <a:r>
              <a:rPr lang="en-US" sz="1500" dirty="0">
                <a:solidFill>
                  <a:schemeClr val="bg1"/>
                </a:solidFill>
              </a:rPr>
              <a:t>the LSTM helped only because the first CNN was too shallow. For short, fixed-length signals like one heartbeat, a well-designed deep CNN is enough, and it beat the recurrent model.</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C7A89"/>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rgbClr val="12263A"/>
                </a:solidFill>
              </a:rPr>
              <a:t>Key takeaways</a:t>
            </a:r>
            <a:endParaRPr lang="en-US" sz="3200" dirty="0"/>
          </a:p>
        </p:txBody>
      </p:sp>
      <p:sp>
        <p:nvSpPr>
          <p:cNvPr id="3" name="Shape 1"/>
          <p:cNvSpPr/>
          <p:nvPr/>
        </p:nvSpPr>
        <p:spPr>
          <a:xfrm>
            <a:off x="548640" y="1371600"/>
            <a:ext cx="5440680" cy="2194560"/>
          </a:xfrm>
          <a:prstGeom prst="roundRect">
            <a:avLst>
              <a:gd name="adj" fmla="val 3333"/>
            </a:avLst>
          </a:prstGeom>
          <a:solidFill>
            <a:schemeClr val="bg2"/>
          </a:solidFill>
          <a:ln w="12700">
            <a:solidFill>
              <a:schemeClr val="bg2"/>
            </a:solidFill>
            <a:prstDash val="solid"/>
          </a:ln>
        </p:spPr>
        <p:txBody>
          <a:bodyPr/>
          <a:lstStyle/>
          <a:p>
            <a:endParaRPr lang="en-IN"/>
          </a:p>
        </p:txBody>
      </p:sp>
      <p:sp>
        <p:nvSpPr>
          <p:cNvPr id="4" name="Shape 2"/>
          <p:cNvSpPr/>
          <p:nvPr/>
        </p:nvSpPr>
        <p:spPr>
          <a:xfrm>
            <a:off x="822960" y="1645920"/>
            <a:ext cx="685800" cy="685800"/>
          </a:xfrm>
          <a:prstGeom prst="ellipse">
            <a:avLst/>
          </a:prstGeom>
          <a:solidFill>
            <a:schemeClr val="accent1"/>
          </a:solidFill>
          <a:ln w="12700">
            <a:solidFill>
              <a:schemeClr val="accent1"/>
            </a:solidFill>
            <a:prstDash val="solid"/>
          </a:ln>
        </p:spPr>
        <p:txBody>
          <a:bodyPr/>
          <a:lstStyle/>
          <a:p>
            <a:endParaRPr lang="en-IN"/>
          </a:p>
        </p:txBody>
      </p:sp>
      <p:sp>
        <p:nvSpPr>
          <p:cNvPr id="5" name="Text 3"/>
          <p:cNvSpPr txBox="1"/>
          <p:nvPr/>
        </p:nvSpPr>
        <p:spPr>
          <a:xfrm>
            <a:off x="822960" y="1645920"/>
            <a:ext cx="685800" cy="685800"/>
          </a:xfrm>
          <a:prstGeom prst="rect">
            <a:avLst/>
          </a:prstGeom>
          <a:no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6" name="Text 4"/>
          <p:cNvSpPr txBox="1"/>
          <p:nvPr/>
        </p:nvSpPr>
        <p:spPr>
          <a:xfrm>
            <a:off x="1737360" y="1645920"/>
            <a:ext cx="4023360" cy="685800"/>
          </a:xfrm>
          <a:prstGeom prst="rect">
            <a:avLst/>
          </a:prstGeom>
          <a:noFill/>
          <a:ln/>
        </p:spPr>
        <p:txBody>
          <a:bodyPr wrap="square" lIns="0" tIns="0" rIns="0" bIns="0" rtlCol="0" anchor="ctr"/>
          <a:lstStyle/>
          <a:p>
            <a:pPr marL="0" indent="0">
              <a:buNone/>
            </a:pPr>
            <a:r>
              <a:rPr lang="en-US" sz="1900" b="1" dirty="0">
                <a:solidFill>
                  <a:schemeClr val="tx2"/>
                </a:solidFill>
              </a:rPr>
              <a:t>Accuracy can lie</a:t>
            </a:r>
            <a:endParaRPr lang="en-US" sz="1900" dirty="0"/>
          </a:p>
        </p:txBody>
      </p:sp>
      <p:sp>
        <p:nvSpPr>
          <p:cNvPr id="7" name="Text 5"/>
          <p:cNvSpPr txBox="1"/>
          <p:nvPr/>
        </p:nvSpPr>
        <p:spPr>
          <a:xfrm>
            <a:off x="1737360" y="2423160"/>
            <a:ext cx="4023360" cy="960120"/>
          </a:xfrm>
          <a:prstGeom prst="rect">
            <a:avLst/>
          </a:prstGeom>
          <a:noFill/>
          <a:ln/>
        </p:spPr>
        <p:txBody>
          <a:bodyPr wrap="square" lIns="0" tIns="0" rIns="0" bIns="0" rtlCol="0" anchor="t"/>
          <a:lstStyle/>
          <a:p>
            <a:pPr marL="0" indent="0">
              <a:buNone/>
            </a:pPr>
            <a:r>
              <a:rPr lang="en-US" sz="1700" dirty="0">
                <a:solidFill>
                  <a:schemeClr val="tx1"/>
                </a:solidFill>
              </a:rPr>
              <a:t>With 83% Normal beats, macro F1 and per-class recall tell the real story.</a:t>
            </a:r>
            <a:endParaRPr lang="en-US" sz="1700" dirty="0"/>
          </a:p>
        </p:txBody>
      </p:sp>
      <p:sp>
        <p:nvSpPr>
          <p:cNvPr id="8" name="Shape 6"/>
          <p:cNvSpPr/>
          <p:nvPr/>
        </p:nvSpPr>
        <p:spPr>
          <a:xfrm>
            <a:off x="6172200" y="1371600"/>
            <a:ext cx="5440680" cy="2194560"/>
          </a:xfrm>
          <a:prstGeom prst="roundRect">
            <a:avLst>
              <a:gd name="adj" fmla="val 3333"/>
            </a:avLst>
          </a:prstGeom>
          <a:solidFill>
            <a:schemeClr val="bg2"/>
          </a:solidFill>
          <a:ln w="12700">
            <a:solidFill>
              <a:schemeClr val="bg2"/>
            </a:solidFill>
            <a:prstDash val="solid"/>
          </a:ln>
        </p:spPr>
        <p:txBody>
          <a:bodyPr/>
          <a:lstStyle/>
          <a:p>
            <a:endParaRPr lang="en-IN"/>
          </a:p>
        </p:txBody>
      </p:sp>
      <p:sp>
        <p:nvSpPr>
          <p:cNvPr id="9" name="Shape 7"/>
          <p:cNvSpPr/>
          <p:nvPr/>
        </p:nvSpPr>
        <p:spPr>
          <a:xfrm>
            <a:off x="6446520" y="1645920"/>
            <a:ext cx="685800" cy="685800"/>
          </a:xfrm>
          <a:prstGeom prst="ellipse">
            <a:avLst/>
          </a:prstGeom>
          <a:solidFill>
            <a:schemeClr val="accent1"/>
          </a:solidFill>
          <a:ln w="12700">
            <a:solidFill>
              <a:schemeClr val="accent1"/>
            </a:solidFill>
            <a:prstDash val="solid"/>
          </a:ln>
        </p:spPr>
        <p:txBody>
          <a:bodyPr/>
          <a:lstStyle/>
          <a:p>
            <a:endParaRPr lang="en-IN"/>
          </a:p>
        </p:txBody>
      </p:sp>
      <p:sp>
        <p:nvSpPr>
          <p:cNvPr id="10" name="Text 8"/>
          <p:cNvSpPr txBox="1"/>
          <p:nvPr/>
        </p:nvSpPr>
        <p:spPr>
          <a:xfrm>
            <a:off x="6446520" y="1645920"/>
            <a:ext cx="685800" cy="685800"/>
          </a:xfrm>
          <a:prstGeom prst="rect">
            <a:avLst/>
          </a:prstGeom>
          <a:no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1" name="Text 9"/>
          <p:cNvSpPr txBox="1"/>
          <p:nvPr/>
        </p:nvSpPr>
        <p:spPr>
          <a:xfrm>
            <a:off x="7360920" y="1645920"/>
            <a:ext cx="4023360" cy="685800"/>
          </a:xfrm>
          <a:prstGeom prst="rect">
            <a:avLst/>
          </a:prstGeom>
          <a:noFill/>
          <a:ln/>
        </p:spPr>
        <p:txBody>
          <a:bodyPr wrap="square" lIns="0" tIns="0" rIns="0" bIns="0" rtlCol="0" anchor="ctr"/>
          <a:lstStyle/>
          <a:p>
            <a:pPr marL="0" indent="0">
              <a:buNone/>
            </a:pPr>
            <a:r>
              <a:rPr lang="en-US" sz="1900" b="1" dirty="0">
                <a:solidFill>
                  <a:schemeClr val="tx2"/>
                </a:solidFill>
              </a:rPr>
              <a:t>Timing matters</a:t>
            </a:r>
            <a:endParaRPr lang="en-US" sz="1900" dirty="0"/>
          </a:p>
        </p:txBody>
      </p:sp>
      <p:sp>
        <p:nvSpPr>
          <p:cNvPr id="12" name="Text 10"/>
          <p:cNvSpPr txBox="1"/>
          <p:nvPr/>
        </p:nvSpPr>
        <p:spPr>
          <a:xfrm>
            <a:off x="7360920" y="2423160"/>
            <a:ext cx="4023360" cy="960120"/>
          </a:xfrm>
          <a:prstGeom prst="rect">
            <a:avLst/>
          </a:prstGeom>
          <a:noFill/>
          <a:ln/>
        </p:spPr>
        <p:txBody>
          <a:bodyPr wrap="square" lIns="0" tIns="0" rIns="0" bIns="0" rtlCol="0" anchor="t"/>
          <a:lstStyle/>
          <a:p>
            <a:pPr marL="0" indent="0">
              <a:buNone/>
            </a:pPr>
            <a:r>
              <a:rPr lang="en-US" sz="1700" dirty="0">
                <a:solidFill>
                  <a:schemeClr val="tx1"/>
                </a:solidFill>
              </a:rPr>
              <a:t>Abnormal beats differ in when the next beat comes, not only in shape.</a:t>
            </a:r>
            <a:endParaRPr lang="en-US" sz="1700" dirty="0"/>
          </a:p>
        </p:txBody>
      </p:sp>
      <p:sp>
        <p:nvSpPr>
          <p:cNvPr id="13" name="Shape 11"/>
          <p:cNvSpPr/>
          <p:nvPr/>
        </p:nvSpPr>
        <p:spPr>
          <a:xfrm>
            <a:off x="548640" y="3794760"/>
            <a:ext cx="5440680" cy="2194560"/>
          </a:xfrm>
          <a:prstGeom prst="roundRect">
            <a:avLst>
              <a:gd name="adj" fmla="val 3333"/>
            </a:avLst>
          </a:prstGeom>
          <a:solidFill>
            <a:schemeClr val="bg2"/>
          </a:solidFill>
          <a:ln w="12700">
            <a:solidFill>
              <a:schemeClr val="bg2"/>
            </a:solidFill>
            <a:prstDash val="solid"/>
          </a:ln>
        </p:spPr>
        <p:txBody>
          <a:bodyPr/>
          <a:lstStyle/>
          <a:p>
            <a:endParaRPr lang="en-IN"/>
          </a:p>
        </p:txBody>
      </p:sp>
      <p:sp>
        <p:nvSpPr>
          <p:cNvPr id="14" name="Shape 12"/>
          <p:cNvSpPr/>
          <p:nvPr/>
        </p:nvSpPr>
        <p:spPr>
          <a:xfrm>
            <a:off x="822960" y="4069080"/>
            <a:ext cx="685800" cy="685800"/>
          </a:xfrm>
          <a:prstGeom prst="ellipse">
            <a:avLst/>
          </a:prstGeom>
          <a:solidFill>
            <a:schemeClr val="accent1"/>
          </a:solidFill>
          <a:ln w="12700">
            <a:solidFill>
              <a:schemeClr val="accent1"/>
            </a:solidFill>
            <a:prstDash val="solid"/>
          </a:ln>
        </p:spPr>
        <p:txBody>
          <a:bodyPr/>
          <a:lstStyle/>
          <a:p>
            <a:endParaRPr lang="en-IN"/>
          </a:p>
        </p:txBody>
      </p:sp>
      <p:sp>
        <p:nvSpPr>
          <p:cNvPr id="15" name="Text 13"/>
          <p:cNvSpPr txBox="1"/>
          <p:nvPr/>
        </p:nvSpPr>
        <p:spPr>
          <a:xfrm>
            <a:off x="822960" y="4069080"/>
            <a:ext cx="685800" cy="685800"/>
          </a:xfrm>
          <a:prstGeom prst="rect">
            <a:avLst/>
          </a:prstGeom>
          <a:no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16" name="Text 14"/>
          <p:cNvSpPr txBox="1"/>
          <p:nvPr/>
        </p:nvSpPr>
        <p:spPr>
          <a:xfrm>
            <a:off x="1737360" y="4069080"/>
            <a:ext cx="4023360" cy="685800"/>
          </a:xfrm>
          <a:prstGeom prst="rect">
            <a:avLst/>
          </a:prstGeom>
          <a:noFill/>
          <a:ln/>
        </p:spPr>
        <p:txBody>
          <a:bodyPr wrap="square" lIns="0" tIns="0" rIns="0" bIns="0" rtlCol="0" anchor="ctr"/>
          <a:lstStyle/>
          <a:p>
            <a:pPr marL="0" indent="0">
              <a:buNone/>
            </a:pPr>
            <a:r>
              <a:rPr lang="en-US" sz="1900" b="1" dirty="0">
                <a:solidFill>
                  <a:schemeClr val="tx2"/>
                </a:solidFill>
              </a:rPr>
              <a:t>Depth needs skip connections</a:t>
            </a:r>
            <a:endParaRPr lang="en-US" sz="1900" dirty="0"/>
          </a:p>
        </p:txBody>
      </p:sp>
      <p:sp>
        <p:nvSpPr>
          <p:cNvPr id="17" name="Text 15"/>
          <p:cNvSpPr txBox="1"/>
          <p:nvPr/>
        </p:nvSpPr>
        <p:spPr>
          <a:xfrm>
            <a:off x="1737360" y="4846320"/>
            <a:ext cx="4023360" cy="960120"/>
          </a:xfrm>
          <a:prstGeom prst="rect">
            <a:avLst/>
          </a:prstGeom>
          <a:noFill/>
          <a:ln/>
        </p:spPr>
        <p:txBody>
          <a:bodyPr wrap="square" lIns="0" tIns="0" rIns="0" bIns="0" rtlCol="0" anchor="t"/>
          <a:lstStyle/>
          <a:p>
            <a:pPr marL="0" indent="0">
              <a:buNone/>
            </a:pPr>
            <a:r>
              <a:rPr lang="en-US" sz="1700" dirty="0">
                <a:solidFill>
                  <a:schemeClr val="tx1"/>
                </a:solidFill>
              </a:rPr>
              <a:t>Residual blocks + BatchNorm make an 11-layer CNN easy to train.</a:t>
            </a:r>
            <a:endParaRPr lang="en-US" sz="1700" dirty="0"/>
          </a:p>
        </p:txBody>
      </p:sp>
      <p:sp>
        <p:nvSpPr>
          <p:cNvPr id="18" name="Shape 16"/>
          <p:cNvSpPr/>
          <p:nvPr/>
        </p:nvSpPr>
        <p:spPr>
          <a:xfrm>
            <a:off x="6172200" y="3794760"/>
            <a:ext cx="5440680" cy="2194560"/>
          </a:xfrm>
          <a:prstGeom prst="roundRect">
            <a:avLst>
              <a:gd name="adj" fmla="val 3333"/>
            </a:avLst>
          </a:prstGeom>
          <a:solidFill>
            <a:schemeClr val="bg2"/>
          </a:solidFill>
          <a:ln w="12700">
            <a:solidFill>
              <a:schemeClr val="bg2"/>
            </a:solidFill>
            <a:prstDash val="solid"/>
          </a:ln>
        </p:spPr>
        <p:txBody>
          <a:bodyPr/>
          <a:lstStyle/>
          <a:p>
            <a:endParaRPr lang="en-IN"/>
          </a:p>
        </p:txBody>
      </p:sp>
      <p:sp>
        <p:nvSpPr>
          <p:cNvPr id="19" name="Shape 17"/>
          <p:cNvSpPr/>
          <p:nvPr/>
        </p:nvSpPr>
        <p:spPr>
          <a:xfrm>
            <a:off x="6446520" y="4069080"/>
            <a:ext cx="685800" cy="685800"/>
          </a:xfrm>
          <a:prstGeom prst="ellipse">
            <a:avLst/>
          </a:prstGeom>
          <a:solidFill>
            <a:schemeClr val="accent1"/>
          </a:solidFill>
          <a:ln w="12700">
            <a:solidFill>
              <a:schemeClr val="accent1"/>
            </a:solidFill>
            <a:prstDash val="solid"/>
          </a:ln>
        </p:spPr>
        <p:txBody>
          <a:bodyPr/>
          <a:lstStyle/>
          <a:p>
            <a:endParaRPr lang="en-IN"/>
          </a:p>
        </p:txBody>
      </p:sp>
      <p:sp>
        <p:nvSpPr>
          <p:cNvPr id="20" name="Text 18"/>
          <p:cNvSpPr txBox="1"/>
          <p:nvPr/>
        </p:nvSpPr>
        <p:spPr>
          <a:xfrm>
            <a:off x="6446520" y="4069080"/>
            <a:ext cx="685800" cy="685800"/>
          </a:xfrm>
          <a:prstGeom prst="rect">
            <a:avLst/>
          </a:prstGeom>
          <a:noFill/>
          <a:ln/>
        </p:spPr>
        <p:txBody>
          <a:bodyPr wrap="square" lIns="0" tIns="0" rIns="0" bIns="0" rtlCol="0" anchor="ctr"/>
          <a:lstStyle/>
          <a:p>
            <a:pPr marL="0" indent="0" algn="ctr">
              <a:buNone/>
            </a:pPr>
            <a:r>
              <a:rPr lang="en-US" sz="2200" b="1" dirty="0">
                <a:solidFill>
                  <a:schemeClr val="bg1"/>
                </a:solidFill>
              </a:rPr>
              <a:t>4</a:t>
            </a:r>
            <a:endParaRPr lang="en-US" sz="2200" dirty="0"/>
          </a:p>
        </p:txBody>
      </p:sp>
      <p:sp>
        <p:nvSpPr>
          <p:cNvPr id="21" name="Text 19"/>
          <p:cNvSpPr txBox="1"/>
          <p:nvPr/>
        </p:nvSpPr>
        <p:spPr>
          <a:xfrm>
            <a:off x="7360920" y="4069080"/>
            <a:ext cx="4023360" cy="685800"/>
          </a:xfrm>
          <a:prstGeom prst="rect">
            <a:avLst/>
          </a:prstGeom>
          <a:noFill/>
          <a:ln/>
        </p:spPr>
        <p:txBody>
          <a:bodyPr wrap="square" lIns="0" tIns="0" rIns="0" bIns="0" rtlCol="0" anchor="ctr"/>
          <a:lstStyle/>
          <a:p>
            <a:pPr marL="0" indent="0">
              <a:buNone/>
            </a:pPr>
            <a:r>
              <a:rPr lang="en-US" sz="1900" b="1" dirty="0">
                <a:solidFill>
                  <a:schemeClr val="tx2"/>
                </a:solidFill>
              </a:rPr>
              <a:t>Handle imbalance gently</a:t>
            </a:r>
            <a:endParaRPr lang="en-US" sz="1900" dirty="0"/>
          </a:p>
        </p:txBody>
      </p:sp>
      <p:sp>
        <p:nvSpPr>
          <p:cNvPr id="22" name="Text 20"/>
          <p:cNvSpPr txBox="1"/>
          <p:nvPr/>
        </p:nvSpPr>
        <p:spPr>
          <a:xfrm>
            <a:off x="7360920" y="4846320"/>
            <a:ext cx="4023360" cy="960120"/>
          </a:xfrm>
          <a:prstGeom prst="rect">
            <a:avLst/>
          </a:prstGeom>
          <a:noFill/>
          <a:ln/>
        </p:spPr>
        <p:txBody>
          <a:bodyPr wrap="square" lIns="0" tIns="0" rIns="0" bIns="0" rtlCol="0" anchor="t"/>
          <a:lstStyle/>
          <a:p>
            <a:pPr marL="0" indent="0">
              <a:buNone/>
            </a:pPr>
            <a:r>
              <a:rPr lang="en-US" sz="1700" dirty="0">
                <a:solidFill>
                  <a:schemeClr val="tx1"/>
                </a:solidFill>
              </a:rPr>
              <a:t>Full class weights over-correct; softer √ weights give a good balance.</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C7A89"/>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rgbClr val="12263A"/>
                </a:solidFill>
              </a:rPr>
              <a:t>Limitations and next steps</a:t>
            </a:r>
            <a:endParaRPr lang="en-US" sz="3200" dirty="0"/>
          </a:p>
        </p:txBody>
      </p:sp>
      <p:sp>
        <p:nvSpPr>
          <p:cNvPr id="3" name="Shape 1"/>
          <p:cNvSpPr/>
          <p:nvPr/>
        </p:nvSpPr>
        <p:spPr>
          <a:xfrm>
            <a:off x="548640" y="1371600"/>
            <a:ext cx="5440680" cy="4709160"/>
          </a:xfrm>
          <a:prstGeom prst="roundRect">
            <a:avLst>
              <a:gd name="adj" fmla="val 1553"/>
            </a:avLst>
          </a:prstGeom>
          <a:solidFill>
            <a:schemeClr val="bg2"/>
          </a:solidFill>
          <a:ln w="12700">
            <a:solidFill>
              <a:schemeClr val="bg2"/>
            </a:solidFill>
            <a:prstDash val="solid"/>
          </a:ln>
        </p:spPr>
        <p:txBody>
          <a:bodyPr/>
          <a:lstStyle/>
          <a:p>
            <a:endParaRPr lang="en-IN"/>
          </a:p>
        </p:txBody>
      </p:sp>
      <p:sp>
        <p:nvSpPr>
          <p:cNvPr id="4" name="Shape 2"/>
          <p:cNvSpPr/>
          <p:nvPr/>
        </p:nvSpPr>
        <p:spPr>
          <a:xfrm>
            <a:off x="822960" y="1600200"/>
            <a:ext cx="685800" cy="685800"/>
          </a:xfrm>
          <a:prstGeom prst="ellipse">
            <a:avLst/>
          </a:prstGeom>
          <a:solidFill>
            <a:schemeClr val="accent4"/>
          </a:solidFill>
          <a:ln w="12700">
            <a:solidFill>
              <a:schemeClr val="accent4"/>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994410" y="1771650"/>
            <a:ext cx="342900" cy="342900"/>
          </a:xfrm>
          <a:prstGeom prst="rect">
            <a:avLst/>
          </a:prstGeom>
        </p:spPr>
      </p:pic>
      <p:sp>
        <p:nvSpPr>
          <p:cNvPr id="6" name="Text 3"/>
          <p:cNvSpPr txBox="1"/>
          <p:nvPr/>
        </p:nvSpPr>
        <p:spPr>
          <a:xfrm>
            <a:off x="1691640" y="1600200"/>
            <a:ext cx="4023360" cy="685800"/>
          </a:xfrm>
          <a:prstGeom prst="rect">
            <a:avLst/>
          </a:prstGeom>
          <a:noFill/>
          <a:ln/>
        </p:spPr>
        <p:txBody>
          <a:bodyPr wrap="square" lIns="0" tIns="0" rIns="0" bIns="0" rtlCol="0" anchor="ctr"/>
          <a:lstStyle/>
          <a:p>
            <a:pPr marL="0" indent="0">
              <a:buNone/>
            </a:pPr>
            <a:r>
              <a:rPr lang="en-US" sz="2000" b="1" dirty="0">
                <a:solidFill>
                  <a:schemeClr val="tx2"/>
                </a:solidFill>
              </a:rPr>
              <a:t>Limitations</a:t>
            </a:r>
            <a:endParaRPr lang="en-US" sz="2000" dirty="0"/>
          </a:p>
        </p:txBody>
      </p:sp>
      <p:sp>
        <p:nvSpPr>
          <p:cNvPr id="7" name="Text 4"/>
          <p:cNvSpPr txBox="1"/>
          <p:nvPr/>
        </p:nvSpPr>
        <p:spPr>
          <a:xfrm>
            <a:off x="822960" y="2560320"/>
            <a:ext cx="4892040" cy="3383280"/>
          </a:xfrm>
          <a:prstGeom prst="rect">
            <a:avLst/>
          </a:prstGeom>
          <a:noFill/>
          <a:ln/>
        </p:spPr>
        <p:txBody>
          <a:bodyPr wrap="square" lIns="0" tIns="0" rIns="0" bIns="0" rtlCol="0" anchor="t"/>
          <a:lstStyle/>
          <a:p>
            <a:pPr marL="342900" indent="-342900">
              <a:spcAft>
                <a:spcPts val="1600"/>
              </a:spcAft>
              <a:buSzPct val="100000"/>
              <a:buChar char="•"/>
            </a:pPr>
            <a:r>
              <a:rPr lang="en-US" sz="1700" dirty="0">
                <a:solidFill>
                  <a:schemeClr val="tx1"/>
                </a:solidFill>
              </a:rPr>
              <a:t>Each model was trained once (one seed), so small differences (e.g. 0.887 vs 0.883) may be noise.</a:t>
            </a:r>
            <a:endParaRPr lang="en-US" sz="1700" dirty="0"/>
          </a:p>
          <a:p>
            <a:pPr marL="342900" indent="-342900">
              <a:spcAft>
                <a:spcPts val="1600"/>
              </a:spcAft>
              <a:buSzPct val="100000"/>
              <a:buChar char="•"/>
            </a:pPr>
            <a:r>
              <a:rPr lang="en-US" sz="1700" dirty="0">
                <a:solidFill>
                  <a:schemeClr val="tx1"/>
                </a:solidFill>
              </a:rPr>
              <a:t>Only one dataset (MIT-BIH), with beats already cut and cleaned.</a:t>
            </a:r>
            <a:endParaRPr lang="en-US" sz="1700" dirty="0"/>
          </a:p>
          <a:p>
            <a:pPr marL="342900" indent="-342900">
              <a:spcAft>
                <a:spcPts val="1600"/>
              </a:spcAft>
              <a:buSzPct val="100000"/>
              <a:buChar char="•"/>
            </a:pPr>
            <a:r>
              <a:rPr lang="en-US" sz="1700" dirty="0">
                <a:solidFill>
                  <a:schemeClr val="tx1"/>
                </a:solidFill>
              </a:rPr>
              <a:t>Validation F1 of the ResNet jumps between epochs.</a:t>
            </a:r>
            <a:endParaRPr lang="en-US" sz="1700" dirty="0"/>
          </a:p>
        </p:txBody>
      </p:sp>
      <p:sp>
        <p:nvSpPr>
          <p:cNvPr id="8" name="Shape 5"/>
          <p:cNvSpPr/>
          <p:nvPr/>
        </p:nvSpPr>
        <p:spPr>
          <a:xfrm>
            <a:off x="6172200" y="1371600"/>
            <a:ext cx="5440680" cy="4709160"/>
          </a:xfrm>
          <a:prstGeom prst="roundRect">
            <a:avLst>
              <a:gd name="adj" fmla="val 1553"/>
            </a:avLst>
          </a:prstGeom>
          <a:solidFill>
            <a:schemeClr val="bg2"/>
          </a:solidFill>
          <a:ln w="12700">
            <a:solidFill>
              <a:schemeClr val="bg2"/>
            </a:solidFill>
            <a:prstDash val="solid"/>
          </a:ln>
        </p:spPr>
        <p:txBody>
          <a:bodyPr/>
          <a:lstStyle/>
          <a:p>
            <a:endParaRPr lang="en-IN"/>
          </a:p>
        </p:txBody>
      </p:sp>
      <p:sp>
        <p:nvSpPr>
          <p:cNvPr id="9" name="Shape 6"/>
          <p:cNvSpPr/>
          <p:nvPr/>
        </p:nvSpPr>
        <p:spPr>
          <a:xfrm>
            <a:off x="6446520" y="1600200"/>
            <a:ext cx="685800" cy="685800"/>
          </a:xfrm>
          <a:prstGeom prst="ellipse">
            <a:avLst/>
          </a:prstGeom>
          <a:solidFill>
            <a:schemeClr val="accent1"/>
          </a:solidFill>
          <a:ln w="12700">
            <a:solidFill>
              <a:schemeClr val="accent1"/>
            </a:solidFill>
            <a:prstDash val="solid"/>
          </a:ln>
        </p:spPr>
        <p:txBody>
          <a:bodyPr/>
          <a:lstStyle/>
          <a:p>
            <a:endParaRPr lang="en-IN"/>
          </a:p>
        </p:txBody>
      </p:sp>
      <p:pic>
        <p:nvPicPr>
          <p:cNvPr id="10" name="Image 1" descr="preencoded.png"/>
          <p:cNvPicPr>
            <a:picLocks noChangeAspect="1"/>
          </p:cNvPicPr>
          <p:nvPr/>
        </p:nvPicPr>
        <p:blipFill>
          <a:blip r:embed="rId4"/>
          <a:stretch>
            <a:fillRect/>
          </a:stretch>
        </p:blipFill>
        <p:spPr>
          <a:xfrm>
            <a:off x="6617970" y="1771650"/>
            <a:ext cx="342900" cy="342900"/>
          </a:xfrm>
          <a:prstGeom prst="rect">
            <a:avLst/>
          </a:prstGeom>
        </p:spPr>
      </p:pic>
      <p:sp>
        <p:nvSpPr>
          <p:cNvPr id="11" name="Text 7"/>
          <p:cNvSpPr txBox="1"/>
          <p:nvPr/>
        </p:nvSpPr>
        <p:spPr>
          <a:xfrm>
            <a:off x="7315200" y="1600200"/>
            <a:ext cx="4023360" cy="685800"/>
          </a:xfrm>
          <a:prstGeom prst="rect">
            <a:avLst/>
          </a:prstGeom>
          <a:noFill/>
          <a:ln/>
        </p:spPr>
        <p:txBody>
          <a:bodyPr wrap="square" lIns="0" tIns="0" rIns="0" bIns="0" rtlCol="0" anchor="ctr"/>
          <a:lstStyle/>
          <a:p>
            <a:pPr marL="0" indent="0">
              <a:buNone/>
            </a:pPr>
            <a:r>
              <a:rPr lang="en-US" sz="2000" b="1" dirty="0">
                <a:solidFill>
                  <a:schemeClr val="tx2"/>
                </a:solidFill>
              </a:rPr>
              <a:t>Next steps</a:t>
            </a:r>
            <a:endParaRPr lang="en-US" sz="2000" dirty="0"/>
          </a:p>
        </p:txBody>
      </p:sp>
      <p:sp>
        <p:nvSpPr>
          <p:cNvPr id="12" name="Text 8"/>
          <p:cNvSpPr txBox="1"/>
          <p:nvPr/>
        </p:nvSpPr>
        <p:spPr>
          <a:xfrm>
            <a:off x="6446520" y="2560320"/>
            <a:ext cx="4892040" cy="3383280"/>
          </a:xfrm>
          <a:prstGeom prst="rect">
            <a:avLst/>
          </a:prstGeom>
          <a:noFill/>
          <a:ln/>
        </p:spPr>
        <p:txBody>
          <a:bodyPr wrap="square" lIns="0" tIns="0" rIns="0" bIns="0" rtlCol="0" anchor="t"/>
          <a:lstStyle/>
          <a:p>
            <a:pPr marL="342900" indent="-342900">
              <a:spcAft>
                <a:spcPts val="1600"/>
              </a:spcAft>
              <a:buSzPct val="100000"/>
              <a:buChar char="•"/>
            </a:pPr>
            <a:r>
              <a:rPr lang="en-US" sz="1700" dirty="0">
                <a:solidFill>
                  <a:schemeClr val="tx1"/>
                </a:solidFill>
              </a:rPr>
              <a:t>Data augmentation for S and F (noise, scaling, shifting).</a:t>
            </a:r>
            <a:endParaRPr lang="en-US" sz="1700" dirty="0"/>
          </a:p>
          <a:p>
            <a:pPr marL="342900" indent="-342900">
              <a:spcAft>
                <a:spcPts val="1600"/>
              </a:spcAft>
              <a:buSzPct val="100000"/>
              <a:buChar char="•"/>
            </a:pPr>
            <a:r>
              <a:rPr lang="en-US" sz="1700" dirty="0">
                <a:solidFill>
                  <a:schemeClr val="tx1"/>
                </a:solidFill>
              </a:rPr>
              <a:t>Learning-rate scheduler to make training smoother.</a:t>
            </a:r>
            <a:endParaRPr lang="en-US" sz="1700" dirty="0"/>
          </a:p>
          <a:p>
            <a:pPr marL="342900" indent="-342900">
              <a:spcAft>
                <a:spcPts val="1600"/>
              </a:spcAft>
              <a:buSzPct val="100000"/>
              <a:buChar char="•"/>
            </a:pPr>
            <a:r>
              <a:rPr lang="en-US" sz="1700" dirty="0">
                <a:solidFill>
                  <a:schemeClr val="tx1"/>
                </a:solidFill>
              </a:rPr>
              <a:t>Attention directly on CNN features for clearer explanations.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C7A89"/>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863840" cy="1554480"/>
          </a:xfrm>
          <a:prstGeom prst="rect">
            <a:avLst/>
          </a:prstGeom>
          <a:noFill/>
          <a:ln/>
        </p:spPr>
        <p:txBody>
          <a:bodyPr wrap="square" lIns="0" tIns="0" rIns="0" bIns="0" rtlCol="0" anchor="b"/>
          <a:lstStyle/>
          <a:p>
            <a:pPr marL="0" indent="0" algn="l">
              <a:buNone/>
            </a:pPr>
            <a:r>
              <a:rPr lang="en-US" sz="4400" b="1" dirty="0">
                <a:solidFill>
                  <a:srgbClr val="FFFFFF"/>
                </a:solidFill>
              </a:rPr>
              <a:t>Thank you</a:t>
            </a:r>
            <a:endParaRPr lang="en-US" sz="4400" dirty="0"/>
          </a:p>
        </p:txBody>
      </p:sp>
      <p:sp>
        <p:nvSpPr>
          <p:cNvPr id="4" name="Shape 2"/>
          <p:cNvSpPr/>
          <p:nvPr/>
        </p:nvSpPr>
        <p:spPr>
          <a:xfrm>
            <a:off x="731520" y="4846320"/>
            <a:ext cx="7863840" cy="1005840"/>
          </a:xfrm>
          <a:prstGeom prst="roundRect">
            <a:avLst>
              <a:gd name="adj" fmla="val 7273"/>
            </a:avLst>
          </a:prstGeom>
          <a:solidFill>
            <a:srgbClr val="1E3A55"/>
          </a:solidFill>
          <a:ln w="12700">
            <a:solidFill>
              <a:srgbClr val="1E3A55"/>
            </a:solidFill>
            <a:prstDash val="solid"/>
          </a:ln>
        </p:spPr>
        <p:txBody>
          <a:bodyPr/>
          <a:lstStyle/>
          <a:p>
            <a:endParaRPr lang="en-IN"/>
          </a:p>
        </p:txBody>
      </p:sp>
      <p:sp>
        <p:nvSpPr>
          <p:cNvPr id="6" name="Shape 4"/>
          <p:cNvSpPr/>
          <p:nvPr/>
        </p:nvSpPr>
        <p:spPr>
          <a:xfrm>
            <a:off x="9052560" y="1828800"/>
            <a:ext cx="2377440" cy="2377440"/>
          </a:xfrm>
          <a:prstGeom prst="ellipse">
            <a:avLst/>
          </a:prstGeom>
          <a:solidFill>
            <a:schemeClr val="accent2"/>
          </a:solidFill>
          <a:ln w="12700">
            <a:solidFill>
              <a:schemeClr val="accent2"/>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9555480" y="2331720"/>
            <a:ext cx="1371600" cy="1371600"/>
          </a:xfrm>
          <a:prstGeom prst="rect">
            <a:avLst/>
          </a:prstGeom>
        </p:spPr>
      </p:pic>
    </p:spTree>
  </p:cSld>
  <p:clrMapOvr>
    <a:masterClrMapping/>
  </p:clrMapOvr>
</p:sld>
</file>

<file path=ppt/theme/theme1.xml><?xml version="1.0" encoding="utf-8"?>
<a:theme xmlns:a="http://schemas.openxmlformats.org/drawingml/2006/main" name="ECG Clinical">
  <a:themeElements>
    <a:clrScheme name="ECG Clinical">
      <a:dk1>
        <a:srgbClr val="1B1F24"/>
      </a:dk1>
      <a:lt1>
        <a:srgbClr val="FFFFFF"/>
      </a:lt1>
      <a:dk2>
        <a:srgbClr val="12263A"/>
      </a:dk2>
      <a:lt2>
        <a:srgbClr val="EEF3F7"/>
      </a:lt2>
      <a:accent1>
        <a:srgbClr val="0F8B8D"/>
      </a:accent1>
      <a:accent2>
        <a:srgbClr val="E63946"/>
      </a:accent2>
      <a:accent3>
        <a:srgbClr val="3A7D44"/>
      </a:accent3>
      <a:accent4>
        <a:srgbClr val="D9822B"/>
      </a:accent4>
      <a:accent5>
        <a:srgbClr val="6C7A89"/>
      </a:accent5>
      <a:accent6>
        <a:srgbClr val="2B4C7E"/>
      </a:accent6>
      <a:hlink>
        <a:srgbClr val="0F8B8D"/>
      </a:hlink>
      <a:folHlink>
        <a:srgbClr val="6C7A89"/>
      </a:folHlink>
    </a:clrScheme>
    <a:fontScheme name="ECG Clinic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3211</Words>
  <Application>Microsoft Office PowerPoint</Application>
  <PresentationFormat>Widescreen</PresentationFormat>
  <Paragraphs>443</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ECG Clinical</vt:lpstr>
      <vt:lpstr>ECG Heartbeat Classification</vt:lpstr>
      <vt:lpstr>What is the problem?</vt:lpstr>
      <vt:lpstr>The dataset</vt:lpstr>
      <vt:lpstr>The main challenge: class imbalance</vt:lpstr>
      <vt:lpstr>How we measure success</vt:lpstr>
      <vt:lpstr>My approach: change one thing at a time</vt:lpstr>
      <vt:lpstr>The three model families we used</vt:lpstr>
      <vt:lpstr>The 5 experiments at a glance</vt:lpstr>
      <vt:lpstr>Step 1: Simple 1D CNN (baseline)</vt:lpstr>
      <vt:lpstr>Step 2: Add class weights</vt:lpstr>
      <vt:lpstr>Step 3: CNN + BiLSTM + Attention</vt:lpstr>
      <vt:lpstr>Where does the attention look?</vt:lpstr>
      <vt:lpstr>Step 4: Softer (√) class weights</vt:lpstr>
      <vt:lpstr>Step 5: 1D ResNet (deep residual CNN)</vt:lpstr>
      <vt:lpstr>Results: all 5 steps compared</vt:lpstr>
      <vt:lpstr>Results in numbers</vt:lpstr>
      <vt:lpstr>Final model: 1D ResNet + √ class weights</vt:lpstr>
      <vt:lpstr>CNN vs LSTM: what did we learn?</vt:lpstr>
      <vt:lpstr>Key takeaways</vt:lpstr>
      <vt:lpstr>Limitations and next steps</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ECG Heartbeat Classification</dc:title>
  <dc:subject>PptxGenJS Presentation</dc:subject>
  <dc:creator>PptxGenJS</dc:creator>
  <cp:lastModifiedBy>Ansh Upadhyay</cp:lastModifiedBy>
  <cp:revision>6</cp:revision>
  <dcterms:created xsi:type="dcterms:W3CDTF">2026-10-08T13:11:11Z</dcterms:created>
  <dcterms:modified xsi:type="dcterms:W3CDTF">2026-10-09T04:47:43Z</dcterms:modified>
</cp:coreProperties>
</file>