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78ede59-d1a6-2050-0a33-80e3d35b9814}">
          <p14:sldIdLst>
            <p14:sldId id="256"/>
            <p14:sldId id="257"/>
          </p14:sldIdLst>
        </p14:section>
        <p14:section name="Method" id="{2cd0a3d0-b634-0a58-5a7c-5198515bac62}">
          <p14:sldIdLst>
            <p14:sldId id="258"/>
            <p14:sldId id="259"/>
            <p14:sldId id="260"/>
          </p14:sldIdLst>
        </p14:section>
        <p14:section name="Results" id="{be36c4f2-c263-6e93-e59e-70a9c64fa0d1}">
          <p14:sldIdLst>
            <p14:sldId id="261"/>
            <p14:sldId id="262"/>
            <p14:sldId id="263"/>
            <p14:sldId id="264"/>
            <p14:sldId id="265"/>
            <p14:sldId id="266"/>
          </p14:sldIdLst>
        </p14:section>
        <p14:section name="Conclusion" id="{357ade2e-c9f6-cdda-c29d-9fec8cc07e6b}">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E24"/>
                </a:solidFill>
                <a:latin typeface="+mn-lt"/>
              </a:defRPr>
            </a:pPr>
            <a:r>
              <a:rPr sz="1400" b="0" i="0" u="none" strike="noStrike">
                <a:solidFill>
                  <a:srgbClr val="1E1E24"/>
                </a:solidFill>
                <a:latin typeface="+mn-lt"/>
              </a:rPr>
              <a:t>Validation ROC-AUC (1.0 = perfect ranking)</a:t>
            </a:r>
          </a:p>
        </c:rich>
      </c:tx>
      <c:layout/>
      <c:overlay val="0"/>
    </c:title>
    <c:autoTitleDeleted val="0"/>
    <c:plotArea>
      <c:layout/>
      <c:barChart>
        <c:barDir val="bar"/>
        <c:grouping val="clustered"/>
        <c:varyColors val="0"/>
        <c:ser>
          <c:idx val="0"/>
          <c:order val="0"/>
          <c:tx>
            <c:strRef>
              <c:f>Sheet1!$B$1</c:f>
              <c:strCache>
                <c:ptCount val="1"/>
                <c:pt idx="0">
                  <c:v>ROC-AUC</c:v>
                </c:pt>
              </c:strCache>
            </c:strRef>
          </c:tx>
          <c:spPr>
            <a:solidFill>
              <a:srgbClr val="5B6575"/>
            </a:solidFill>
            <a:effectLst/>
          </c:spPr>
          <c:invertIfNegative val="0"/>
          <c:dLbls>
            <c:numFmt formatCode="0.000" sourceLinked="0"/>
            <c:txPr>
              <a:bodyPr/>
              <a:lstStyle/>
              <a:p>
                <a:pPr>
                  <a:defRPr b="0" i="0" strike="noStrike" sz="1200" u="none">
                    <a:solidFill>
                      <a:srgbClr val="1E1E24"/>
                    </a:solidFill>
                    <a:latin typeface="+mn-lt"/>
                  </a:defRPr>
                </a:pPr>
              </a:p>
            </c:txPr>
            <c:showLegendKey val="0"/>
            <c:showVal val="1"/>
            <c:showCatName val="0"/>
            <c:showSerName val="0"/>
            <c:showPercent val="0"/>
            <c:showBubbleSize val="0"/>
            <c:showLeaderLines val="0"/>
          </c:dLbls>
          <c:dPt>
            <c:idx val="0"/>
            <c:invertIfNegative val="0"/>
            <c:bubble3D val="0"/>
            <c:spPr>
              <a:solidFill>
                <a:srgbClr val="5B6575"/>
              </a:solidFill>
              <a:effectLst/>
            </c:spPr>
          </c:dPt>
          <c:dPt>
            <c:idx val="1"/>
            <c:invertIfNegative val="0"/>
            <c:bubble3D val="0"/>
            <c:spPr>
              <a:solidFill>
                <a:srgbClr val="14213D"/>
              </a:solidFill>
              <a:effectLst/>
            </c:spPr>
          </c:dPt>
          <c:dPt>
            <c:idx val="2"/>
            <c:invertIfNegative val="0"/>
            <c:bubble3D val="0"/>
            <c:spPr>
              <a:solidFill>
                <a:srgbClr val="14213D"/>
              </a:solidFill>
              <a:effectLst/>
            </c:spPr>
          </c:dPt>
          <c:dPt>
            <c:idx val="3"/>
            <c:invertIfNegative val="0"/>
            <c:bubble3D val="0"/>
            <c:spPr>
              <a:solidFill>
                <a:srgbClr val="1F6F78"/>
              </a:solidFill>
              <a:effectLst/>
            </c:spPr>
          </c:dPt>
          <c:dPt>
            <c:idx val="4"/>
            <c:invertIfNegative val="0"/>
            <c:bubble3D val="0"/>
            <c:spPr>
              <a:solidFill>
                <a:srgbClr val="1F6F78"/>
              </a:solidFill>
              <a:effectLst/>
            </c:spPr>
          </c:dPt>
          <c:cat>
            <c:multiLvlStrRef>
              <c:f>Sheet1!$A$2:$A$6</c:f>
              <c:multiLvlStrCache>
                <c:ptCount val="5"/>
                <c:lvl>
                  <c:pt idx="0">
                    <c:v>LogReg raw (baseline)</c:v>
                  </c:pt>
                  <c:pt idx="1">
                    <c:v>Random forest raw</c:v>
                  </c:pt>
                  <c:pt idx="2">
                    <c:v>Grad boosting raw</c:v>
                  </c:pt>
                  <c:pt idx="3">
                    <c:v>LogReg features</c:v>
                  </c:pt>
                  <c:pt idx="4">
                    <c:v>Random forest features</c:v>
                  </c:pt>
                </c:lvl>
              </c:multiLvlStrCache>
            </c:multiLvlStrRef>
          </c:cat>
          <c:val>
            <c:numRef>
              <c:f>Sheet1!$B$2:$B$6</c:f>
              <c:numCache>
                <c:formatCode>General</c:formatCode>
                <c:ptCount val="5"/>
                <c:pt idx="0">
                  <c:v>0.504</c:v>
                </c:pt>
                <c:pt idx="1">
                  <c:v>0.989</c:v>
                </c:pt>
                <c:pt idx="2">
                  <c:v>0.992</c:v>
                </c:pt>
                <c:pt idx="3">
                  <c:v>0.993</c:v>
                </c:pt>
                <c:pt idx="4">
                  <c:v>0.991</c:v>
                </c:pt>
              </c:numCache>
            </c:numRef>
          </c:val>
        </c:ser>
        <c:dLbls>
          <c:numFmt formatCode="0.000" sourceLinked="0"/>
          <c:txPr>
            <a:bodyPr/>
            <a:lstStyle/>
            <a:p>
              <a:pPr>
                <a:defRPr b="0" i="0" strike="noStrike" sz="1200" u="none">
                  <a:solidFill>
                    <a:srgbClr val="1E1E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575"/>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9525" cap="flat">
              <a:solidFill>
                <a:srgbClr val="DDE3EA"/>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5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E24"/>
                </a:solidFill>
                <a:latin typeface="+mn-lt"/>
              </a:defRPr>
            </a:pPr>
            <a:r>
              <a:rPr sz="1400" b="0" i="0" u="none" strike="noStrike">
                <a:solidFill>
                  <a:srgbClr val="1E1E24"/>
                </a:solidFill>
                <a:latin typeface="+mn-lt"/>
              </a:rPr>
              <a:t>Test false positives by original label</a:t>
            </a:r>
          </a:p>
        </c:rich>
      </c:tx>
      <c:layout/>
      <c:overlay val="0"/>
    </c:title>
    <c:autoTitleDeleted val="0"/>
    <c:plotArea>
      <c:layout/>
      <c:barChart>
        <c:barDir val="col"/>
        <c:grouping val="clustered"/>
        <c:varyColors val="0"/>
        <c:ser>
          <c:idx val="0"/>
          <c:order val="0"/>
          <c:tx>
            <c:strRef>
              <c:f>Sheet1!$B$1</c:f>
              <c:strCache>
                <c:ptCount val="1"/>
                <c:pt idx="0">
                  <c:v>False positives</c:v>
                </c:pt>
              </c:strCache>
            </c:strRef>
          </c:tx>
          <c:spPr>
            <a:solidFill>
              <a:srgbClr val="E0A100"/>
            </a:solidFill>
            <a:effectLst/>
          </c:spPr>
          <c:invertIfNegative val="0"/>
          <c:dLbls>
            <c:numFmt formatCode="#,##0" sourceLinked="0"/>
            <c:txPr>
              <a:bodyPr/>
              <a:lstStyle/>
              <a:p>
                <a:pPr>
                  <a:defRPr b="0" i="0" strike="noStrike" sz="1200" u="none">
                    <a:solidFill>
                      <a:srgbClr val="1E1E24"/>
                    </a:solidFill>
                    <a:latin typeface="+mn-lt"/>
                  </a:defRPr>
                </a:pPr>
              </a:p>
            </c:txPr>
            <c:showLegendKey val="0"/>
            <c:showVal val="1"/>
            <c:showCatName val="0"/>
            <c:showSerName val="0"/>
            <c:showPercent val="0"/>
            <c:showBubbleSize val="0"/>
            <c:showLeaderLines val="0"/>
          </c:dLbls>
          <c:cat>
            <c:multiLvlStrRef>
              <c:f>Sheet1!$A$2:$A$5</c:f>
              <c:multiLvlStrCache>
                <c:ptCount val="4"/>
                <c:lvl>
                  <c:pt idx="0">
                    <c:v>2 Tumour area</c:v>
                  </c:pt>
                  <c:pt idx="1">
                    <c:v>3 Healthy area (patient)</c:v>
                  </c:pt>
                  <c:pt idx="2">
                    <c:v>4 Eyes closed</c:v>
                  </c:pt>
                  <c:pt idx="3">
                    <c:v>5 Eyes open</c:v>
                  </c:pt>
                </c:lvl>
              </c:multiLvlStrCache>
            </c:multiLvlStrRef>
          </c:cat>
          <c:val>
            <c:numRef>
              <c:f>Sheet1!$B$2:$B$5</c:f>
              <c:numCache>
                <c:formatCode>General</c:formatCode>
                <c:ptCount val="4"/>
                <c:pt idx="0">
                  <c:v>28</c:v>
                </c:pt>
                <c:pt idx="1">
                  <c:v>28</c:v>
                </c:pt>
                <c:pt idx="2">
                  <c:v>19</c:v>
                </c:pt>
                <c:pt idx="3">
                  <c:v>0</c:v>
                </c:pt>
              </c:numCache>
            </c:numRef>
          </c:val>
        </c:ser>
        <c:dLbls>
          <c:numFmt formatCode="#,##0" sourceLinked="0"/>
          <c:txPr>
            <a:bodyPr/>
            <a:lstStyle/>
            <a:p>
              <a:pPr>
                <a:defRPr b="0" i="0" strike="noStrike" sz="1200" u="none">
                  <a:solidFill>
                    <a:srgbClr val="1E1E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575"/>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5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will show how I built and tested machine-learning models that look at one second of brain-signal data and say whether it looks like a seizure. The left part of this line is normal EEG; the right part is a seizure segment from the dataset — notice how much bigger and sharper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EEG is slow, so the idea is triage: the model does not diagnose, it only reorders the queue so the clinician sees likely seizure segments first. Input is one segment of 178 values, output is seizure or not, and the doctor makes the final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Kaggle file is a reshaped version of the Bonn EEG dataset. There are 500 recordings, 100 for each of 5 labels, and each recording is cut into 23 one-second chunks, giving 11,500 rows. I made label 1 the positive class and grouped the other four as non-seizure. Important: one row is a segment, 23 rows make a recording, and many recordings come from the same small group of people. Because 80 percent of rows are non-seizure, a model that always says no gets 80 percent accuracy, so I focus on sensitivity, specificity, PPV and NPV.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design choice. If I split rows randomly, neighbouring chunks of one recording would be in both training and test, and the model could just memorise each recording. So I split by recording ID: 60/20/20, same 20% seizure rate in each, and I verified no recording appears in two sets. The scaler is inside a pipeline so it only learns from training data, and the test set was used only once. One limit remains: there is no patient ID, so the same person can still be in both 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 logistic regression baseline and two stronger models on the raw 178 values. Then I computed 8 simple features per segment — like range, standard deviation and line length — and trained logistic regression and random forest on those, so I can compare raw input with features using the same model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validation set, every model except the raw logistic regression ranks segments almost perfectly. The baseline scores 0.504, a coin flip, but the same logistic regression on 8 features scores 0.993. The reason is that the position of a value inside the segment is arbitrary; what matters is amplitude and sharpness, which the features summarise. I chose the random forest on features as the best model by PR-AUC, 0.979; logistic regression on features was essentially tied.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checks whether a predicted probability matches reality. The dashed line is perfect. The baseline is far off, with Brier 0.150. The random forest on features roughly follows the line with Brier 0.021; the middle bins are a bit noisy because few segments get mid-range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0.5 threshold misses 50 seizure segments. Because a miss is more costly than a false alarm in a triage tool, I used the rule: the highest threshold that keeps sensitivity at least 95 percent. That gives 0.16. Misses drop to 23, false alarms rise to 65 out of 1,840 non-seizure segments, and PPV is still 87 percent — about 87 of every 100 flags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now did I touch the test set, once, with the model and threshold chosen on validation. Sensitivity was 97.6 percent and specificity 95.9 percent, similar to validation. The confidence intervals are wide because there are only 100 test recordings, and I bootstrapped recordings rather than rows because rows from the same recording are not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false negatives were seizure segments, 11 of them. The false positives came from labels 2 and 3, the tumour patients, and some from eyes-closed volunteers; eyes-open gave none. More importantly, the mistakes cluster: all 86 are in 15 recordings, and two recordings are wrong almost completely. That means errors are tied to particular recordings or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clinician thinks in recordings, not one-second segments. If I flag a recording when at least one segment is positive, sensitivity stays 100 percent but 12 healthy recordings are flagged. Requiring 5 positive segments keeps all 20 seizure recordings and only flags 5 healthy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these numbers are high, but they do not prove clinical usefulness. The data comes from about ten people, one channel, clean pre-selected segments, and an artificial 20 percent seizure rate. Before any hospital use we would need external validation on new patients and hospitals with continuous multichannel EEG, and a prospective study. In practice it should only reorder the queue for a neurologist, flag time windows rather than single seconds, and be monitored for false alarms.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554480"/>
          </a:xfrm>
          <a:prstGeom prst="rect">
            <a:avLst/>
          </a:prstGeom>
          <a:noFill/>
          <a:ln/>
        </p:spPr>
        <p:txBody>
          <a:bodyPr wrap="square" rtlCol="0"/>
          <a:lstStyle>
            <a:lvl1pPr indent="0" marL="0">
              <a:buNone/>
              <a:defRPr lang="en-US" sz="4400" b="1" dirty="0">
                <a:solidFill>
                  <a:schemeClr val="bg1"/>
                </a:solidFill>
                <a:latin typeface="Cambria" pitchFamily="34" charset="0"/>
                <a:ea typeface="Cambria" pitchFamily="34" charset="-122"/>
                <a:cs typeface="Cambria" pitchFamily="34" charset="-120"/>
              </a:defRPr>
            </a:lvl1pPr>
          </a:lstStyle>
          <a:p>
            <a:pPr indent="0" marL="0">
              <a:buNone/>
            </a:pPr>
            <a:endParaRPr lang="en-US" sz="4400" dirty="0"/>
          </a:p>
        </p:txBody>
      </p:sp>
      <p:sp>
        <p:nvSpPr>
          <p:cNvPr id="3" name="Text 0"/>
          <p:cNvSpPr/>
          <p:nvPr>
            <p:ph idx="101" type="body" hasCustomPrompt="1"/>
          </p:nvPr>
        </p:nvSpPr>
        <p:spPr>
          <a:xfrm>
            <a:off x="640080" y="3429000"/>
            <a:ext cx="10881360" cy="914400"/>
          </a:xfrm>
          <a:prstGeom prst="rect">
            <a:avLst/>
          </a:prstGeom>
          <a:noFill/>
          <a:ln/>
        </p:spPr>
        <p:txBody>
          <a:bodyPr wrap="square" rtlCol="0"/>
          <a:lstStyle>
            <a:lvl1pPr indent="0" marL="0">
              <a:buNone/>
              <a:defRPr lang="en-US" sz="1800" dirty="0">
                <a:solidFill>
                  <a:schemeClr val="accent5"/>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600" b="1" dirty="0">
                <a:solidFill>
                  <a:schemeClr val="tx2"/>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Lab 9 · EEG seizure recognition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881360" cy="1554480"/>
          </a:xfrm>
          <a:prstGeom prst="rect">
            <a:avLst/>
          </a:prstGeom>
          <a:noFill/>
          <a:ln/>
        </p:spPr>
        <p:txBody>
          <a:bodyPr wrap="square" rtlCol="0" anchor="b"/>
          <a:lstStyle/>
          <a:p>
            <a:pPr indent="0" marL="0">
              <a:buNone/>
            </a:pPr>
            <a:r>
              <a:rPr lang="en-US" sz="4400" b="1" dirty="0">
                <a:solidFill>
                  <a:schemeClr val="bg1"/>
                </a:solidFill>
                <a:latin typeface="Cambria" pitchFamily="34" charset="0"/>
                <a:ea typeface="Cambria" pitchFamily="34" charset="-122"/>
                <a:cs typeface="Cambria" pitchFamily="34" charset="-120"/>
              </a:rPr>
              <a:t>Spotting seizures in EEG with machine learning</a:t>
            </a:r>
            <a:endParaRPr lang="en-US" sz="4400" dirty="0"/>
          </a:p>
        </p:txBody>
      </p:sp>
      <p:sp>
        <p:nvSpPr>
          <p:cNvPr id="3" name="Text 0"/>
          <p:cNvSpPr/>
          <p:nvPr>
            <p:ph idx="101" type="body" hasCustomPrompt="1"/>
          </p:nvPr>
        </p:nvSpPr>
        <p:spPr>
          <a:xfrm>
            <a:off x="640080" y="3429000"/>
            <a:ext cx="10881360" cy="914400"/>
          </a:xfrm>
          <a:prstGeom prst="rect">
            <a:avLst/>
          </a:prstGeom>
          <a:noFill/>
          <a:ln/>
        </p:spPr>
        <p:txBody>
          <a:bodyPr wrap="square" rtlCol="0" anchor="t"/>
          <a:lstStyle/>
          <a:p>
            <a:pPr indent="0" marL="0">
              <a:buNone/>
            </a:pPr>
            <a:r>
              <a:rPr lang="en-US" sz="1800" dirty="0">
                <a:solidFill>
                  <a:schemeClr val="accent5"/>
                </a:solidFill>
                <a:latin typeface="Calibri" pitchFamily="34" charset="0"/>
                <a:ea typeface="Calibri" pitchFamily="34" charset="-122"/>
                <a:cs typeface="Calibri" pitchFamily="34" charset="-120"/>
              </a:rPr>
              <a:t>Lab 9 · AI in Healthcare, Unit II  ·  Ansh Upadhyay</a:t>
            </a:r>
            <a:endParaRPr lang="en-US" sz="1800" dirty="0"/>
          </a:p>
        </p:txBody>
      </p:sp>
      <p:pic>
        <p:nvPicPr>
          <p:cNvPr id="4" name="EEG waveform" descr="figures/title_wave.png">    </p:cNvPr>
          <p:cNvPicPr>
            <a:picLocks noChangeAspect="1"/>
          </p:cNvPicPr>
          <p:nvPr/>
        </p:nvPicPr>
        <p:blipFill>
          <a:blip r:embed="rId1">
            <a:alphaModFix amt="90000"/>
          </a:blip>
          <a:stretch>
            <a:fillRect/>
          </a:stretch>
        </p:blipFill>
        <p:spPr>
          <a:xfrm>
            <a:off x="640080" y="4572000"/>
            <a:ext cx="10881360" cy="1463040"/>
          </a:xfrm>
          <a:prstGeom prst="rect">
            <a:avLst/>
          </a:prstGeom>
        </p:spPr>
      </p:pic>
      <p:sp>
        <p:nvSpPr>
          <p:cNvPr id="5" name="Text 2"/>
          <p:cNvSpPr txBox="1"/>
          <p:nvPr/>
        </p:nvSpPr>
        <p:spPr>
          <a:xfrm>
            <a:off x="640080" y="6080760"/>
            <a:ext cx="2743200" cy="274320"/>
          </a:xfrm>
          <a:prstGeom prst="rect">
            <a:avLst/>
          </a:prstGeom>
          <a:noFill/>
          <a:ln/>
        </p:spPr>
        <p:txBody>
          <a:bodyPr wrap="square" lIns="0" tIns="0" rIns="0" bIns="0" rtlCol="0" anchor="t"/>
          <a:lstStyle/>
          <a:p>
            <a:pPr indent="0" marL="0">
              <a:buNone/>
            </a:pPr>
            <a:r>
              <a:rPr lang="en-US" sz="1200" dirty="0">
                <a:solidFill>
                  <a:schemeClr val="accent5"/>
                </a:solidFill>
              </a:rPr>
              <a:t>healthy EEG</a:t>
            </a:r>
            <a:endParaRPr lang="en-US" sz="1200" dirty="0"/>
          </a:p>
        </p:txBody>
      </p:sp>
      <p:sp>
        <p:nvSpPr>
          <p:cNvPr id="6" name="Text 3"/>
          <p:cNvSpPr txBox="1"/>
          <p:nvPr/>
        </p:nvSpPr>
        <p:spPr>
          <a:xfrm>
            <a:off x="8778240" y="6080760"/>
            <a:ext cx="2743200" cy="274320"/>
          </a:xfrm>
          <a:prstGeom prst="rect">
            <a:avLst/>
          </a:prstGeom>
          <a:noFill/>
          <a:ln/>
        </p:spPr>
        <p:txBody>
          <a:bodyPr wrap="square" lIns="0" tIns="0" rIns="0" bIns="0" rtlCol="0" anchor="t"/>
          <a:lstStyle/>
          <a:p>
            <a:pPr algn="r" indent="0" marL="0">
              <a:buNone/>
            </a:pPr>
            <a:r>
              <a:rPr lang="en-US" sz="1200" dirty="0">
                <a:solidFill>
                  <a:schemeClr val="accent6"/>
                </a:solidFill>
              </a:rPr>
              <a:t>seizure EEG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The problem: EEG review is slow</a:t>
            </a:r>
            <a:endParaRPr lang="en-US" sz="3600" dirty="0"/>
          </a:p>
        </p:txBody>
      </p:sp>
      <p:sp>
        <p:nvSpPr>
          <p:cNvPr id="3" name="Text 1"/>
          <p:cNvSpPr txBox="1"/>
          <p:nvPr/>
        </p:nvSpPr>
        <p:spPr>
          <a:xfrm>
            <a:off x="548640" y="1554480"/>
            <a:ext cx="4937760" cy="3291840"/>
          </a:xfrm>
          <a:prstGeom prst="rect">
            <a:avLst/>
          </a:prstGeom>
          <a:noFill/>
          <a:ln/>
        </p:spPr>
        <p:txBody>
          <a:bodyPr wrap="square" lIns="0" tIns="0" rIns="0" bIns="0" rtlCol="0" anchor="t"/>
          <a:lstStyle/>
          <a:p>
            <a:pPr indent="0" marL="0">
              <a:buNone/>
            </a:pPr>
            <a:r>
              <a:rPr lang="en-US" sz="1800" dirty="0">
                <a:solidFill>
                  <a:schemeClr val="tx1"/>
                </a:solidFill>
              </a:rPr>
              <a:t>An EEG records the brain's electrical activity as a voltage over time.</a:t>
            </a:r>
            <a:endParaRPr lang="en-US" sz="1800" dirty="0"/>
          </a:p>
          <a:p>
            <a:pPr indent="0" marL="0">
              <a:buNone/>
            </a:pPr>
            <a:r>
              <a:rPr lang="en-US" sz="800" dirty="0">
                <a:solidFill>
                  <a:schemeClr val="tx1"/>
                </a:solidFill>
              </a:rPr>
              <a:t> </a:t>
            </a:r>
            <a:endParaRPr lang="en-US" sz="1800" dirty="0"/>
          </a:p>
          <a:p>
            <a:pPr indent="0" marL="0">
              <a:buNone/>
            </a:pPr>
            <a:r>
              <a:rPr lang="en-US" sz="1800" dirty="0">
                <a:solidFill>
                  <a:schemeClr val="tx1"/>
                </a:solidFill>
              </a:rPr>
              <a:t>Neurologists read long recordings by eye to find seizures. That takes hours.</a:t>
            </a:r>
            <a:endParaRPr lang="en-US" sz="1800" dirty="0"/>
          </a:p>
          <a:p>
            <a:pPr indent="0" marL="0">
              <a:buNone/>
            </a:pPr>
            <a:r>
              <a:rPr lang="en-US" sz="800" dirty="0">
                <a:solidFill>
                  <a:schemeClr val="tx1"/>
                </a:solidFill>
              </a:rPr>
              <a:t> </a:t>
            </a:r>
            <a:endParaRPr lang="en-US" sz="1800" dirty="0"/>
          </a:p>
          <a:p>
            <a:pPr indent="0" marL="0">
              <a:buNone/>
            </a:pPr>
            <a:r>
              <a:rPr lang="en-US" sz="1800" b="1" dirty="0">
                <a:solidFill>
                  <a:schemeClr val="tx2"/>
                </a:solidFill>
              </a:rPr>
              <a:t>Idea: a model flags short segments that look like seizure, so the doctor looks at those first.</a:t>
            </a:r>
            <a:endParaRPr lang="en-US" sz="1800" dirty="0"/>
          </a:p>
        </p:txBody>
      </p:sp>
      <p:sp>
        <p:nvSpPr>
          <p:cNvPr id="4" name="row0 circle"/>
          <p:cNvSpPr/>
          <p:nvPr/>
        </p:nvSpPr>
        <p:spPr>
          <a:xfrm>
            <a:off x="6126480" y="1554480"/>
            <a:ext cx="777240" cy="777240"/>
          </a:xfrm>
          <a:prstGeom prst="ellipse">
            <a:avLst/>
          </a:prstGeom>
          <a:solidFill>
            <a:srgbClr val="1F6F78"/>
          </a:solidFill>
          <a:ln w="12700">
            <a:solidFill>
              <a:srgbClr val="1F6F78"/>
            </a:solidFill>
            <a:prstDash val="solid"/>
          </a:ln>
        </p:spPr>
      </p:sp>
      <p:pic>
        <p:nvPicPr>
          <p:cNvPr id="5" name="row0 icon" descr="preencoded.png">    </p:cNvPr>
          <p:cNvPicPr>
            <a:picLocks noChangeAspect="1"/>
          </p:cNvPicPr>
          <p:nvPr/>
        </p:nvPicPr>
        <p:blipFill>
          <a:blip r:embed="rId1"/>
          <a:stretch>
            <a:fillRect/>
          </a:stretch>
        </p:blipFill>
        <p:spPr>
          <a:xfrm>
            <a:off x="6320790" y="1748790"/>
            <a:ext cx="388620" cy="388620"/>
          </a:xfrm>
          <a:prstGeom prst="rect">
            <a:avLst/>
          </a:prstGeom>
        </p:spPr>
      </p:pic>
      <p:sp>
        <p:nvSpPr>
          <p:cNvPr id="6" name="Text 3"/>
          <p:cNvSpPr txBox="1"/>
          <p:nvPr/>
        </p:nvSpPr>
        <p:spPr>
          <a:xfrm>
            <a:off x="7132320" y="1572768"/>
            <a:ext cx="4480560" cy="320040"/>
          </a:xfrm>
          <a:prstGeom prst="rect">
            <a:avLst/>
          </a:prstGeom>
          <a:noFill/>
          <a:ln/>
        </p:spPr>
        <p:txBody>
          <a:bodyPr wrap="square" lIns="0" tIns="0" rIns="0" bIns="0" rtlCol="0" anchor="t"/>
          <a:lstStyle/>
          <a:p>
            <a:pPr indent="0" marL="0">
              <a:buNone/>
            </a:pPr>
            <a:r>
              <a:rPr lang="en-US" sz="1800" b="1" dirty="0">
                <a:solidFill>
                  <a:schemeClr val="tx2"/>
                </a:solidFill>
              </a:rPr>
              <a:t>Input</a:t>
            </a:r>
            <a:endParaRPr lang="en-US" sz="1800" dirty="0"/>
          </a:p>
        </p:txBody>
      </p:sp>
      <p:sp>
        <p:nvSpPr>
          <p:cNvPr id="7" name="Text 4"/>
          <p:cNvSpPr txBox="1"/>
          <p:nvPr/>
        </p:nvSpPr>
        <p:spPr>
          <a:xfrm>
            <a:off x="7132320" y="1920240"/>
            <a:ext cx="4480560" cy="457200"/>
          </a:xfrm>
          <a:prstGeom prst="rect">
            <a:avLst/>
          </a:prstGeom>
          <a:noFill/>
          <a:ln/>
        </p:spPr>
        <p:txBody>
          <a:bodyPr wrap="square" lIns="0" tIns="0" rIns="0" bIns="0" rtlCol="0" anchor="t"/>
          <a:lstStyle/>
          <a:p>
            <a:pPr indent="0" marL="0">
              <a:buNone/>
            </a:pPr>
            <a:r>
              <a:rPr lang="en-US" sz="1500" dirty="0">
                <a:solidFill>
                  <a:schemeClr val="tx1"/>
                </a:solidFill>
              </a:rPr>
              <a:t>One EEG segment: 178 numbers, about 1 second</a:t>
            </a:r>
            <a:endParaRPr lang="en-US" sz="1500" dirty="0"/>
          </a:p>
        </p:txBody>
      </p:sp>
      <p:sp>
        <p:nvSpPr>
          <p:cNvPr id="8" name="row1 circle"/>
          <p:cNvSpPr/>
          <p:nvPr/>
        </p:nvSpPr>
        <p:spPr>
          <a:xfrm>
            <a:off x="6126480" y="2743200"/>
            <a:ext cx="777240" cy="777240"/>
          </a:xfrm>
          <a:prstGeom prst="ellipse">
            <a:avLst/>
          </a:prstGeom>
          <a:solidFill>
            <a:srgbClr val="C8102E"/>
          </a:solidFill>
          <a:ln w="12700">
            <a:solidFill>
              <a:srgbClr val="C8102E"/>
            </a:solidFill>
            <a:prstDash val="solid"/>
          </a:ln>
        </p:spPr>
      </p:sp>
      <p:pic>
        <p:nvPicPr>
          <p:cNvPr id="9" name="row1 icon" descr="preencoded.png">    </p:cNvPr>
          <p:cNvPicPr>
            <a:picLocks noChangeAspect="1"/>
          </p:cNvPicPr>
          <p:nvPr/>
        </p:nvPicPr>
        <p:blipFill>
          <a:blip r:embed="rId2"/>
          <a:stretch>
            <a:fillRect/>
          </a:stretch>
        </p:blipFill>
        <p:spPr>
          <a:xfrm>
            <a:off x="6320790" y="2937510"/>
            <a:ext cx="388620" cy="388620"/>
          </a:xfrm>
          <a:prstGeom prst="rect">
            <a:avLst/>
          </a:prstGeom>
        </p:spPr>
      </p:pic>
      <p:sp>
        <p:nvSpPr>
          <p:cNvPr id="10" name="Text 6"/>
          <p:cNvSpPr txBox="1"/>
          <p:nvPr/>
        </p:nvSpPr>
        <p:spPr>
          <a:xfrm>
            <a:off x="7132320" y="2761488"/>
            <a:ext cx="4480560" cy="320040"/>
          </a:xfrm>
          <a:prstGeom prst="rect">
            <a:avLst/>
          </a:prstGeom>
          <a:noFill/>
          <a:ln/>
        </p:spPr>
        <p:txBody>
          <a:bodyPr wrap="square" lIns="0" tIns="0" rIns="0" bIns="0" rtlCol="0" anchor="t"/>
          <a:lstStyle/>
          <a:p>
            <a:pPr indent="0" marL="0">
              <a:buNone/>
            </a:pPr>
            <a:r>
              <a:rPr lang="en-US" sz="1800" b="1" dirty="0">
                <a:solidFill>
                  <a:schemeClr val="tx2"/>
                </a:solidFill>
              </a:rPr>
              <a:t>Task</a:t>
            </a:r>
            <a:endParaRPr lang="en-US" sz="1800" dirty="0"/>
          </a:p>
        </p:txBody>
      </p:sp>
      <p:sp>
        <p:nvSpPr>
          <p:cNvPr id="11" name="Text 7"/>
          <p:cNvSpPr txBox="1"/>
          <p:nvPr/>
        </p:nvSpPr>
        <p:spPr>
          <a:xfrm>
            <a:off x="7132320" y="3108960"/>
            <a:ext cx="4480560" cy="457200"/>
          </a:xfrm>
          <a:prstGeom prst="rect">
            <a:avLst/>
          </a:prstGeom>
          <a:noFill/>
          <a:ln/>
        </p:spPr>
        <p:txBody>
          <a:bodyPr wrap="square" lIns="0" tIns="0" rIns="0" bIns="0" rtlCol="0" anchor="t"/>
          <a:lstStyle/>
          <a:p>
            <a:pPr indent="0" marL="0">
              <a:buNone/>
            </a:pPr>
            <a:r>
              <a:rPr lang="en-US" sz="1500" dirty="0">
                <a:solidFill>
                  <a:schemeClr val="tx1"/>
                </a:solidFill>
              </a:rPr>
              <a:t>Binary classification: seizure (1) or not (0)</a:t>
            </a:r>
            <a:endParaRPr lang="en-US" sz="1500" dirty="0"/>
          </a:p>
        </p:txBody>
      </p:sp>
      <p:sp>
        <p:nvSpPr>
          <p:cNvPr id="12" name="row2 circle"/>
          <p:cNvSpPr/>
          <p:nvPr/>
        </p:nvSpPr>
        <p:spPr>
          <a:xfrm>
            <a:off x="6126480" y="3931920"/>
            <a:ext cx="777240" cy="777240"/>
          </a:xfrm>
          <a:prstGeom prst="ellipse">
            <a:avLst/>
          </a:prstGeom>
          <a:solidFill>
            <a:srgbClr val="14213D"/>
          </a:solidFill>
          <a:ln w="12700">
            <a:solidFill>
              <a:srgbClr val="14213D"/>
            </a:solidFill>
            <a:prstDash val="solid"/>
          </a:ln>
        </p:spPr>
      </p:sp>
      <p:pic>
        <p:nvPicPr>
          <p:cNvPr id="13" name="row2 icon" descr="preencoded.png">    </p:cNvPr>
          <p:cNvPicPr>
            <a:picLocks noChangeAspect="1"/>
          </p:cNvPicPr>
          <p:nvPr/>
        </p:nvPicPr>
        <p:blipFill>
          <a:blip r:embed="rId3"/>
          <a:stretch>
            <a:fillRect/>
          </a:stretch>
        </p:blipFill>
        <p:spPr>
          <a:xfrm>
            <a:off x="6320790" y="4126230"/>
            <a:ext cx="388620" cy="388620"/>
          </a:xfrm>
          <a:prstGeom prst="rect">
            <a:avLst/>
          </a:prstGeom>
        </p:spPr>
      </p:pic>
      <p:sp>
        <p:nvSpPr>
          <p:cNvPr id="14" name="Text 9"/>
          <p:cNvSpPr txBox="1"/>
          <p:nvPr/>
        </p:nvSpPr>
        <p:spPr>
          <a:xfrm>
            <a:off x="7132320" y="3950208"/>
            <a:ext cx="4480560" cy="320040"/>
          </a:xfrm>
          <a:prstGeom prst="rect">
            <a:avLst/>
          </a:prstGeom>
          <a:noFill/>
          <a:ln/>
        </p:spPr>
        <p:txBody>
          <a:bodyPr wrap="square" lIns="0" tIns="0" rIns="0" bIns="0" rtlCol="0" anchor="t"/>
          <a:lstStyle/>
          <a:p>
            <a:pPr indent="0" marL="0">
              <a:buNone/>
            </a:pPr>
            <a:r>
              <a:rPr lang="en-US" sz="1800" b="1" dirty="0">
                <a:solidFill>
                  <a:schemeClr val="tx2"/>
                </a:solidFill>
              </a:rPr>
              <a:t>User</a:t>
            </a:r>
            <a:endParaRPr lang="en-US" sz="1800" dirty="0"/>
          </a:p>
        </p:txBody>
      </p:sp>
      <p:sp>
        <p:nvSpPr>
          <p:cNvPr id="15" name="Text 10"/>
          <p:cNvSpPr txBox="1"/>
          <p:nvPr/>
        </p:nvSpPr>
        <p:spPr>
          <a:xfrm>
            <a:off x="7132320" y="4297680"/>
            <a:ext cx="4480560" cy="457200"/>
          </a:xfrm>
          <a:prstGeom prst="rect">
            <a:avLst/>
          </a:prstGeom>
          <a:noFill/>
          <a:ln/>
        </p:spPr>
        <p:txBody>
          <a:bodyPr wrap="square" lIns="0" tIns="0" rIns="0" bIns="0" rtlCol="0" anchor="t"/>
          <a:lstStyle/>
          <a:p>
            <a:pPr indent="0" marL="0">
              <a:buNone/>
            </a:pPr>
            <a:r>
              <a:rPr lang="en-US" sz="1500" dirty="0">
                <a:solidFill>
                  <a:schemeClr val="tx1"/>
                </a:solidFill>
              </a:rPr>
              <a:t>A clinician, who always makes the final decision</a:t>
            </a:r>
            <a:endParaRPr lang="en-US" sz="1500" dirty="0"/>
          </a:p>
        </p:txBody>
      </p:sp>
      <p:sp>
        <p:nvSpPr>
          <p:cNvPr id="16" name="disclaimer card"/>
          <p:cNvSpPr/>
          <p:nvPr/>
        </p:nvSpPr>
        <p:spPr>
          <a:xfrm>
            <a:off x="548640" y="5257800"/>
            <a:ext cx="11064240" cy="777240"/>
          </a:xfrm>
          <a:prstGeom prst="roundRect">
            <a:avLst>
              <a:gd name="adj" fmla="val 14118"/>
            </a:avLst>
          </a:prstGeom>
          <a:solidFill>
            <a:srgbClr val="EEF2F6"/>
          </a:solidFill>
          <a:ln w="12700">
            <a:solidFill>
              <a:srgbClr val="EEF2F6"/>
            </a:solidFill>
            <a:prstDash val="solid"/>
          </a:ln>
        </p:spPr>
      </p:sp>
      <p:sp>
        <p:nvSpPr>
          <p:cNvPr id="17" name="warn circle"/>
          <p:cNvSpPr/>
          <p:nvPr/>
        </p:nvSpPr>
        <p:spPr>
          <a:xfrm>
            <a:off x="731520" y="5376672"/>
            <a:ext cx="548640" cy="548640"/>
          </a:xfrm>
          <a:prstGeom prst="ellipse">
            <a:avLst/>
          </a:prstGeom>
          <a:solidFill>
            <a:srgbClr val="E0A100"/>
          </a:solidFill>
          <a:ln w="12700">
            <a:solidFill>
              <a:srgbClr val="E0A100"/>
            </a:solidFill>
            <a:prstDash val="solid"/>
          </a:ln>
        </p:spPr>
      </p:sp>
      <p:pic>
        <p:nvPicPr>
          <p:cNvPr id="18" name="warn icon" descr="preencoded.png">    </p:cNvPr>
          <p:cNvPicPr>
            <a:picLocks noChangeAspect="1"/>
          </p:cNvPicPr>
          <p:nvPr/>
        </p:nvPicPr>
        <p:blipFill>
          <a:blip r:embed="rId4"/>
          <a:stretch>
            <a:fillRect/>
          </a:stretch>
        </p:blipFill>
        <p:spPr>
          <a:xfrm>
            <a:off x="868680" y="5513832"/>
            <a:ext cx="274320" cy="274320"/>
          </a:xfrm>
          <a:prstGeom prst="rect">
            <a:avLst/>
          </a:prstGeom>
        </p:spPr>
      </p:pic>
      <p:sp>
        <p:nvSpPr>
          <p:cNvPr id="19" name="Text 13"/>
          <p:cNvSpPr txBox="1"/>
          <p:nvPr/>
        </p:nvSpPr>
        <p:spPr>
          <a:xfrm>
            <a:off x="1463040" y="5257800"/>
            <a:ext cx="9966960" cy="777240"/>
          </a:xfrm>
          <a:prstGeom prst="rect">
            <a:avLst/>
          </a:prstGeom>
          <a:noFill/>
          <a:ln/>
        </p:spPr>
        <p:txBody>
          <a:bodyPr wrap="square" lIns="0" tIns="0" rIns="0" bIns="0" rtlCol="0" anchor="ctr"/>
          <a:lstStyle/>
          <a:p>
            <a:pPr indent="0" marL="0">
              <a:buNone/>
            </a:pPr>
            <a:r>
              <a:rPr lang="en-US" sz="1600" dirty="0">
                <a:solidFill>
                  <a:schemeClr val="tx1"/>
                </a:solidFill>
              </a:rPr>
              <a:t>Educational exercise only. This model is not a diagnostic tool and is not ready for clinical use.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The data: 500 recordings, 11,500 segments</a:t>
            </a:r>
            <a:endParaRPr lang="en-US" sz="3600" dirty="0"/>
          </a:p>
        </p:txBody>
      </p:sp>
      <p:sp>
        <p:nvSpPr>
          <p:cNvPr id="3" name="Text 1"/>
          <p:cNvSpPr txBox="1"/>
          <p:nvPr/>
        </p:nvSpPr>
        <p:spPr>
          <a:xfrm>
            <a:off x="548640" y="1508760"/>
            <a:ext cx="1737360" cy="64008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500</a:t>
            </a:r>
            <a:endParaRPr lang="en-US" sz="3000" dirty="0"/>
          </a:p>
        </p:txBody>
      </p:sp>
      <p:sp>
        <p:nvSpPr>
          <p:cNvPr id="4" name="Text 2"/>
          <p:cNvSpPr txBox="1"/>
          <p:nvPr/>
        </p:nvSpPr>
        <p:spPr>
          <a:xfrm>
            <a:off x="548640" y="2148840"/>
            <a:ext cx="1737360" cy="548640"/>
          </a:xfrm>
          <a:prstGeom prst="rect">
            <a:avLst/>
          </a:prstGeom>
          <a:noFill/>
          <a:ln/>
        </p:spPr>
        <p:txBody>
          <a:bodyPr wrap="square" lIns="0" tIns="0" rIns="0" bIns="0" rtlCol="0" anchor="t"/>
          <a:lstStyle/>
          <a:p>
            <a:pPr indent="0" marL="0">
              <a:buNone/>
            </a:pPr>
            <a:r>
              <a:rPr lang="en-US" sz="1300" dirty="0">
                <a:solidFill>
                  <a:schemeClr val="accent4"/>
                </a:solidFill>
              </a:rPr>
              <a:t>recordings</a:t>
            </a:r>
            <a:endParaRPr lang="en-US" sz="1300" dirty="0"/>
          </a:p>
          <a:p>
            <a:pPr indent="0" marL="0">
              <a:buNone/>
            </a:pPr>
            <a:r>
              <a:rPr lang="en-US" sz="1300" dirty="0">
                <a:solidFill>
                  <a:schemeClr val="accent4"/>
                </a:solidFill>
              </a:rPr>
              <a:t>(100 per label)</a:t>
            </a:r>
            <a:endParaRPr lang="en-US" sz="1300" dirty="0"/>
          </a:p>
        </p:txBody>
      </p:sp>
      <p:sp>
        <p:nvSpPr>
          <p:cNvPr id="5" name="Text 3"/>
          <p:cNvSpPr txBox="1"/>
          <p:nvPr/>
        </p:nvSpPr>
        <p:spPr>
          <a:xfrm>
            <a:off x="2331720" y="1508760"/>
            <a:ext cx="1737360" cy="64008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 23</a:t>
            </a:r>
            <a:endParaRPr lang="en-US" sz="3000" dirty="0"/>
          </a:p>
        </p:txBody>
      </p:sp>
      <p:sp>
        <p:nvSpPr>
          <p:cNvPr id="6" name="Text 4"/>
          <p:cNvSpPr txBox="1"/>
          <p:nvPr/>
        </p:nvSpPr>
        <p:spPr>
          <a:xfrm>
            <a:off x="2331720" y="2148840"/>
            <a:ext cx="1737360" cy="548640"/>
          </a:xfrm>
          <a:prstGeom prst="rect">
            <a:avLst/>
          </a:prstGeom>
          <a:noFill/>
          <a:ln/>
        </p:spPr>
        <p:txBody>
          <a:bodyPr wrap="square" lIns="0" tIns="0" rIns="0" bIns="0" rtlCol="0" anchor="t"/>
          <a:lstStyle/>
          <a:p>
            <a:pPr indent="0" marL="0">
              <a:buNone/>
            </a:pPr>
            <a:r>
              <a:rPr lang="en-US" sz="1300" dirty="0">
                <a:solidFill>
                  <a:schemeClr val="accent4"/>
                </a:solidFill>
              </a:rPr>
              <a:t>chunks of</a:t>
            </a:r>
            <a:endParaRPr lang="en-US" sz="1300" dirty="0"/>
          </a:p>
          <a:p>
            <a:pPr indent="0" marL="0">
              <a:buNone/>
            </a:pPr>
            <a:r>
              <a:rPr lang="en-US" sz="1300" dirty="0">
                <a:solidFill>
                  <a:schemeClr val="accent4"/>
                </a:solidFill>
              </a:rPr>
              <a:t>178 values each</a:t>
            </a:r>
            <a:endParaRPr lang="en-US" sz="1300" dirty="0"/>
          </a:p>
        </p:txBody>
      </p:sp>
      <p:sp>
        <p:nvSpPr>
          <p:cNvPr id="7" name="Text 5"/>
          <p:cNvSpPr txBox="1"/>
          <p:nvPr/>
        </p:nvSpPr>
        <p:spPr>
          <a:xfrm>
            <a:off x="4114800" y="1508760"/>
            <a:ext cx="1737360" cy="64008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 11,500</a:t>
            </a:r>
            <a:endParaRPr lang="en-US" sz="3000" dirty="0"/>
          </a:p>
        </p:txBody>
      </p:sp>
      <p:sp>
        <p:nvSpPr>
          <p:cNvPr id="8" name="Text 6"/>
          <p:cNvSpPr txBox="1"/>
          <p:nvPr/>
        </p:nvSpPr>
        <p:spPr>
          <a:xfrm>
            <a:off x="4114800" y="2148840"/>
            <a:ext cx="1737360" cy="548640"/>
          </a:xfrm>
          <a:prstGeom prst="rect">
            <a:avLst/>
          </a:prstGeom>
          <a:noFill/>
          <a:ln/>
        </p:spPr>
        <p:txBody>
          <a:bodyPr wrap="square" lIns="0" tIns="0" rIns="0" bIns="0" rtlCol="0" anchor="t"/>
          <a:lstStyle/>
          <a:p>
            <a:pPr indent="0" marL="0">
              <a:buNone/>
            </a:pPr>
            <a:r>
              <a:rPr lang="en-US" sz="1300" dirty="0">
                <a:solidFill>
                  <a:schemeClr val="accent4"/>
                </a:solidFill>
              </a:rPr>
              <a:t>rows in</a:t>
            </a:r>
            <a:endParaRPr lang="en-US" sz="1300" dirty="0"/>
          </a:p>
          <a:p>
            <a:pPr indent="0" marL="0">
              <a:buNone/>
            </a:pPr>
            <a:r>
              <a:rPr lang="en-US" sz="1300" dirty="0">
                <a:solidFill>
                  <a:schemeClr val="accent4"/>
                </a:solidFill>
              </a:rPr>
              <a:t>the CSV</a:t>
            </a:r>
            <a:endParaRPr lang="en-US" sz="1300" dirty="0"/>
          </a:p>
        </p:txBody>
      </p:sp>
      <p:sp>
        <p:nvSpPr>
          <p:cNvPr id="9" name="label card"/>
          <p:cNvSpPr/>
          <p:nvPr/>
        </p:nvSpPr>
        <p:spPr>
          <a:xfrm>
            <a:off x="548640" y="2971800"/>
            <a:ext cx="5212080" cy="3063240"/>
          </a:xfrm>
          <a:prstGeom prst="roundRect">
            <a:avLst>
              <a:gd name="adj" fmla="val 3582"/>
            </a:avLst>
          </a:prstGeom>
          <a:solidFill>
            <a:srgbClr val="EEF2F6"/>
          </a:solidFill>
          <a:ln w="12700">
            <a:solidFill>
              <a:srgbClr val="EEF2F6"/>
            </a:solidFill>
            <a:prstDash val="solid"/>
          </a:ln>
        </p:spPr>
      </p:sp>
      <p:sp>
        <p:nvSpPr>
          <p:cNvPr id="10" name="Text 8"/>
          <p:cNvSpPr txBox="1"/>
          <p:nvPr/>
        </p:nvSpPr>
        <p:spPr>
          <a:xfrm>
            <a:off x="777240" y="3108960"/>
            <a:ext cx="4800600" cy="283464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Five original labels → one binary target</a:t>
            </a:r>
            <a:endParaRPr lang="en-US" sz="1500" dirty="0"/>
          </a:p>
          <a:p>
            <a:pPr indent="0" marL="0">
              <a:spcAft>
                <a:spcPts val="400"/>
              </a:spcAft>
              <a:buNone/>
            </a:pPr>
            <a:r>
              <a:rPr lang="en-US" sz="1500" b="1" dirty="0">
                <a:solidFill>
                  <a:schemeClr val="accent1"/>
                </a:solidFill>
              </a:rPr>
              <a:t>y = 1   seizure activity  →  1</a:t>
            </a:r>
            <a:endParaRPr lang="en-US" sz="1500" dirty="0"/>
          </a:p>
          <a:p>
            <a:pPr indent="0" marL="0">
              <a:spcAft>
                <a:spcPts val="400"/>
              </a:spcAft>
              <a:buNone/>
            </a:pPr>
            <a:r>
              <a:rPr lang="en-US" sz="1500" dirty="0">
                <a:solidFill>
                  <a:schemeClr val="tx1"/>
                </a:solidFill>
              </a:rPr>
              <a:t>y = 2   tumour area  →  0</a:t>
            </a:r>
            <a:endParaRPr lang="en-US" sz="1500" dirty="0"/>
          </a:p>
          <a:p>
            <a:pPr indent="0" marL="0">
              <a:spcAft>
                <a:spcPts val="400"/>
              </a:spcAft>
              <a:buNone/>
            </a:pPr>
            <a:r>
              <a:rPr lang="en-US" sz="1500" dirty="0">
                <a:solidFill>
                  <a:schemeClr val="tx1"/>
                </a:solidFill>
              </a:rPr>
              <a:t>y = 3   healthy area, tumour patient  →  0</a:t>
            </a:r>
            <a:endParaRPr lang="en-US" sz="1500" dirty="0"/>
          </a:p>
          <a:p>
            <a:pPr indent="0" marL="0">
              <a:spcAft>
                <a:spcPts val="400"/>
              </a:spcAft>
              <a:buNone/>
            </a:pPr>
            <a:r>
              <a:rPr lang="en-US" sz="1500" dirty="0">
                <a:solidFill>
                  <a:schemeClr val="tx1"/>
                </a:solidFill>
              </a:rPr>
              <a:t>y = 4   healthy volunteer, eyes closed  →  0</a:t>
            </a:r>
            <a:endParaRPr lang="en-US" sz="1500" dirty="0"/>
          </a:p>
          <a:p>
            <a:pPr indent="0" marL="0">
              <a:spcAft>
                <a:spcPts val="400"/>
              </a:spcAft>
              <a:buNone/>
            </a:pPr>
            <a:r>
              <a:rPr lang="en-US" sz="1500" dirty="0">
                <a:solidFill>
                  <a:schemeClr val="tx1"/>
                </a:solidFill>
              </a:rPr>
              <a:t>y = 5   healthy volunteer, eyes open  →  0</a:t>
            </a:r>
            <a:endParaRPr lang="en-US" sz="1500" dirty="0"/>
          </a:p>
          <a:p>
            <a:pPr indent="0" marL="0">
              <a:spcAft>
                <a:spcPts val="400"/>
              </a:spcAft>
              <a:buNone/>
            </a:pPr>
            <a:r>
              <a:rPr lang="en-US" sz="1300" i="1" dirty="0">
                <a:solidFill>
                  <a:schemeClr val="accent4"/>
                </a:solidFill>
              </a:rPr>
              <a:t>So 20% of rows are seizure. "Always say no" already scores 80% accuracy — useless, so accuracy is not our headline metric.</a:t>
            </a:r>
            <a:endParaRPr lang="en-US" sz="1500" dirty="0"/>
          </a:p>
        </p:txBody>
      </p:sp>
      <p:pic>
        <p:nvPicPr>
          <p:cNvPr id="11" name="segment examples" descr="figures/slide_segments.png">    </p:cNvPr>
          <p:cNvPicPr>
            <a:picLocks noChangeAspect="1"/>
          </p:cNvPicPr>
          <p:nvPr/>
        </p:nvPicPr>
        <p:blipFill>
          <a:blip r:embed="rId1"/>
          <a:stretch>
            <a:fillRect/>
          </a:stretch>
        </p:blipFill>
        <p:spPr>
          <a:xfrm>
            <a:off x="6126480" y="1508760"/>
            <a:ext cx="5486400" cy="4032504"/>
          </a:xfrm>
          <a:prstGeom prst="rect">
            <a:avLst/>
          </a:prstGeom>
        </p:spPr>
      </p:pic>
      <p:sp>
        <p:nvSpPr>
          <p:cNvPr id="12" name="Text 9"/>
          <p:cNvSpPr txBox="1"/>
          <p:nvPr/>
        </p:nvSpPr>
        <p:spPr>
          <a:xfrm>
            <a:off x="6126480" y="5669280"/>
            <a:ext cx="5486400" cy="320040"/>
          </a:xfrm>
          <a:prstGeom prst="rect">
            <a:avLst/>
          </a:prstGeom>
          <a:noFill/>
          <a:ln/>
        </p:spPr>
        <p:txBody>
          <a:bodyPr wrap="square" lIns="0" tIns="0" rIns="0" bIns="0" rtlCol="0" anchor="t"/>
          <a:lstStyle/>
          <a:p>
            <a:pPr indent="0" marL="0">
              <a:buNone/>
            </a:pPr>
            <a:r>
              <a:rPr lang="en-US" sz="1300" i="1" dirty="0">
                <a:solidFill>
                  <a:schemeClr val="accent4"/>
                </a:solidFill>
              </a:rPr>
              <a:t>Seizure segments have much bigger, sharper waves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Split by recording, not by row</a:t>
            </a:r>
            <a:endParaRPr lang="en-US" sz="3600" dirty="0"/>
          </a:p>
        </p:txBody>
      </p:sp>
      <p:sp>
        <p:nvSpPr>
          <p:cNvPr id="3" name="row split card"/>
          <p:cNvSpPr/>
          <p:nvPr/>
        </p:nvSpPr>
        <p:spPr>
          <a:xfrm>
            <a:off x="548640" y="1508760"/>
            <a:ext cx="5394960" cy="2103120"/>
          </a:xfrm>
          <a:prstGeom prst="roundRect">
            <a:avLst>
              <a:gd name="adj" fmla="val 5217"/>
            </a:avLst>
          </a:prstGeom>
          <a:solidFill>
            <a:srgbClr val="FBE9EB"/>
          </a:solidFill>
          <a:ln w="12700">
            <a:solidFill>
              <a:srgbClr val="FBE9EB"/>
            </a:solidFill>
            <a:prstDash val="solid"/>
          </a:ln>
        </p:spPr>
      </p:sp>
      <p:sp>
        <p:nvSpPr>
          <p:cNvPr id="4" name="bad circle"/>
          <p:cNvSpPr/>
          <p:nvPr/>
        </p:nvSpPr>
        <p:spPr>
          <a:xfrm>
            <a:off x="777240" y="1737360"/>
            <a:ext cx="548640" cy="548640"/>
          </a:xfrm>
          <a:prstGeom prst="ellipse">
            <a:avLst/>
          </a:prstGeom>
          <a:solidFill>
            <a:srgbClr val="C8102E"/>
          </a:solidFill>
          <a:ln w="12700">
            <a:solidFill>
              <a:srgbClr val="C8102E"/>
            </a:solidFill>
            <a:prstDash val="solid"/>
          </a:ln>
        </p:spPr>
      </p:sp>
      <p:pic>
        <p:nvPicPr>
          <p:cNvPr id="5" name="bad icon" descr="preencoded.png">    </p:cNvPr>
          <p:cNvPicPr>
            <a:picLocks noChangeAspect="1"/>
          </p:cNvPicPr>
          <p:nvPr/>
        </p:nvPicPr>
        <p:blipFill>
          <a:blip r:embed="rId1"/>
          <a:stretch>
            <a:fillRect/>
          </a:stretch>
        </p:blipFill>
        <p:spPr>
          <a:xfrm>
            <a:off x="914400" y="1874520"/>
            <a:ext cx="274320" cy="274320"/>
          </a:xfrm>
          <a:prstGeom prst="rect">
            <a:avLst/>
          </a:prstGeom>
        </p:spPr>
      </p:pic>
      <p:sp>
        <p:nvSpPr>
          <p:cNvPr id="6" name="Text 3"/>
          <p:cNvSpPr txBox="1"/>
          <p:nvPr/>
        </p:nvSpPr>
        <p:spPr>
          <a:xfrm>
            <a:off x="1508760" y="1783080"/>
            <a:ext cx="4206240" cy="457200"/>
          </a:xfrm>
          <a:prstGeom prst="rect">
            <a:avLst/>
          </a:prstGeom>
          <a:noFill/>
          <a:ln/>
        </p:spPr>
        <p:txBody>
          <a:bodyPr wrap="square" lIns="0" tIns="0" rIns="0" bIns="0" rtlCol="0" anchor="ctr"/>
          <a:lstStyle/>
          <a:p>
            <a:pPr indent="0" marL="0">
              <a:buNone/>
            </a:pPr>
            <a:r>
              <a:rPr lang="en-US" sz="1800" b="1" dirty="0">
                <a:solidFill>
                  <a:schemeClr val="accent1"/>
                </a:solidFill>
              </a:rPr>
              <a:t>Random row split (leaks)</a:t>
            </a:r>
            <a:endParaRPr lang="en-US" sz="1800" dirty="0"/>
          </a:p>
        </p:txBody>
      </p:sp>
      <p:sp>
        <p:nvSpPr>
          <p:cNvPr id="7" name="Text 4"/>
          <p:cNvSpPr txBox="1"/>
          <p:nvPr/>
        </p:nvSpPr>
        <p:spPr>
          <a:xfrm>
            <a:off x="777240" y="2423160"/>
            <a:ext cx="4937760" cy="1097280"/>
          </a:xfrm>
          <a:prstGeom prst="rect">
            <a:avLst/>
          </a:prstGeom>
          <a:noFill/>
          <a:ln/>
        </p:spPr>
        <p:txBody>
          <a:bodyPr wrap="square" lIns="0" tIns="0" rIns="0" bIns="0" rtlCol="0" anchor="t"/>
          <a:lstStyle/>
          <a:p>
            <a:pPr indent="0" marL="0">
              <a:buNone/>
            </a:pPr>
            <a:r>
              <a:rPr lang="en-US" sz="1500" dirty="0">
                <a:solidFill>
                  <a:schemeClr val="tx1"/>
                </a:solidFill>
              </a:rPr>
              <a:t>Chunks of the same recording end up in both train and test. They look almost identical, so the model can "recognise the recording" and the test score looks too good.</a:t>
            </a:r>
            <a:endParaRPr lang="en-US" sz="1500" dirty="0"/>
          </a:p>
        </p:txBody>
      </p:sp>
      <p:sp>
        <p:nvSpPr>
          <p:cNvPr id="8" name="recording split card"/>
          <p:cNvSpPr/>
          <p:nvPr/>
        </p:nvSpPr>
        <p:spPr>
          <a:xfrm>
            <a:off x="6217920" y="1508760"/>
            <a:ext cx="5394960" cy="2103120"/>
          </a:xfrm>
          <a:prstGeom prst="roundRect">
            <a:avLst>
              <a:gd name="adj" fmla="val 5217"/>
            </a:avLst>
          </a:prstGeom>
          <a:solidFill>
            <a:srgbClr val="E6F1F2"/>
          </a:solidFill>
          <a:ln w="12700">
            <a:solidFill>
              <a:srgbClr val="E6F1F2"/>
            </a:solidFill>
            <a:prstDash val="solid"/>
          </a:ln>
        </p:spPr>
      </p:sp>
      <p:sp>
        <p:nvSpPr>
          <p:cNvPr id="9" name="good circle"/>
          <p:cNvSpPr/>
          <p:nvPr/>
        </p:nvSpPr>
        <p:spPr>
          <a:xfrm>
            <a:off x="6446520" y="1737360"/>
            <a:ext cx="548640" cy="548640"/>
          </a:xfrm>
          <a:prstGeom prst="ellipse">
            <a:avLst/>
          </a:prstGeom>
          <a:solidFill>
            <a:srgbClr val="1F6F78"/>
          </a:solidFill>
          <a:ln w="12700">
            <a:solidFill>
              <a:srgbClr val="1F6F78"/>
            </a:solidFill>
            <a:prstDash val="solid"/>
          </a:ln>
        </p:spPr>
      </p:sp>
      <p:pic>
        <p:nvPicPr>
          <p:cNvPr id="10" name="good icon" descr="preencoded.png">    </p:cNvPr>
          <p:cNvPicPr>
            <a:picLocks noChangeAspect="1"/>
          </p:cNvPicPr>
          <p:nvPr/>
        </p:nvPicPr>
        <p:blipFill>
          <a:blip r:embed="rId2"/>
          <a:stretch>
            <a:fillRect/>
          </a:stretch>
        </p:blipFill>
        <p:spPr>
          <a:xfrm>
            <a:off x="6583680" y="1874520"/>
            <a:ext cx="274320" cy="274320"/>
          </a:xfrm>
          <a:prstGeom prst="rect">
            <a:avLst/>
          </a:prstGeom>
        </p:spPr>
      </p:pic>
      <p:sp>
        <p:nvSpPr>
          <p:cNvPr id="11" name="Text 7"/>
          <p:cNvSpPr txBox="1"/>
          <p:nvPr/>
        </p:nvSpPr>
        <p:spPr>
          <a:xfrm>
            <a:off x="7178040" y="1783080"/>
            <a:ext cx="4297680" cy="457200"/>
          </a:xfrm>
          <a:prstGeom prst="rect">
            <a:avLst/>
          </a:prstGeom>
          <a:noFill/>
          <a:ln/>
        </p:spPr>
        <p:txBody>
          <a:bodyPr wrap="square" lIns="0" tIns="0" rIns="0" bIns="0" rtlCol="0" anchor="ctr"/>
          <a:lstStyle/>
          <a:p>
            <a:pPr indent="0" marL="0">
              <a:buNone/>
            </a:pPr>
            <a:r>
              <a:rPr lang="en-US" sz="1800" b="1" dirty="0">
                <a:solidFill>
                  <a:schemeClr val="accent2"/>
                </a:solidFill>
              </a:rPr>
              <a:t>Recording-level split (what I did)</a:t>
            </a:r>
            <a:endParaRPr lang="en-US" sz="1800" dirty="0"/>
          </a:p>
        </p:txBody>
      </p:sp>
      <p:sp>
        <p:nvSpPr>
          <p:cNvPr id="12" name="Text 8"/>
          <p:cNvSpPr txBox="1"/>
          <p:nvPr/>
        </p:nvSpPr>
        <p:spPr>
          <a:xfrm>
            <a:off x="6446520" y="2423160"/>
            <a:ext cx="4937760" cy="1097280"/>
          </a:xfrm>
          <a:prstGeom prst="rect">
            <a:avLst/>
          </a:prstGeom>
          <a:noFill/>
          <a:ln/>
        </p:spPr>
        <p:txBody>
          <a:bodyPr wrap="square" lIns="0" tIns="0" rIns="0" bIns="0" rtlCol="0" anchor="t"/>
          <a:lstStyle/>
          <a:p>
            <a:pPr indent="0" marL="0">
              <a:buNone/>
            </a:pPr>
            <a:r>
              <a:rPr lang="en-US" sz="1500" dirty="0">
                <a:solidFill>
                  <a:schemeClr val="tx1"/>
                </a:solidFill>
              </a:rPr>
              <a:t>All 23 chunks of a recording stay together, using StratifiedGroupKFold. Checked: 0 recordings shared between sets.</a:t>
            </a:r>
            <a:endParaRPr lang="en-US" sz="1500" dirty="0"/>
          </a:p>
        </p:txBody>
      </p:sp>
      <p:sp>
        <p:nvSpPr>
          <p:cNvPr id="13" name="set Train"/>
          <p:cNvSpPr/>
          <p:nvPr/>
        </p:nvSpPr>
        <p:spPr>
          <a:xfrm>
            <a:off x="548640" y="3931920"/>
            <a:ext cx="3566160" cy="1691640"/>
          </a:xfrm>
          <a:prstGeom prst="roundRect">
            <a:avLst>
              <a:gd name="adj" fmla="val 6486"/>
            </a:avLst>
          </a:prstGeom>
          <a:solidFill>
            <a:srgbClr val="14213D"/>
          </a:solidFill>
          <a:ln w="12700">
            <a:solidFill>
              <a:srgbClr val="14213D"/>
            </a:solidFill>
            <a:prstDash val="solid"/>
          </a:ln>
        </p:spPr>
      </p:sp>
      <p:sp>
        <p:nvSpPr>
          <p:cNvPr id="14" name="Text 10"/>
          <p:cNvSpPr txBox="1"/>
          <p:nvPr/>
        </p:nvSpPr>
        <p:spPr>
          <a:xfrm>
            <a:off x="777240" y="4041648"/>
            <a:ext cx="3108960" cy="411480"/>
          </a:xfrm>
          <a:prstGeom prst="rect">
            <a:avLst/>
          </a:prstGeom>
          <a:noFill/>
          <a:ln/>
        </p:spPr>
        <p:txBody>
          <a:bodyPr wrap="square" lIns="0" tIns="0" rIns="0" bIns="0" rtlCol="0" anchor="t"/>
          <a:lstStyle/>
          <a:p>
            <a:pPr indent="0" marL="0">
              <a:buNone/>
            </a:pPr>
            <a:r>
              <a:rPr lang="en-US" sz="2000" b="1" dirty="0">
                <a:solidFill>
                  <a:schemeClr val="bg1"/>
                </a:solidFill>
              </a:rPr>
              <a:t>Train</a:t>
            </a:r>
            <a:endParaRPr lang="en-US" sz="2000" dirty="0"/>
          </a:p>
        </p:txBody>
      </p:sp>
      <p:sp>
        <p:nvSpPr>
          <p:cNvPr id="15" name="Text 11"/>
          <p:cNvSpPr txBox="1"/>
          <p:nvPr/>
        </p:nvSpPr>
        <p:spPr>
          <a:xfrm>
            <a:off x="777240" y="4498848"/>
            <a:ext cx="3200400" cy="365760"/>
          </a:xfrm>
          <a:prstGeom prst="rect">
            <a:avLst/>
          </a:prstGeom>
          <a:noFill/>
          <a:ln/>
        </p:spPr>
        <p:txBody>
          <a:bodyPr wrap="square" lIns="0" tIns="0" rIns="0" bIns="0" rtlCol="0" anchor="t"/>
          <a:lstStyle/>
          <a:p>
            <a:pPr indent="0" marL="0">
              <a:buNone/>
            </a:pPr>
            <a:r>
              <a:rPr lang="en-US" sz="1300" dirty="0">
                <a:solidFill>
                  <a:schemeClr val="bg1"/>
                </a:solidFill>
              </a:rPr>
              <a:t>300 recordings  ·  6,900 rows  ·  20% seizure</a:t>
            </a:r>
            <a:endParaRPr lang="en-US" sz="1300" dirty="0"/>
          </a:p>
        </p:txBody>
      </p:sp>
      <p:sp>
        <p:nvSpPr>
          <p:cNvPr id="16" name="Text 12"/>
          <p:cNvSpPr txBox="1"/>
          <p:nvPr/>
        </p:nvSpPr>
        <p:spPr>
          <a:xfrm>
            <a:off x="777240" y="4983480"/>
            <a:ext cx="3200400" cy="457200"/>
          </a:xfrm>
          <a:prstGeom prst="rect">
            <a:avLst/>
          </a:prstGeom>
          <a:noFill/>
          <a:ln/>
        </p:spPr>
        <p:txBody>
          <a:bodyPr wrap="square" lIns="0" tIns="0" rIns="0" bIns="0" rtlCol="0" anchor="t"/>
          <a:lstStyle/>
          <a:p>
            <a:pPr indent="0" marL="0">
              <a:buNone/>
            </a:pPr>
            <a:r>
              <a:rPr lang="en-US" sz="1400" i="1" dirty="0">
                <a:solidFill>
                  <a:schemeClr val="bg1"/>
                </a:solidFill>
              </a:rPr>
              <a:t>Fit models and scaler</a:t>
            </a:r>
            <a:endParaRPr lang="en-US" sz="1400" dirty="0"/>
          </a:p>
        </p:txBody>
      </p:sp>
      <p:sp>
        <p:nvSpPr>
          <p:cNvPr id="17" name="set Validation"/>
          <p:cNvSpPr/>
          <p:nvPr/>
        </p:nvSpPr>
        <p:spPr>
          <a:xfrm>
            <a:off x="4297680" y="3931920"/>
            <a:ext cx="3566160" cy="1691640"/>
          </a:xfrm>
          <a:prstGeom prst="roundRect">
            <a:avLst>
              <a:gd name="adj" fmla="val 6486"/>
            </a:avLst>
          </a:prstGeom>
          <a:solidFill>
            <a:srgbClr val="1F6F78"/>
          </a:solidFill>
          <a:ln w="12700">
            <a:solidFill>
              <a:srgbClr val="1F6F78"/>
            </a:solidFill>
            <a:prstDash val="solid"/>
          </a:ln>
        </p:spPr>
      </p:sp>
      <p:sp>
        <p:nvSpPr>
          <p:cNvPr id="18" name="Text 14"/>
          <p:cNvSpPr txBox="1"/>
          <p:nvPr/>
        </p:nvSpPr>
        <p:spPr>
          <a:xfrm>
            <a:off x="4526280" y="4041648"/>
            <a:ext cx="3108960" cy="411480"/>
          </a:xfrm>
          <a:prstGeom prst="rect">
            <a:avLst/>
          </a:prstGeom>
          <a:noFill/>
          <a:ln/>
        </p:spPr>
        <p:txBody>
          <a:bodyPr wrap="square" lIns="0" tIns="0" rIns="0" bIns="0" rtlCol="0" anchor="t"/>
          <a:lstStyle/>
          <a:p>
            <a:pPr indent="0" marL="0">
              <a:buNone/>
            </a:pPr>
            <a:r>
              <a:rPr lang="en-US" sz="2000" b="1" dirty="0">
                <a:solidFill>
                  <a:schemeClr val="bg1"/>
                </a:solidFill>
              </a:rPr>
              <a:t>Validation</a:t>
            </a:r>
            <a:endParaRPr lang="en-US" sz="2000" dirty="0"/>
          </a:p>
        </p:txBody>
      </p:sp>
      <p:sp>
        <p:nvSpPr>
          <p:cNvPr id="19" name="Text 15"/>
          <p:cNvSpPr txBox="1"/>
          <p:nvPr/>
        </p:nvSpPr>
        <p:spPr>
          <a:xfrm>
            <a:off x="4526280" y="4498848"/>
            <a:ext cx="3200400" cy="365760"/>
          </a:xfrm>
          <a:prstGeom prst="rect">
            <a:avLst/>
          </a:prstGeom>
          <a:noFill/>
          <a:ln/>
        </p:spPr>
        <p:txBody>
          <a:bodyPr wrap="square" lIns="0" tIns="0" rIns="0" bIns="0" rtlCol="0" anchor="t"/>
          <a:lstStyle/>
          <a:p>
            <a:pPr indent="0" marL="0">
              <a:buNone/>
            </a:pPr>
            <a:r>
              <a:rPr lang="en-US" sz="1300" dirty="0">
                <a:solidFill>
                  <a:schemeClr val="bg1"/>
                </a:solidFill>
              </a:rPr>
              <a:t>100 recordings  ·  2,300 rows  ·  20% seizure</a:t>
            </a:r>
            <a:endParaRPr lang="en-US" sz="1300" dirty="0"/>
          </a:p>
        </p:txBody>
      </p:sp>
      <p:sp>
        <p:nvSpPr>
          <p:cNvPr id="20" name="Text 16"/>
          <p:cNvSpPr txBox="1"/>
          <p:nvPr/>
        </p:nvSpPr>
        <p:spPr>
          <a:xfrm>
            <a:off x="4526280" y="4983480"/>
            <a:ext cx="3200400" cy="457200"/>
          </a:xfrm>
          <a:prstGeom prst="rect">
            <a:avLst/>
          </a:prstGeom>
          <a:noFill/>
          <a:ln/>
        </p:spPr>
        <p:txBody>
          <a:bodyPr wrap="square" lIns="0" tIns="0" rIns="0" bIns="0" rtlCol="0" anchor="t"/>
          <a:lstStyle/>
          <a:p>
            <a:pPr indent="0" marL="0">
              <a:buNone/>
            </a:pPr>
            <a:r>
              <a:rPr lang="en-US" sz="1400" i="1" dirty="0">
                <a:solidFill>
                  <a:schemeClr val="bg1"/>
                </a:solidFill>
              </a:rPr>
              <a:t>Compare models, pick threshold</a:t>
            </a:r>
            <a:endParaRPr lang="en-US" sz="1400" dirty="0"/>
          </a:p>
        </p:txBody>
      </p:sp>
      <p:sp>
        <p:nvSpPr>
          <p:cNvPr id="21" name="set Test"/>
          <p:cNvSpPr/>
          <p:nvPr/>
        </p:nvSpPr>
        <p:spPr>
          <a:xfrm>
            <a:off x="8046720" y="3931920"/>
            <a:ext cx="3566160" cy="1691640"/>
          </a:xfrm>
          <a:prstGeom prst="roundRect">
            <a:avLst>
              <a:gd name="adj" fmla="val 6486"/>
            </a:avLst>
          </a:prstGeom>
          <a:solidFill>
            <a:srgbClr val="C8102E"/>
          </a:solidFill>
          <a:ln w="12700">
            <a:solidFill>
              <a:srgbClr val="C8102E"/>
            </a:solidFill>
            <a:prstDash val="solid"/>
          </a:ln>
        </p:spPr>
      </p:sp>
      <p:sp>
        <p:nvSpPr>
          <p:cNvPr id="22" name="Text 18"/>
          <p:cNvSpPr txBox="1"/>
          <p:nvPr/>
        </p:nvSpPr>
        <p:spPr>
          <a:xfrm>
            <a:off x="8275320" y="4041648"/>
            <a:ext cx="3108960" cy="411480"/>
          </a:xfrm>
          <a:prstGeom prst="rect">
            <a:avLst/>
          </a:prstGeom>
          <a:noFill/>
          <a:ln/>
        </p:spPr>
        <p:txBody>
          <a:bodyPr wrap="square" lIns="0" tIns="0" rIns="0" bIns="0" rtlCol="0" anchor="t"/>
          <a:lstStyle/>
          <a:p>
            <a:pPr indent="0" marL="0">
              <a:buNone/>
            </a:pPr>
            <a:r>
              <a:rPr lang="en-US" sz="2000" b="1" dirty="0">
                <a:solidFill>
                  <a:schemeClr val="bg1"/>
                </a:solidFill>
              </a:rPr>
              <a:t>Test</a:t>
            </a:r>
            <a:endParaRPr lang="en-US" sz="2000" dirty="0"/>
          </a:p>
        </p:txBody>
      </p:sp>
      <p:sp>
        <p:nvSpPr>
          <p:cNvPr id="23" name="Text 19"/>
          <p:cNvSpPr txBox="1"/>
          <p:nvPr/>
        </p:nvSpPr>
        <p:spPr>
          <a:xfrm>
            <a:off x="8275320" y="4498848"/>
            <a:ext cx="3200400" cy="365760"/>
          </a:xfrm>
          <a:prstGeom prst="rect">
            <a:avLst/>
          </a:prstGeom>
          <a:noFill/>
          <a:ln/>
        </p:spPr>
        <p:txBody>
          <a:bodyPr wrap="square" lIns="0" tIns="0" rIns="0" bIns="0" rtlCol="0" anchor="t"/>
          <a:lstStyle/>
          <a:p>
            <a:pPr indent="0" marL="0">
              <a:buNone/>
            </a:pPr>
            <a:r>
              <a:rPr lang="en-US" sz="1300" dirty="0">
                <a:solidFill>
                  <a:schemeClr val="bg1"/>
                </a:solidFill>
              </a:rPr>
              <a:t>100 recordings  ·  2,300 rows  ·  20% seizure</a:t>
            </a:r>
            <a:endParaRPr lang="en-US" sz="1300" dirty="0"/>
          </a:p>
        </p:txBody>
      </p:sp>
      <p:sp>
        <p:nvSpPr>
          <p:cNvPr id="24" name="Text 20"/>
          <p:cNvSpPr txBox="1"/>
          <p:nvPr/>
        </p:nvSpPr>
        <p:spPr>
          <a:xfrm>
            <a:off x="8275320" y="4983480"/>
            <a:ext cx="3200400" cy="457200"/>
          </a:xfrm>
          <a:prstGeom prst="rect">
            <a:avLst/>
          </a:prstGeom>
          <a:noFill/>
          <a:ln/>
        </p:spPr>
        <p:txBody>
          <a:bodyPr wrap="square" lIns="0" tIns="0" rIns="0" bIns="0" rtlCol="0" anchor="t"/>
          <a:lstStyle/>
          <a:p>
            <a:pPr indent="0" marL="0">
              <a:buNone/>
            </a:pPr>
            <a:r>
              <a:rPr lang="en-US" sz="1400" i="1" dirty="0">
                <a:solidFill>
                  <a:schemeClr val="bg1"/>
                </a:solidFill>
              </a:rPr>
              <a:t>Used once, at the end</a:t>
            </a:r>
            <a:endParaRPr lang="en-US" sz="1400" dirty="0"/>
          </a:p>
        </p:txBody>
      </p:sp>
      <p:sp>
        <p:nvSpPr>
          <p:cNvPr id="25" name="Text 2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i="1" dirty="0">
                <a:solidFill>
                  <a:schemeClr val="accent4"/>
                </a:solidFill>
              </a:rPr>
              <a:t>Limit: the CSV has no patient ID, so the same person can still appear in train and test.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Five models, two kinds of input</a:t>
            </a:r>
            <a:endParaRPr lang="en-US" sz="3600" dirty="0"/>
          </a:p>
        </p:txBody>
      </p:sp>
      <p:sp>
        <p:nvSpPr>
          <p:cNvPr id="3" name="raw card"/>
          <p:cNvSpPr/>
          <p:nvPr/>
        </p:nvSpPr>
        <p:spPr>
          <a:xfrm>
            <a:off x="548640" y="1508760"/>
            <a:ext cx="5029200" cy="4526280"/>
          </a:xfrm>
          <a:prstGeom prst="roundRect">
            <a:avLst>
              <a:gd name="adj" fmla="val 2424"/>
            </a:avLst>
          </a:prstGeom>
          <a:solidFill>
            <a:srgbClr val="EEF2F6"/>
          </a:solidFill>
          <a:ln w="12700">
            <a:solidFill>
              <a:srgbClr val="EEF2F6"/>
            </a:solidFill>
            <a:prstDash val="solid"/>
          </a:ln>
        </p:spPr>
      </p:sp>
      <p:sp>
        <p:nvSpPr>
          <p:cNvPr id="4" name="raw circle"/>
          <p:cNvSpPr/>
          <p:nvPr/>
        </p:nvSpPr>
        <p:spPr>
          <a:xfrm>
            <a:off x="777240" y="1737360"/>
            <a:ext cx="640080" cy="640080"/>
          </a:xfrm>
          <a:prstGeom prst="ellipse">
            <a:avLst/>
          </a:prstGeom>
          <a:solidFill>
            <a:srgbClr val="14213D"/>
          </a:solidFill>
          <a:ln w="12700">
            <a:solidFill>
              <a:srgbClr val="14213D"/>
            </a:solidFill>
            <a:prstDash val="solid"/>
          </a:ln>
        </p:spPr>
      </p:sp>
      <p:pic>
        <p:nvPicPr>
          <p:cNvPr id="5" name="raw icon"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1600200" y="1737360"/>
            <a:ext cx="3840480" cy="365760"/>
          </a:xfrm>
          <a:prstGeom prst="rect">
            <a:avLst/>
          </a:prstGeom>
          <a:noFill/>
          <a:ln/>
        </p:spPr>
        <p:txBody>
          <a:bodyPr wrap="square" lIns="0" tIns="0" rIns="0" bIns="0" rtlCol="0" anchor="t"/>
          <a:lstStyle/>
          <a:p>
            <a:pPr indent="0" marL="0">
              <a:buNone/>
            </a:pPr>
            <a:r>
              <a:rPr lang="en-US" sz="2000" b="1" dirty="0">
                <a:solidFill>
                  <a:schemeClr val="tx2"/>
                </a:solidFill>
              </a:rPr>
              <a:t>Raw signal</a:t>
            </a:r>
            <a:endParaRPr lang="en-US" sz="2000" dirty="0"/>
          </a:p>
        </p:txBody>
      </p:sp>
      <p:sp>
        <p:nvSpPr>
          <p:cNvPr id="7" name="Text 4"/>
          <p:cNvSpPr txBox="1"/>
          <p:nvPr/>
        </p:nvSpPr>
        <p:spPr>
          <a:xfrm>
            <a:off x="1600200" y="2103120"/>
            <a:ext cx="3840480" cy="320040"/>
          </a:xfrm>
          <a:prstGeom prst="rect">
            <a:avLst/>
          </a:prstGeom>
          <a:noFill/>
          <a:ln/>
        </p:spPr>
        <p:txBody>
          <a:bodyPr wrap="square" lIns="0" tIns="0" rIns="0" bIns="0" rtlCol="0" anchor="t"/>
          <a:lstStyle/>
          <a:p>
            <a:pPr indent="0" marL="0">
              <a:buNone/>
            </a:pPr>
            <a:r>
              <a:rPr lang="en-US" sz="1400" dirty="0">
                <a:solidFill>
                  <a:schemeClr val="accent4"/>
                </a:solidFill>
              </a:rPr>
              <a:t>All 178 values as they are</a:t>
            </a:r>
            <a:endParaRPr lang="en-US" sz="1400" dirty="0"/>
          </a:p>
        </p:txBody>
      </p:sp>
      <p:sp>
        <p:nvSpPr>
          <p:cNvPr id="8" name="Text 5"/>
          <p:cNvSpPr txBox="1"/>
          <p:nvPr/>
        </p:nvSpPr>
        <p:spPr>
          <a:xfrm>
            <a:off x="822960" y="2743200"/>
            <a:ext cx="4572000" cy="14630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Logistic regression (baseline)</a:t>
            </a:r>
            <a:endParaRPr lang="en-US" sz="1700" dirty="0"/>
          </a:p>
          <a:p>
            <a:pPr marL="342900" indent="-342900">
              <a:spcAft>
                <a:spcPts val="800"/>
              </a:spcAft>
              <a:buSzPct val="100000"/>
              <a:buChar char="•"/>
            </a:pPr>
            <a:r>
              <a:rPr lang="en-US" sz="1700" dirty="0">
                <a:solidFill>
                  <a:schemeClr val="tx1"/>
                </a:solidFill>
              </a:rPr>
              <a:t>Random forest</a:t>
            </a:r>
            <a:endParaRPr lang="en-US" sz="1700" dirty="0"/>
          </a:p>
          <a:p>
            <a:pPr marL="342900" indent="-342900">
              <a:spcAft>
                <a:spcPts val="800"/>
              </a:spcAft>
              <a:buSzPct val="100000"/>
              <a:buChar char="•"/>
            </a:pPr>
            <a:r>
              <a:rPr lang="en-US" sz="1700" dirty="0">
                <a:solidFill>
                  <a:schemeClr val="tx1"/>
                </a:solidFill>
              </a:rPr>
              <a:t>Gradient boosting</a:t>
            </a:r>
            <a:endParaRPr lang="en-US" sz="1700" dirty="0"/>
          </a:p>
        </p:txBody>
      </p:sp>
      <p:sp>
        <p:nvSpPr>
          <p:cNvPr id="9" name="features card"/>
          <p:cNvSpPr/>
          <p:nvPr/>
        </p:nvSpPr>
        <p:spPr>
          <a:xfrm>
            <a:off x="5943600" y="1508760"/>
            <a:ext cx="5669280" cy="4526280"/>
          </a:xfrm>
          <a:prstGeom prst="roundRect">
            <a:avLst>
              <a:gd name="adj" fmla="val 2424"/>
            </a:avLst>
          </a:prstGeom>
          <a:solidFill>
            <a:srgbClr val="EEF2F6"/>
          </a:solidFill>
          <a:ln w="12700">
            <a:solidFill>
              <a:srgbClr val="EEF2F6"/>
            </a:solidFill>
            <a:prstDash val="solid"/>
          </a:ln>
        </p:spPr>
      </p:sp>
      <p:sp>
        <p:nvSpPr>
          <p:cNvPr id="10" name="feat circle"/>
          <p:cNvSpPr/>
          <p:nvPr/>
        </p:nvSpPr>
        <p:spPr>
          <a:xfrm>
            <a:off x="6172200" y="1737360"/>
            <a:ext cx="640080" cy="640080"/>
          </a:xfrm>
          <a:prstGeom prst="ellipse">
            <a:avLst/>
          </a:prstGeom>
          <a:solidFill>
            <a:srgbClr val="1F6F78"/>
          </a:solidFill>
          <a:ln w="12700">
            <a:solidFill>
              <a:srgbClr val="1F6F78"/>
            </a:solidFill>
            <a:prstDash val="solid"/>
          </a:ln>
        </p:spPr>
      </p:sp>
      <p:pic>
        <p:nvPicPr>
          <p:cNvPr id="11" name="feat icon" descr="preencoded.png">    </p:cNvPr>
          <p:cNvPicPr>
            <a:picLocks noChangeAspect="1"/>
          </p:cNvPicPr>
          <p:nvPr/>
        </p:nvPicPr>
        <p:blipFill>
          <a:blip r:embed="rId2"/>
          <a:stretch>
            <a:fillRect/>
          </a:stretch>
        </p:blipFill>
        <p:spPr>
          <a:xfrm>
            <a:off x="6332220" y="1897380"/>
            <a:ext cx="320040" cy="320040"/>
          </a:xfrm>
          <a:prstGeom prst="rect">
            <a:avLst/>
          </a:prstGeom>
        </p:spPr>
      </p:pic>
      <p:sp>
        <p:nvSpPr>
          <p:cNvPr id="12" name="Text 8"/>
          <p:cNvSpPr txBox="1"/>
          <p:nvPr/>
        </p:nvSpPr>
        <p:spPr>
          <a:xfrm>
            <a:off x="6995160" y="1737360"/>
            <a:ext cx="4480560" cy="365760"/>
          </a:xfrm>
          <a:prstGeom prst="rect">
            <a:avLst/>
          </a:prstGeom>
          <a:noFill/>
          <a:ln/>
        </p:spPr>
        <p:txBody>
          <a:bodyPr wrap="square" lIns="0" tIns="0" rIns="0" bIns="0" rtlCol="0" anchor="t"/>
          <a:lstStyle/>
          <a:p>
            <a:pPr indent="0" marL="0">
              <a:buNone/>
            </a:pPr>
            <a:r>
              <a:rPr lang="en-US" sz="2000" b="1" dirty="0">
                <a:solidFill>
                  <a:schemeClr val="tx2"/>
                </a:solidFill>
              </a:rPr>
              <a:t>8 engineered features</a:t>
            </a:r>
            <a:endParaRPr lang="en-US" sz="2000" dirty="0"/>
          </a:p>
        </p:txBody>
      </p:sp>
      <p:sp>
        <p:nvSpPr>
          <p:cNvPr id="13" name="Text 9"/>
          <p:cNvSpPr txBox="1"/>
          <p:nvPr/>
        </p:nvSpPr>
        <p:spPr>
          <a:xfrm>
            <a:off x="6995160" y="2103120"/>
            <a:ext cx="4480560" cy="320040"/>
          </a:xfrm>
          <a:prstGeom prst="rect">
            <a:avLst/>
          </a:prstGeom>
          <a:noFill/>
          <a:ln/>
        </p:spPr>
        <p:txBody>
          <a:bodyPr wrap="square" lIns="0" tIns="0" rIns="0" bIns="0" rtlCol="0" anchor="t"/>
          <a:lstStyle/>
          <a:p>
            <a:pPr indent="0" marL="0">
              <a:buNone/>
            </a:pPr>
            <a:r>
              <a:rPr lang="en-US" sz="1400" dirty="0">
                <a:solidFill>
                  <a:schemeClr val="accent4"/>
                </a:solidFill>
              </a:rPr>
              <a:t>Simple numbers that describe each segment</a:t>
            </a:r>
            <a:endParaRPr lang="en-US" sz="1400" dirty="0"/>
          </a:p>
        </p:txBody>
      </p:sp>
      <p:sp>
        <p:nvSpPr>
          <p:cNvPr id="14" name="chip mean"/>
          <p:cNvSpPr/>
          <p:nvPr/>
        </p:nvSpPr>
        <p:spPr>
          <a:xfrm>
            <a:off x="6217920" y="2697480"/>
            <a:ext cx="1234440" cy="438912"/>
          </a:xfrm>
          <a:prstGeom prst="roundRect">
            <a:avLst>
              <a:gd name="adj" fmla="val 20833"/>
            </a:avLst>
          </a:prstGeom>
          <a:solidFill>
            <a:srgbClr val="FFFFFF"/>
          </a:solidFill>
          <a:ln w="12700">
            <a:solidFill>
              <a:srgbClr val="1F6F78"/>
            </a:solidFill>
            <a:prstDash val="solid"/>
          </a:ln>
        </p:spPr>
      </p:sp>
      <p:sp>
        <p:nvSpPr>
          <p:cNvPr id="15" name="Text 11"/>
          <p:cNvSpPr txBox="1"/>
          <p:nvPr/>
        </p:nvSpPr>
        <p:spPr>
          <a:xfrm>
            <a:off x="6217920" y="2697480"/>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mean</a:t>
            </a:r>
            <a:endParaRPr lang="en-US" sz="1200" dirty="0"/>
          </a:p>
        </p:txBody>
      </p:sp>
      <p:sp>
        <p:nvSpPr>
          <p:cNvPr id="16" name="chip std dev"/>
          <p:cNvSpPr/>
          <p:nvPr/>
        </p:nvSpPr>
        <p:spPr>
          <a:xfrm>
            <a:off x="7543800" y="2697480"/>
            <a:ext cx="1234440" cy="438912"/>
          </a:xfrm>
          <a:prstGeom prst="roundRect">
            <a:avLst>
              <a:gd name="adj" fmla="val 20833"/>
            </a:avLst>
          </a:prstGeom>
          <a:solidFill>
            <a:srgbClr val="FFFFFF"/>
          </a:solidFill>
          <a:ln w="12700">
            <a:solidFill>
              <a:srgbClr val="1F6F78"/>
            </a:solidFill>
            <a:prstDash val="solid"/>
          </a:ln>
        </p:spPr>
      </p:sp>
      <p:sp>
        <p:nvSpPr>
          <p:cNvPr id="17" name="Text 13"/>
          <p:cNvSpPr txBox="1"/>
          <p:nvPr/>
        </p:nvSpPr>
        <p:spPr>
          <a:xfrm>
            <a:off x="7543800" y="2697480"/>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std dev</a:t>
            </a:r>
            <a:endParaRPr lang="en-US" sz="1200" dirty="0"/>
          </a:p>
        </p:txBody>
      </p:sp>
      <p:sp>
        <p:nvSpPr>
          <p:cNvPr id="18" name="chip min"/>
          <p:cNvSpPr/>
          <p:nvPr/>
        </p:nvSpPr>
        <p:spPr>
          <a:xfrm>
            <a:off x="8869680" y="2697480"/>
            <a:ext cx="1234440" cy="438912"/>
          </a:xfrm>
          <a:prstGeom prst="roundRect">
            <a:avLst>
              <a:gd name="adj" fmla="val 20833"/>
            </a:avLst>
          </a:prstGeom>
          <a:solidFill>
            <a:srgbClr val="FFFFFF"/>
          </a:solidFill>
          <a:ln w="12700">
            <a:solidFill>
              <a:srgbClr val="1F6F78"/>
            </a:solidFill>
            <a:prstDash val="solid"/>
          </a:ln>
        </p:spPr>
      </p:sp>
      <p:sp>
        <p:nvSpPr>
          <p:cNvPr id="19" name="Text 15"/>
          <p:cNvSpPr txBox="1"/>
          <p:nvPr/>
        </p:nvSpPr>
        <p:spPr>
          <a:xfrm>
            <a:off x="8869680" y="2697480"/>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min</a:t>
            </a:r>
            <a:endParaRPr lang="en-US" sz="1200" dirty="0"/>
          </a:p>
        </p:txBody>
      </p:sp>
      <p:sp>
        <p:nvSpPr>
          <p:cNvPr id="20" name="chip max"/>
          <p:cNvSpPr/>
          <p:nvPr/>
        </p:nvSpPr>
        <p:spPr>
          <a:xfrm>
            <a:off x="10195560" y="2697480"/>
            <a:ext cx="1234440" cy="438912"/>
          </a:xfrm>
          <a:prstGeom prst="roundRect">
            <a:avLst>
              <a:gd name="adj" fmla="val 20833"/>
            </a:avLst>
          </a:prstGeom>
          <a:solidFill>
            <a:srgbClr val="FFFFFF"/>
          </a:solidFill>
          <a:ln w="12700">
            <a:solidFill>
              <a:srgbClr val="1F6F78"/>
            </a:solidFill>
            <a:prstDash val="solid"/>
          </a:ln>
        </p:spPr>
      </p:sp>
      <p:sp>
        <p:nvSpPr>
          <p:cNvPr id="21" name="Text 17"/>
          <p:cNvSpPr txBox="1"/>
          <p:nvPr/>
        </p:nvSpPr>
        <p:spPr>
          <a:xfrm>
            <a:off x="10195560" y="2697480"/>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max</a:t>
            </a:r>
            <a:endParaRPr lang="en-US" sz="1200" dirty="0"/>
          </a:p>
        </p:txBody>
      </p:sp>
      <p:sp>
        <p:nvSpPr>
          <p:cNvPr id="22" name="chip range"/>
          <p:cNvSpPr/>
          <p:nvPr/>
        </p:nvSpPr>
        <p:spPr>
          <a:xfrm>
            <a:off x="6217920" y="3264408"/>
            <a:ext cx="1234440" cy="438912"/>
          </a:xfrm>
          <a:prstGeom prst="roundRect">
            <a:avLst>
              <a:gd name="adj" fmla="val 20833"/>
            </a:avLst>
          </a:prstGeom>
          <a:solidFill>
            <a:srgbClr val="FFFFFF"/>
          </a:solidFill>
          <a:ln w="12700">
            <a:solidFill>
              <a:srgbClr val="1F6F78"/>
            </a:solidFill>
            <a:prstDash val="solid"/>
          </a:ln>
        </p:spPr>
      </p:sp>
      <p:sp>
        <p:nvSpPr>
          <p:cNvPr id="23" name="Text 19"/>
          <p:cNvSpPr txBox="1"/>
          <p:nvPr/>
        </p:nvSpPr>
        <p:spPr>
          <a:xfrm>
            <a:off x="6217920" y="3264408"/>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range</a:t>
            </a:r>
            <a:endParaRPr lang="en-US" sz="1200" dirty="0"/>
          </a:p>
        </p:txBody>
      </p:sp>
      <p:sp>
        <p:nvSpPr>
          <p:cNvPr id="24" name="chip energy"/>
          <p:cNvSpPr/>
          <p:nvPr/>
        </p:nvSpPr>
        <p:spPr>
          <a:xfrm>
            <a:off x="7543800" y="3264408"/>
            <a:ext cx="1234440" cy="438912"/>
          </a:xfrm>
          <a:prstGeom prst="roundRect">
            <a:avLst>
              <a:gd name="adj" fmla="val 20833"/>
            </a:avLst>
          </a:prstGeom>
          <a:solidFill>
            <a:srgbClr val="FFFFFF"/>
          </a:solidFill>
          <a:ln w="12700">
            <a:solidFill>
              <a:srgbClr val="1F6F78"/>
            </a:solidFill>
            <a:prstDash val="solid"/>
          </a:ln>
        </p:spPr>
      </p:sp>
      <p:sp>
        <p:nvSpPr>
          <p:cNvPr id="25" name="Text 21"/>
          <p:cNvSpPr txBox="1"/>
          <p:nvPr/>
        </p:nvSpPr>
        <p:spPr>
          <a:xfrm>
            <a:off x="7543800" y="3264408"/>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energy</a:t>
            </a:r>
            <a:endParaRPr lang="en-US" sz="1200" dirty="0"/>
          </a:p>
        </p:txBody>
      </p:sp>
      <p:sp>
        <p:nvSpPr>
          <p:cNvPr id="26" name="chip zero crossings"/>
          <p:cNvSpPr/>
          <p:nvPr/>
        </p:nvSpPr>
        <p:spPr>
          <a:xfrm>
            <a:off x="8869680" y="3264408"/>
            <a:ext cx="1234440" cy="438912"/>
          </a:xfrm>
          <a:prstGeom prst="roundRect">
            <a:avLst>
              <a:gd name="adj" fmla="val 20833"/>
            </a:avLst>
          </a:prstGeom>
          <a:solidFill>
            <a:srgbClr val="FFFFFF"/>
          </a:solidFill>
          <a:ln w="12700">
            <a:solidFill>
              <a:srgbClr val="1F6F78"/>
            </a:solidFill>
            <a:prstDash val="solid"/>
          </a:ln>
        </p:spPr>
      </p:sp>
      <p:sp>
        <p:nvSpPr>
          <p:cNvPr id="27" name="Text 23"/>
          <p:cNvSpPr txBox="1"/>
          <p:nvPr/>
        </p:nvSpPr>
        <p:spPr>
          <a:xfrm>
            <a:off x="8869680" y="3264408"/>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zero crossings</a:t>
            </a:r>
            <a:endParaRPr lang="en-US" sz="1200" dirty="0"/>
          </a:p>
        </p:txBody>
      </p:sp>
      <p:sp>
        <p:nvSpPr>
          <p:cNvPr id="28" name="chip line length"/>
          <p:cNvSpPr/>
          <p:nvPr/>
        </p:nvSpPr>
        <p:spPr>
          <a:xfrm>
            <a:off x="10195560" y="3264408"/>
            <a:ext cx="1234440" cy="438912"/>
          </a:xfrm>
          <a:prstGeom prst="roundRect">
            <a:avLst>
              <a:gd name="adj" fmla="val 20833"/>
            </a:avLst>
          </a:prstGeom>
          <a:solidFill>
            <a:srgbClr val="FFFFFF"/>
          </a:solidFill>
          <a:ln w="12700">
            <a:solidFill>
              <a:srgbClr val="1F6F78"/>
            </a:solidFill>
            <a:prstDash val="solid"/>
          </a:ln>
        </p:spPr>
      </p:sp>
      <p:sp>
        <p:nvSpPr>
          <p:cNvPr id="29" name="Text 25"/>
          <p:cNvSpPr txBox="1"/>
          <p:nvPr/>
        </p:nvSpPr>
        <p:spPr>
          <a:xfrm>
            <a:off x="10195560" y="3264408"/>
            <a:ext cx="1234440" cy="438912"/>
          </a:xfrm>
          <a:prstGeom prst="rect">
            <a:avLst/>
          </a:prstGeom>
          <a:noFill/>
          <a:ln/>
        </p:spPr>
        <p:txBody>
          <a:bodyPr wrap="square" lIns="0" tIns="0" rIns="0" bIns="0" rtlCol="0" anchor="ctr"/>
          <a:lstStyle/>
          <a:p>
            <a:pPr algn="ctr" indent="0" marL="0">
              <a:buNone/>
            </a:pPr>
            <a:r>
              <a:rPr lang="en-US" sz="1200" b="1" dirty="0">
                <a:solidFill>
                  <a:schemeClr val="accent2"/>
                </a:solidFill>
              </a:rPr>
              <a:t>line length</a:t>
            </a:r>
            <a:endParaRPr lang="en-US" sz="1200" dirty="0"/>
          </a:p>
        </p:txBody>
      </p:sp>
      <p:sp>
        <p:nvSpPr>
          <p:cNvPr id="30" name="Text 26"/>
          <p:cNvSpPr txBox="1"/>
          <p:nvPr/>
        </p:nvSpPr>
        <p:spPr>
          <a:xfrm>
            <a:off x="6217920" y="4023360"/>
            <a:ext cx="5120640" cy="82296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Logistic regression</a:t>
            </a:r>
            <a:endParaRPr lang="en-US" sz="1700" dirty="0"/>
          </a:p>
          <a:p>
            <a:pPr marL="342900" indent="-342900">
              <a:spcAft>
                <a:spcPts val="800"/>
              </a:spcAft>
              <a:buSzPct val="100000"/>
              <a:buChar char="•"/>
            </a:pPr>
            <a:r>
              <a:rPr lang="en-US" sz="1700" dirty="0">
                <a:solidFill>
                  <a:schemeClr val="tx1"/>
                </a:solidFill>
              </a:rPr>
              <a:t>Random forest</a:t>
            </a:r>
            <a:endParaRPr lang="en-US" sz="1700" dirty="0"/>
          </a:p>
        </p:txBody>
      </p:sp>
      <p:sp>
        <p:nvSpPr>
          <p:cNvPr id="31" name="Text 27"/>
          <p:cNvSpPr txBox="1"/>
          <p:nvPr/>
        </p:nvSpPr>
        <p:spPr>
          <a:xfrm>
            <a:off x="6217920" y="5120640"/>
            <a:ext cx="5212080" cy="731520"/>
          </a:xfrm>
          <a:prstGeom prst="rect">
            <a:avLst/>
          </a:prstGeom>
          <a:noFill/>
          <a:ln/>
        </p:spPr>
        <p:txBody>
          <a:bodyPr wrap="square" lIns="0" tIns="0" rIns="0" bIns="0" rtlCol="0" anchor="t"/>
          <a:lstStyle/>
          <a:p>
            <a:pPr indent="0" marL="0">
              <a:buNone/>
            </a:pPr>
            <a:r>
              <a:rPr lang="en-US" sz="1300" i="1" dirty="0">
                <a:solidFill>
                  <a:schemeClr val="accent4"/>
                </a:solidFill>
              </a:rPr>
              <a:t>Line length = total distance the trace travels; big fast waves give a long line.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Features beat raw values</a:t>
            </a:r>
            <a:endParaRPr lang="en-US" sz="3600" dirty="0"/>
          </a:p>
        </p:txBody>
      </p:sp>
      <p:graphicFrame>
        <p:nvGraphicFramePr>
          <p:cNvPr id="3" name="ROC-AUC chart" descr=""/>
          <p:cNvGraphicFramePr/>
          <p:nvPr/>
        </p:nvGraphicFramePr>
        <p:xfrm>
          <a:off x="548640" y="146304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600200"/>
            <a:ext cx="4023360" cy="73152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0.504 → 0.993</a:t>
            </a:r>
            <a:endParaRPr lang="en-US" sz="3600" dirty="0"/>
          </a:p>
        </p:txBody>
      </p:sp>
      <p:sp>
        <p:nvSpPr>
          <p:cNvPr id="5" name="Text 2"/>
          <p:cNvSpPr txBox="1"/>
          <p:nvPr/>
        </p:nvSpPr>
        <p:spPr>
          <a:xfrm>
            <a:off x="7589520" y="2331720"/>
            <a:ext cx="4023360" cy="548640"/>
          </a:xfrm>
          <a:prstGeom prst="rect">
            <a:avLst/>
          </a:prstGeom>
          <a:noFill/>
          <a:ln/>
        </p:spPr>
        <p:txBody>
          <a:bodyPr wrap="square" lIns="0" tIns="0" rIns="0" bIns="0" rtlCol="0" anchor="t"/>
          <a:lstStyle/>
          <a:p>
            <a:pPr indent="0" marL="0">
              <a:buNone/>
            </a:pPr>
            <a:r>
              <a:rPr lang="en-US" sz="1400" dirty="0">
                <a:solidFill>
                  <a:schemeClr val="accent4"/>
                </a:solidFill>
              </a:rPr>
              <a:t>Logistic regression ROC-AUC on raw values vs on features</a:t>
            </a:r>
            <a:endParaRPr lang="en-US" sz="1400" dirty="0"/>
          </a:p>
        </p:txBody>
      </p:sp>
      <p:sp>
        <p:nvSpPr>
          <p:cNvPr id="6" name="Text 3"/>
          <p:cNvSpPr txBox="1"/>
          <p:nvPr/>
        </p:nvSpPr>
        <p:spPr>
          <a:xfrm>
            <a:off x="7589520" y="3108960"/>
            <a:ext cx="4023360" cy="2926080"/>
          </a:xfrm>
          <a:prstGeom prst="rect">
            <a:avLst/>
          </a:prstGeom>
          <a:noFill/>
          <a:ln/>
        </p:spPr>
        <p:txBody>
          <a:bodyPr wrap="square" lIns="0" tIns="0" rIns="0" bIns="0" rtlCol="0" anchor="t"/>
          <a:lstStyle/>
          <a:p>
            <a:pPr indent="0" marL="0">
              <a:buNone/>
            </a:pPr>
            <a:r>
              <a:rPr lang="en-US" sz="1500" b="1" dirty="0">
                <a:solidFill>
                  <a:schemeClr val="tx2"/>
                </a:solidFill>
              </a:rPr>
              <a:t>Why? </a:t>
            </a:r>
            <a:pPr indent="0" marL="0">
              <a:buNone/>
            </a:pPr>
            <a:r>
              <a:rPr lang="en-US" sz="1500" dirty="0">
                <a:solidFill>
                  <a:schemeClr val="tx1"/>
                </a:solidFill>
              </a:rPr>
              <a:t>Each segment starts at a random moment, so "value number 37" means nothing on its own. A seizure is about wave size and sharpness, which can appear anywhere. Features capture that; a linear model on raw values cannot.</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2"/>
                </a:solidFill>
              </a:rPr>
              <a:t>Best by PR-AUC: </a:t>
            </a:r>
            <a:pPr indent="0" marL="0">
              <a:buNone/>
            </a:pPr>
            <a:r>
              <a:rPr lang="en-US" sz="1500" dirty="0">
                <a:solidFill>
                  <a:schemeClr val="tx1"/>
                </a:solidFill>
              </a:rPr>
              <a:t>random forest on features (0.979).</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Can we trust the probabilities?</a:t>
            </a:r>
            <a:endParaRPr lang="en-US" sz="3600" dirty="0"/>
          </a:p>
        </p:txBody>
      </p:sp>
      <p:pic>
        <p:nvPicPr>
          <p:cNvPr id="3" name="calibration plot" descr="figures/calibration.png">    </p:cNvPr>
          <p:cNvPicPr>
            <a:picLocks noChangeAspect="1"/>
          </p:cNvPicPr>
          <p:nvPr/>
        </p:nvPicPr>
        <p:blipFill>
          <a:blip r:embed="rId1"/>
          <a:stretch>
            <a:fillRect/>
          </a:stretch>
        </p:blipFill>
        <p:spPr>
          <a:xfrm>
            <a:off x="548640" y="1417320"/>
            <a:ext cx="5577840" cy="4645152"/>
          </a:xfrm>
          <a:prstGeom prst="rect">
            <a:avLst/>
          </a:prstGeom>
        </p:spPr>
      </p:pic>
      <p:sp>
        <p:nvSpPr>
          <p:cNvPr id="4" name="cal card 0"/>
          <p:cNvSpPr/>
          <p:nvPr/>
        </p:nvSpPr>
        <p:spPr>
          <a:xfrm>
            <a:off x="6492240" y="1600200"/>
            <a:ext cx="5120640" cy="1691640"/>
          </a:xfrm>
          <a:prstGeom prst="roundRect">
            <a:avLst>
              <a:gd name="adj" fmla="val 6486"/>
            </a:avLst>
          </a:prstGeom>
          <a:solidFill>
            <a:srgbClr val="EEF2F6"/>
          </a:solidFill>
          <a:ln w="12700">
            <a:solidFill>
              <a:srgbClr val="EEF2F6"/>
            </a:solidFill>
            <a:prstDash val="solid"/>
          </a:ln>
        </p:spPr>
      </p:sp>
      <p:sp>
        <p:nvSpPr>
          <p:cNvPr id="5" name="Text 2"/>
          <p:cNvSpPr txBox="1"/>
          <p:nvPr/>
        </p:nvSpPr>
        <p:spPr>
          <a:xfrm>
            <a:off x="6720840" y="1737360"/>
            <a:ext cx="3108960" cy="365760"/>
          </a:xfrm>
          <a:prstGeom prst="rect">
            <a:avLst/>
          </a:prstGeom>
          <a:noFill/>
          <a:ln/>
        </p:spPr>
        <p:txBody>
          <a:bodyPr wrap="square" lIns="0" tIns="0" rIns="0" bIns="0" rtlCol="0" anchor="t"/>
          <a:lstStyle/>
          <a:p>
            <a:pPr indent="0" marL="0">
              <a:buNone/>
            </a:pPr>
            <a:r>
              <a:rPr lang="en-US" sz="1700" b="1" dirty="0">
                <a:solidFill>
                  <a:schemeClr val="tx2"/>
                </a:solidFill>
              </a:rPr>
              <a:t>Baseline</a:t>
            </a:r>
            <a:endParaRPr lang="en-US" sz="1700" dirty="0"/>
          </a:p>
        </p:txBody>
      </p:sp>
      <p:sp>
        <p:nvSpPr>
          <p:cNvPr id="6" name="Text 3"/>
          <p:cNvSpPr txBox="1"/>
          <p:nvPr/>
        </p:nvSpPr>
        <p:spPr>
          <a:xfrm>
            <a:off x="9418320" y="1709928"/>
            <a:ext cx="2011680" cy="411480"/>
          </a:xfrm>
          <a:prstGeom prst="rect">
            <a:avLst/>
          </a:prstGeom>
          <a:noFill/>
          <a:ln/>
        </p:spPr>
        <p:txBody>
          <a:bodyPr wrap="square" lIns="0" tIns="0" rIns="0" bIns="0" rtlCol="0" anchor="t"/>
          <a:lstStyle/>
          <a:p>
            <a:pPr algn="r" indent="0" marL="0">
              <a:buNone/>
            </a:pPr>
            <a:r>
              <a:rPr lang="en-US" sz="2000" b="1" dirty="0">
                <a:solidFill>
                  <a:schemeClr val="accent4"/>
                </a:solidFill>
              </a:rPr>
              <a:t>Brier 0.150</a:t>
            </a:r>
            <a:endParaRPr lang="en-US" sz="2000" dirty="0"/>
          </a:p>
        </p:txBody>
      </p:sp>
      <p:sp>
        <p:nvSpPr>
          <p:cNvPr id="7" name="Text 4"/>
          <p:cNvSpPr txBox="1"/>
          <p:nvPr/>
        </p:nvSpPr>
        <p:spPr>
          <a:xfrm>
            <a:off x="6720840" y="2240280"/>
            <a:ext cx="4663440" cy="914400"/>
          </a:xfrm>
          <a:prstGeom prst="rect">
            <a:avLst/>
          </a:prstGeom>
          <a:noFill/>
          <a:ln/>
        </p:spPr>
        <p:txBody>
          <a:bodyPr wrap="square" lIns="0" tIns="0" rIns="0" bIns="0" rtlCol="0" anchor="t"/>
          <a:lstStyle/>
          <a:p>
            <a:pPr indent="0" marL="0">
              <a:buNone/>
            </a:pPr>
            <a:r>
              <a:rPr lang="en-US" sz="1500" dirty="0">
                <a:solidFill>
                  <a:schemeClr val="tx1"/>
                </a:solidFill>
              </a:rPr>
              <a:t>Probabilities mean little: segments scored ~5% were mostly seizures</a:t>
            </a:r>
            <a:endParaRPr lang="en-US" sz="1500" dirty="0"/>
          </a:p>
        </p:txBody>
      </p:sp>
      <p:sp>
        <p:nvSpPr>
          <p:cNvPr id="8" name="cal card 1"/>
          <p:cNvSpPr/>
          <p:nvPr/>
        </p:nvSpPr>
        <p:spPr>
          <a:xfrm>
            <a:off x="6492240" y="3520440"/>
            <a:ext cx="5120640" cy="1691640"/>
          </a:xfrm>
          <a:prstGeom prst="roundRect">
            <a:avLst>
              <a:gd name="adj" fmla="val 6486"/>
            </a:avLst>
          </a:prstGeom>
          <a:solidFill>
            <a:srgbClr val="EEF2F6"/>
          </a:solidFill>
          <a:ln w="12700">
            <a:solidFill>
              <a:srgbClr val="EEF2F6"/>
            </a:solidFill>
            <a:prstDash val="solid"/>
          </a:ln>
        </p:spPr>
      </p:sp>
      <p:sp>
        <p:nvSpPr>
          <p:cNvPr id="9" name="Text 6"/>
          <p:cNvSpPr txBox="1"/>
          <p:nvPr/>
        </p:nvSpPr>
        <p:spPr>
          <a:xfrm>
            <a:off x="6720840" y="3657600"/>
            <a:ext cx="3108960" cy="365760"/>
          </a:xfrm>
          <a:prstGeom prst="rect">
            <a:avLst/>
          </a:prstGeom>
          <a:noFill/>
          <a:ln/>
        </p:spPr>
        <p:txBody>
          <a:bodyPr wrap="square" lIns="0" tIns="0" rIns="0" bIns="0" rtlCol="0" anchor="t"/>
          <a:lstStyle/>
          <a:p>
            <a:pPr indent="0" marL="0">
              <a:buNone/>
            </a:pPr>
            <a:r>
              <a:rPr lang="en-US" sz="1700" b="1" dirty="0">
                <a:solidFill>
                  <a:schemeClr val="tx2"/>
                </a:solidFill>
              </a:rPr>
              <a:t>Random forest features</a:t>
            </a:r>
            <a:endParaRPr lang="en-US" sz="1700" dirty="0"/>
          </a:p>
        </p:txBody>
      </p:sp>
      <p:sp>
        <p:nvSpPr>
          <p:cNvPr id="10" name="Text 7"/>
          <p:cNvSpPr txBox="1"/>
          <p:nvPr/>
        </p:nvSpPr>
        <p:spPr>
          <a:xfrm>
            <a:off x="9418320" y="3630168"/>
            <a:ext cx="2011680" cy="411480"/>
          </a:xfrm>
          <a:prstGeom prst="rect">
            <a:avLst/>
          </a:prstGeom>
          <a:noFill/>
          <a:ln/>
        </p:spPr>
        <p:txBody>
          <a:bodyPr wrap="square" lIns="0" tIns="0" rIns="0" bIns="0" rtlCol="0" anchor="t"/>
          <a:lstStyle/>
          <a:p>
            <a:pPr algn="r" indent="0" marL="0">
              <a:buNone/>
            </a:pPr>
            <a:r>
              <a:rPr lang="en-US" sz="2000" b="1" dirty="0">
                <a:solidFill>
                  <a:schemeClr val="accent2"/>
                </a:solidFill>
              </a:rPr>
              <a:t>Brier 0.021</a:t>
            </a:r>
            <a:endParaRPr lang="en-US" sz="2000" dirty="0"/>
          </a:p>
        </p:txBody>
      </p:sp>
      <p:sp>
        <p:nvSpPr>
          <p:cNvPr id="11" name="Text 8"/>
          <p:cNvSpPr txBox="1"/>
          <p:nvPr/>
        </p:nvSpPr>
        <p:spPr>
          <a:xfrm>
            <a:off x="6720840" y="4160520"/>
            <a:ext cx="4663440" cy="914400"/>
          </a:xfrm>
          <a:prstGeom prst="rect">
            <a:avLst/>
          </a:prstGeom>
          <a:noFill/>
          <a:ln/>
        </p:spPr>
        <p:txBody>
          <a:bodyPr wrap="square" lIns="0" tIns="0" rIns="0" bIns="0" rtlCol="0" anchor="t"/>
          <a:lstStyle/>
          <a:p>
            <a:pPr indent="0" marL="0">
              <a:buNone/>
            </a:pPr>
            <a:r>
              <a:rPr lang="en-US" sz="1500" dirty="0">
                <a:solidFill>
                  <a:schemeClr val="tx1"/>
                </a:solidFill>
              </a:rPr>
              <a:t>Close to the diagonal: a 70% score means roughly 70% are seizure</a:t>
            </a:r>
            <a:endParaRPr lang="en-US" sz="1500" dirty="0"/>
          </a:p>
        </p:txBody>
      </p:sp>
      <p:sp>
        <p:nvSpPr>
          <p:cNvPr id="12" name="Text 9"/>
          <p:cNvSpPr txBox="1"/>
          <p:nvPr/>
        </p:nvSpPr>
        <p:spPr>
          <a:xfrm>
            <a:off x="6492240" y="5486400"/>
            <a:ext cx="5120640" cy="548640"/>
          </a:xfrm>
          <a:prstGeom prst="rect">
            <a:avLst/>
          </a:prstGeom>
          <a:noFill/>
          <a:ln/>
        </p:spPr>
        <p:txBody>
          <a:bodyPr wrap="square" lIns="0" tIns="0" rIns="0" bIns="0" rtlCol="0" anchor="t"/>
          <a:lstStyle/>
          <a:p>
            <a:pPr indent="0" marL="0">
              <a:buNone/>
            </a:pPr>
            <a:r>
              <a:rPr lang="en-US" sz="1300" i="1" dirty="0">
                <a:solidFill>
                  <a:schemeClr val="accent4"/>
                </a:solidFill>
              </a:rPr>
              <a:t>Brier score = average squared error of the probability. Lower is better.</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Threshold: catch at least 95% of seizures</a:t>
            </a:r>
            <a:endParaRPr lang="en-US" sz="3600" dirty="0"/>
          </a:p>
        </p:txBody>
      </p:sp>
      <p:pic>
        <p:nvPicPr>
          <p:cNvPr id="3" name="threshold plot" descr="figures/threshold.png">    </p:cNvPr>
          <p:cNvPicPr>
            <a:picLocks noChangeAspect="1"/>
          </p:cNvPicPr>
          <p:nvPr/>
        </p:nvPicPr>
        <p:blipFill>
          <a:blip r:embed="rId1"/>
          <a:stretch>
            <a:fillRect/>
          </a:stretch>
        </p:blipFill>
        <p:spPr>
          <a:xfrm>
            <a:off x="548640" y="1463040"/>
            <a:ext cx="6035040" cy="4023360"/>
          </a:xfrm>
          <a:prstGeom prst="rect">
            <a:avLst/>
          </a:prstGeom>
        </p:spPr>
      </p:pic>
      <p:sp>
        <p:nvSpPr>
          <p:cNvPr id="4" name="Text 1"/>
          <p:cNvSpPr txBox="1"/>
          <p:nvPr/>
        </p:nvSpPr>
        <p:spPr>
          <a:xfrm>
            <a:off x="548640" y="5577840"/>
            <a:ext cx="6035040" cy="548640"/>
          </a:xfrm>
          <a:prstGeom prst="rect">
            <a:avLst/>
          </a:prstGeom>
          <a:noFill/>
          <a:ln/>
        </p:spPr>
        <p:txBody>
          <a:bodyPr wrap="square" lIns="0" tIns="0" rIns="0" bIns="0" rtlCol="0" anchor="t"/>
          <a:lstStyle/>
          <a:p>
            <a:pPr indent="0" marL="0">
              <a:buNone/>
            </a:pPr>
            <a:r>
              <a:rPr lang="en-US" sz="1400" i="1" dirty="0">
                <a:solidFill>
                  <a:schemeClr val="accent4"/>
                </a:solidFill>
              </a:rPr>
              <a:t>Rule: the highest threshold that still gives ≥ 95% sensitivity on validation</a:t>
            </a:r>
            <a:endParaRPr lang="en-US" sz="1400" dirty="0"/>
          </a:p>
        </p:txBody>
      </p:sp>
      <p:graphicFrame>
        <p:nvGraphicFramePr>
          <p:cNvPr id="9" name="threshold table"/>
          <p:cNvGraphicFramePr>
            <a:graphicFrameLocks noGrp="1"/>
          </p:cNvGraphicFramePr>
          <p:nvPr>
            <p:extLst>
              <p:ext uri="{D42A27DB-BD31-4B8C-83A1-F6EECF244321}">
                <p14:modId xmlns:p14="http://schemas.microsoft.com/office/powerpoint/2010/main" val="1579011935"/>
              </p:ext>
            </p:extLst>
          </p:nvPr>
        </p:nvGraphicFramePr>
        <p:xfrm>
          <a:off x="6949440" y="1554480"/>
          <a:ext cx="4663440" cy="914400"/>
        </p:xfrm>
        <a:graphic>
          <a:graphicData uri="http://schemas.openxmlformats.org/drawingml/2006/table">
            <a:tbl>
              <a:tblPr/>
              <a:tblGrid>
                <a:gridCol w="2103120"/>
                <a:gridCol w="1280160"/>
                <a:gridCol w="1280160"/>
              </a:tblGrid>
              <a:tr h="43891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Validation</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 = 0.50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t = 0.16</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C8102E"/>
                    </a:solidFill>
                  </a:tcPr>
                </a:tc>
              </a:tr>
              <a:tr h="438912">
                <a:tc>
                  <a:txBody>
                    <a:bodyPr/>
                    <a:lstStyle/>
                    <a:p>
                      <a:pPr indent="0" marL="0">
                        <a:buNone/>
                      </a:pPr>
                      <a:r>
                        <a:rPr lang="en-US" sz="1500" dirty="0">
                          <a:solidFill>
                            <a:srgbClr val="1E1E24"/>
                          </a:solidFill>
                          <a:latin typeface="Calibri" pitchFamily="34" charset="0"/>
                          <a:ea typeface="Calibri" pitchFamily="34" charset="-122"/>
                          <a:cs typeface="Calibri" pitchFamily="34" charset="-120"/>
                        </a:rPr>
                        <a:t>Missed seizures (FN)</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23</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r>
              <a:tr h="438912">
                <a:tc>
                  <a:txBody>
                    <a:bodyPr/>
                    <a:lstStyle/>
                    <a:p>
                      <a:pPr indent="0" marL="0">
                        <a:buNone/>
                      </a:pPr>
                      <a:r>
                        <a:rPr lang="en-US" sz="1500" dirty="0">
                          <a:solidFill>
                            <a:srgbClr val="1E1E24"/>
                          </a:solidFill>
                          <a:latin typeface="Calibri" pitchFamily="34" charset="0"/>
                          <a:ea typeface="Calibri" pitchFamily="34" charset="-122"/>
                          <a:cs typeface="Calibri" pitchFamily="34" charset="-120"/>
                        </a:rPr>
                        <a:t>False alarms (FP)</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65</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r>
              <a:tr h="438912">
                <a:tc>
                  <a:txBody>
                    <a:bodyPr/>
                    <a:lstStyle/>
                    <a:p>
                      <a:pPr indent="0" marL="0">
                        <a:buNone/>
                      </a:pPr>
                      <a:r>
                        <a:rPr lang="en-US" sz="1500" dirty="0">
                          <a:solidFill>
                            <a:srgbClr val="1E1E24"/>
                          </a:solidFill>
                          <a:latin typeface="Calibri" pitchFamily="34" charset="0"/>
                          <a:ea typeface="Calibri" pitchFamily="34" charset="-122"/>
                          <a:cs typeface="Calibri" pitchFamily="34" charset="-120"/>
                        </a:rPr>
                        <a:t>Sensitivity</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89.1%</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95.0%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r>
              <a:tr h="438912">
                <a:tc>
                  <a:txBody>
                    <a:bodyPr/>
                    <a:lstStyle/>
                    <a:p>
                      <a:pPr indent="0" marL="0">
                        <a:buNone/>
                      </a:pPr>
                      <a:r>
                        <a:rPr lang="en-US" sz="1500" dirty="0">
                          <a:solidFill>
                            <a:srgbClr val="1E1E24"/>
                          </a:solidFill>
                          <a:latin typeface="Calibri" pitchFamily="34" charset="0"/>
                          <a:ea typeface="Calibri" pitchFamily="34" charset="-122"/>
                          <a:cs typeface="Calibri" pitchFamily="34" charset="-120"/>
                        </a:rPr>
                        <a:t>Specificity</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99.4%</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96.5%</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r>
              <a:tr h="438912">
                <a:tc>
                  <a:txBody>
                    <a:bodyPr/>
                    <a:lstStyle/>
                    <a:p>
                      <a:pPr indent="0" marL="0">
                        <a:buNone/>
                      </a:pPr>
                      <a:r>
                        <a:rPr lang="en-US" sz="1500" dirty="0">
                          <a:solidFill>
                            <a:srgbClr val="1E1E24"/>
                          </a:solidFill>
                          <a:latin typeface="Calibri" pitchFamily="34" charset="0"/>
                          <a:ea typeface="Calibri" pitchFamily="34" charset="-122"/>
                          <a:cs typeface="Calibri" pitchFamily="34" charset="-120"/>
                        </a:rPr>
                        <a:t>PPV</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97.4%</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87.1%</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tcPr>
                </a:tc>
              </a:tr>
            </a:tbl>
          </a:graphicData>
        </a:graphic>
      </p:graphicFrame>
      <p:sp>
        <p:nvSpPr>
          <p:cNvPr id="6" name="Text 2"/>
          <p:cNvSpPr txBox="1"/>
          <p:nvPr/>
        </p:nvSpPr>
        <p:spPr>
          <a:xfrm>
            <a:off x="6949440" y="4526280"/>
            <a:ext cx="4663440" cy="1463040"/>
          </a:xfrm>
          <a:prstGeom prst="rect">
            <a:avLst/>
          </a:prstGeom>
          <a:noFill/>
          <a:ln/>
        </p:spPr>
        <p:txBody>
          <a:bodyPr wrap="square" lIns="0" tIns="0" rIns="0" bIns="0" rtlCol="0" anchor="t"/>
          <a:lstStyle/>
          <a:p>
            <a:pPr indent="0" marL="0">
              <a:buNone/>
            </a:pPr>
            <a:r>
              <a:rPr lang="en-US" sz="1500" b="1" dirty="0">
                <a:solidFill>
                  <a:schemeClr val="tx2"/>
                </a:solidFill>
              </a:rPr>
              <a:t>Why lower the threshold? </a:t>
            </a:r>
            <a:pPr indent="0" marL="0">
              <a:buNone/>
            </a:pPr>
            <a:r>
              <a:rPr lang="en-US" sz="1500" dirty="0">
                <a:solidFill>
                  <a:schemeClr val="tx1"/>
                </a:solidFill>
              </a:rPr>
              <a:t>A false alarm costs a few seconds of review. A missed seizure may never be looked at. So a miss costs more.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Final test, used only once</a:t>
            </a:r>
            <a:endParaRPr lang="en-US" sz="3600" dirty="0"/>
          </a:p>
        </p:txBody>
      </p:sp>
      <p:sp>
        <p:nvSpPr>
          <p:cNvPr id="3" name="stat Sensitivity"/>
          <p:cNvSpPr/>
          <p:nvPr/>
        </p:nvSpPr>
        <p:spPr>
          <a:xfrm>
            <a:off x="548640" y="1508760"/>
            <a:ext cx="3108960" cy="1828800"/>
          </a:xfrm>
          <a:prstGeom prst="roundRect">
            <a:avLst>
              <a:gd name="adj" fmla="val 6000"/>
            </a:avLst>
          </a:prstGeom>
          <a:solidFill>
            <a:srgbClr val="EEF2F6"/>
          </a:solidFill>
          <a:ln w="12700">
            <a:solidFill>
              <a:srgbClr val="EEF2F6"/>
            </a:solidFill>
            <a:prstDash val="solid"/>
          </a:ln>
        </p:spPr>
      </p:sp>
      <p:sp>
        <p:nvSpPr>
          <p:cNvPr id="4" name="Text 2"/>
          <p:cNvSpPr txBox="1"/>
          <p:nvPr/>
        </p:nvSpPr>
        <p:spPr>
          <a:xfrm>
            <a:off x="777240" y="1645920"/>
            <a:ext cx="2743200" cy="822960"/>
          </a:xfrm>
          <a:prstGeom prst="rect">
            <a:avLst/>
          </a:prstGeom>
          <a:noFill/>
          <a:ln/>
        </p:spPr>
        <p:txBody>
          <a:bodyPr wrap="square" lIns="0" tIns="0" rIns="0" bIns="0" rtlCol="0" anchor="t"/>
          <a:lstStyle/>
          <a:p>
            <a:pPr indent="0" marL="0">
              <a:buNone/>
            </a:pPr>
            <a:r>
              <a:rPr lang="en-US" sz="4000" b="1" dirty="0">
                <a:solidFill>
                  <a:srgbClr val="C8102E"/>
                </a:solidFill>
                <a:latin typeface="Cambria" pitchFamily="34" charset="0"/>
                <a:ea typeface="Cambria" pitchFamily="34" charset="-122"/>
                <a:cs typeface="Cambria" pitchFamily="34" charset="-120"/>
              </a:rPr>
              <a:t>97.6%</a:t>
            </a:r>
            <a:endParaRPr lang="en-US" sz="4000" dirty="0"/>
          </a:p>
        </p:txBody>
      </p:sp>
      <p:sp>
        <p:nvSpPr>
          <p:cNvPr id="5" name="Text 3"/>
          <p:cNvSpPr txBox="1"/>
          <p:nvPr/>
        </p:nvSpPr>
        <p:spPr>
          <a:xfrm>
            <a:off x="777240" y="2468880"/>
            <a:ext cx="2743200" cy="365760"/>
          </a:xfrm>
          <a:prstGeom prst="rect">
            <a:avLst/>
          </a:prstGeom>
          <a:noFill/>
          <a:ln/>
        </p:spPr>
        <p:txBody>
          <a:bodyPr wrap="square" lIns="0" tIns="0" rIns="0" bIns="0" rtlCol="0" anchor="t"/>
          <a:lstStyle/>
          <a:p>
            <a:pPr indent="0" marL="0">
              <a:buNone/>
            </a:pPr>
            <a:r>
              <a:rPr lang="en-US" sz="1700" b="1" dirty="0">
                <a:solidFill>
                  <a:schemeClr val="tx2"/>
                </a:solidFill>
              </a:rPr>
              <a:t>Sensitivity</a:t>
            </a:r>
            <a:endParaRPr lang="en-US" sz="1700" dirty="0"/>
          </a:p>
        </p:txBody>
      </p:sp>
      <p:sp>
        <p:nvSpPr>
          <p:cNvPr id="6" name="Text 4"/>
          <p:cNvSpPr txBox="1"/>
          <p:nvPr/>
        </p:nvSpPr>
        <p:spPr>
          <a:xfrm>
            <a:off x="777240" y="2834640"/>
            <a:ext cx="2743200" cy="365760"/>
          </a:xfrm>
          <a:prstGeom prst="rect">
            <a:avLst/>
          </a:prstGeom>
          <a:noFill/>
          <a:ln/>
        </p:spPr>
        <p:txBody>
          <a:bodyPr wrap="square" lIns="0" tIns="0" rIns="0" bIns="0" rtlCol="0" anchor="t"/>
          <a:lstStyle/>
          <a:p>
            <a:pPr indent="0" marL="0">
              <a:buNone/>
            </a:pPr>
            <a:r>
              <a:rPr lang="en-US" sz="1300" dirty="0">
                <a:solidFill>
                  <a:schemeClr val="accent4"/>
                </a:solidFill>
              </a:rPr>
              <a:t>95% CI 94.1–100</a:t>
            </a:r>
            <a:endParaRPr lang="en-US" sz="1300" dirty="0"/>
          </a:p>
        </p:txBody>
      </p:sp>
      <p:sp>
        <p:nvSpPr>
          <p:cNvPr id="7" name="stat Specificity"/>
          <p:cNvSpPr/>
          <p:nvPr/>
        </p:nvSpPr>
        <p:spPr>
          <a:xfrm>
            <a:off x="3840480" y="1508760"/>
            <a:ext cx="3108960" cy="1828800"/>
          </a:xfrm>
          <a:prstGeom prst="roundRect">
            <a:avLst>
              <a:gd name="adj" fmla="val 6000"/>
            </a:avLst>
          </a:prstGeom>
          <a:solidFill>
            <a:srgbClr val="EEF2F6"/>
          </a:solidFill>
          <a:ln w="12700">
            <a:solidFill>
              <a:srgbClr val="EEF2F6"/>
            </a:solidFill>
            <a:prstDash val="solid"/>
          </a:ln>
        </p:spPr>
      </p:sp>
      <p:sp>
        <p:nvSpPr>
          <p:cNvPr id="8" name="Text 6"/>
          <p:cNvSpPr txBox="1"/>
          <p:nvPr/>
        </p:nvSpPr>
        <p:spPr>
          <a:xfrm>
            <a:off x="4069080" y="1645920"/>
            <a:ext cx="2743200" cy="822960"/>
          </a:xfrm>
          <a:prstGeom prst="rect">
            <a:avLst/>
          </a:prstGeom>
          <a:noFill/>
          <a:ln/>
        </p:spPr>
        <p:txBody>
          <a:bodyPr wrap="square" lIns="0" tIns="0" rIns="0" bIns="0" rtlCol="0" anchor="t"/>
          <a:lstStyle/>
          <a:p>
            <a:pPr indent="0" marL="0">
              <a:buNone/>
            </a:pPr>
            <a:r>
              <a:rPr lang="en-US" sz="4000" b="1" dirty="0">
                <a:solidFill>
                  <a:srgbClr val="1F6F78"/>
                </a:solidFill>
                <a:latin typeface="Cambria" pitchFamily="34" charset="0"/>
                <a:ea typeface="Cambria" pitchFamily="34" charset="-122"/>
                <a:cs typeface="Cambria" pitchFamily="34" charset="-120"/>
              </a:rPr>
              <a:t>95.9%</a:t>
            </a:r>
            <a:endParaRPr lang="en-US" sz="4000" dirty="0"/>
          </a:p>
        </p:txBody>
      </p:sp>
      <p:sp>
        <p:nvSpPr>
          <p:cNvPr id="9" name="Text 7"/>
          <p:cNvSpPr txBox="1"/>
          <p:nvPr/>
        </p:nvSpPr>
        <p:spPr>
          <a:xfrm>
            <a:off x="4069080" y="2468880"/>
            <a:ext cx="2743200" cy="365760"/>
          </a:xfrm>
          <a:prstGeom prst="rect">
            <a:avLst/>
          </a:prstGeom>
          <a:noFill/>
          <a:ln/>
        </p:spPr>
        <p:txBody>
          <a:bodyPr wrap="square" lIns="0" tIns="0" rIns="0" bIns="0" rtlCol="0" anchor="t"/>
          <a:lstStyle/>
          <a:p>
            <a:pPr indent="0" marL="0">
              <a:buNone/>
            </a:pPr>
            <a:r>
              <a:rPr lang="en-US" sz="1700" b="1" dirty="0">
                <a:solidFill>
                  <a:schemeClr val="tx2"/>
                </a:solidFill>
              </a:rPr>
              <a:t>Specificity</a:t>
            </a:r>
            <a:endParaRPr lang="en-US" sz="1700" dirty="0"/>
          </a:p>
        </p:txBody>
      </p:sp>
      <p:sp>
        <p:nvSpPr>
          <p:cNvPr id="10" name="Text 8"/>
          <p:cNvSpPr txBox="1"/>
          <p:nvPr/>
        </p:nvSpPr>
        <p:spPr>
          <a:xfrm>
            <a:off x="4069080" y="2834640"/>
            <a:ext cx="2743200" cy="365760"/>
          </a:xfrm>
          <a:prstGeom prst="rect">
            <a:avLst/>
          </a:prstGeom>
          <a:noFill/>
          <a:ln/>
        </p:spPr>
        <p:txBody>
          <a:bodyPr wrap="square" lIns="0" tIns="0" rIns="0" bIns="0" rtlCol="0" anchor="t"/>
          <a:lstStyle/>
          <a:p>
            <a:pPr indent="0" marL="0">
              <a:buNone/>
            </a:pPr>
            <a:r>
              <a:rPr lang="en-US" sz="1300" dirty="0">
                <a:solidFill>
                  <a:schemeClr val="accent4"/>
                </a:solidFill>
              </a:rPr>
              <a:t>95% CI 92.3–98.9</a:t>
            </a:r>
            <a:endParaRPr lang="en-US" sz="1300" dirty="0"/>
          </a:p>
        </p:txBody>
      </p:sp>
      <p:sp>
        <p:nvSpPr>
          <p:cNvPr id="11" name="stat PPV"/>
          <p:cNvSpPr/>
          <p:nvPr/>
        </p:nvSpPr>
        <p:spPr>
          <a:xfrm>
            <a:off x="548640" y="3520440"/>
            <a:ext cx="3108960" cy="1828800"/>
          </a:xfrm>
          <a:prstGeom prst="roundRect">
            <a:avLst>
              <a:gd name="adj" fmla="val 6000"/>
            </a:avLst>
          </a:prstGeom>
          <a:solidFill>
            <a:srgbClr val="EEF2F6"/>
          </a:solidFill>
          <a:ln w="12700">
            <a:solidFill>
              <a:srgbClr val="EEF2F6"/>
            </a:solidFill>
            <a:prstDash val="solid"/>
          </a:ln>
        </p:spPr>
      </p:sp>
      <p:sp>
        <p:nvSpPr>
          <p:cNvPr id="12" name="Text 10"/>
          <p:cNvSpPr txBox="1"/>
          <p:nvPr/>
        </p:nvSpPr>
        <p:spPr>
          <a:xfrm>
            <a:off x="777240" y="3657600"/>
            <a:ext cx="2743200" cy="822960"/>
          </a:xfrm>
          <a:prstGeom prst="rect">
            <a:avLst/>
          </a:prstGeom>
          <a:noFill/>
          <a:ln/>
        </p:spPr>
        <p:txBody>
          <a:bodyPr wrap="square" lIns="0" tIns="0" rIns="0" bIns="0" rtlCol="0" anchor="t"/>
          <a:lstStyle/>
          <a:p>
            <a:pPr indent="0" marL="0">
              <a:buNone/>
            </a:pPr>
            <a:r>
              <a:rPr lang="en-US" sz="4000" b="1" dirty="0">
                <a:solidFill>
                  <a:srgbClr val="14213D"/>
                </a:solidFill>
                <a:latin typeface="Cambria" pitchFamily="34" charset="0"/>
                <a:ea typeface="Cambria" pitchFamily="34" charset="-122"/>
                <a:cs typeface="Cambria" pitchFamily="34" charset="-120"/>
              </a:rPr>
              <a:t>85.7%</a:t>
            </a:r>
            <a:endParaRPr lang="en-US" sz="4000" dirty="0"/>
          </a:p>
        </p:txBody>
      </p:sp>
      <p:sp>
        <p:nvSpPr>
          <p:cNvPr id="13" name="Text 11"/>
          <p:cNvSpPr txBox="1"/>
          <p:nvPr/>
        </p:nvSpPr>
        <p:spPr>
          <a:xfrm>
            <a:off x="777240" y="4480560"/>
            <a:ext cx="2743200" cy="365760"/>
          </a:xfrm>
          <a:prstGeom prst="rect">
            <a:avLst/>
          </a:prstGeom>
          <a:noFill/>
          <a:ln/>
        </p:spPr>
        <p:txBody>
          <a:bodyPr wrap="square" lIns="0" tIns="0" rIns="0" bIns="0" rtlCol="0" anchor="t"/>
          <a:lstStyle/>
          <a:p>
            <a:pPr indent="0" marL="0">
              <a:buNone/>
            </a:pPr>
            <a:r>
              <a:rPr lang="en-US" sz="1700" b="1" dirty="0">
                <a:solidFill>
                  <a:schemeClr val="tx2"/>
                </a:solidFill>
              </a:rPr>
              <a:t>PPV</a:t>
            </a:r>
            <a:endParaRPr lang="en-US" sz="1700" dirty="0"/>
          </a:p>
        </p:txBody>
      </p:sp>
      <p:sp>
        <p:nvSpPr>
          <p:cNvPr id="14" name="Text 12"/>
          <p:cNvSpPr txBox="1"/>
          <p:nvPr/>
        </p:nvSpPr>
        <p:spPr>
          <a:xfrm>
            <a:off x="777240" y="4846320"/>
            <a:ext cx="2743200" cy="365760"/>
          </a:xfrm>
          <a:prstGeom prst="rect">
            <a:avLst/>
          </a:prstGeom>
          <a:noFill/>
          <a:ln/>
        </p:spPr>
        <p:txBody>
          <a:bodyPr wrap="square" lIns="0" tIns="0" rIns="0" bIns="0" rtlCol="0" anchor="t"/>
          <a:lstStyle/>
          <a:p>
            <a:pPr indent="0" marL="0">
              <a:buNone/>
            </a:pPr>
            <a:r>
              <a:rPr lang="en-US" sz="1300" dirty="0">
                <a:solidFill>
                  <a:schemeClr val="accent4"/>
                </a:solidFill>
              </a:rPr>
              <a:t>≈ 86 of 100 flags are real</a:t>
            </a:r>
            <a:endParaRPr lang="en-US" sz="1300" dirty="0"/>
          </a:p>
        </p:txBody>
      </p:sp>
      <p:sp>
        <p:nvSpPr>
          <p:cNvPr id="15" name="stat NPV"/>
          <p:cNvSpPr/>
          <p:nvPr/>
        </p:nvSpPr>
        <p:spPr>
          <a:xfrm>
            <a:off x="3840480" y="3520440"/>
            <a:ext cx="3108960" cy="1828800"/>
          </a:xfrm>
          <a:prstGeom prst="roundRect">
            <a:avLst>
              <a:gd name="adj" fmla="val 6000"/>
            </a:avLst>
          </a:prstGeom>
          <a:solidFill>
            <a:srgbClr val="EEF2F6"/>
          </a:solidFill>
          <a:ln w="12700">
            <a:solidFill>
              <a:srgbClr val="EEF2F6"/>
            </a:solidFill>
            <a:prstDash val="solid"/>
          </a:ln>
        </p:spPr>
      </p:sp>
      <p:sp>
        <p:nvSpPr>
          <p:cNvPr id="16" name="Text 14"/>
          <p:cNvSpPr txBox="1"/>
          <p:nvPr/>
        </p:nvSpPr>
        <p:spPr>
          <a:xfrm>
            <a:off x="4069080" y="3657600"/>
            <a:ext cx="2743200" cy="822960"/>
          </a:xfrm>
          <a:prstGeom prst="rect">
            <a:avLst/>
          </a:prstGeom>
          <a:noFill/>
          <a:ln/>
        </p:spPr>
        <p:txBody>
          <a:bodyPr wrap="square" lIns="0" tIns="0" rIns="0" bIns="0" rtlCol="0" anchor="t"/>
          <a:lstStyle/>
          <a:p>
            <a:pPr indent="0" marL="0">
              <a:buNone/>
            </a:pPr>
            <a:r>
              <a:rPr lang="en-US" sz="4000" b="1" dirty="0">
                <a:solidFill>
                  <a:srgbClr val="14213D"/>
                </a:solidFill>
                <a:latin typeface="Cambria" pitchFamily="34" charset="0"/>
                <a:ea typeface="Cambria" pitchFamily="34" charset="-122"/>
                <a:cs typeface="Cambria" pitchFamily="34" charset="-120"/>
              </a:rPr>
              <a:t>99.4%</a:t>
            </a:r>
            <a:endParaRPr lang="en-US" sz="4000" dirty="0"/>
          </a:p>
        </p:txBody>
      </p:sp>
      <p:sp>
        <p:nvSpPr>
          <p:cNvPr id="17" name="Text 15"/>
          <p:cNvSpPr txBox="1"/>
          <p:nvPr/>
        </p:nvSpPr>
        <p:spPr>
          <a:xfrm>
            <a:off x="4069080" y="4480560"/>
            <a:ext cx="2743200" cy="365760"/>
          </a:xfrm>
          <a:prstGeom prst="rect">
            <a:avLst/>
          </a:prstGeom>
          <a:noFill/>
          <a:ln/>
        </p:spPr>
        <p:txBody>
          <a:bodyPr wrap="square" lIns="0" tIns="0" rIns="0" bIns="0" rtlCol="0" anchor="t"/>
          <a:lstStyle/>
          <a:p>
            <a:pPr indent="0" marL="0">
              <a:buNone/>
            </a:pPr>
            <a:r>
              <a:rPr lang="en-US" sz="1700" b="1" dirty="0">
                <a:solidFill>
                  <a:schemeClr val="tx2"/>
                </a:solidFill>
              </a:rPr>
              <a:t>NPV</a:t>
            </a:r>
            <a:endParaRPr lang="en-US" sz="1700" dirty="0"/>
          </a:p>
        </p:txBody>
      </p:sp>
      <p:sp>
        <p:nvSpPr>
          <p:cNvPr id="18" name="Text 16"/>
          <p:cNvSpPr txBox="1"/>
          <p:nvPr/>
        </p:nvSpPr>
        <p:spPr>
          <a:xfrm>
            <a:off x="4069080" y="4846320"/>
            <a:ext cx="2743200" cy="365760"/>
          </a:xfrm>
          <a:prstGeom prst="rect">
            <a:avLst/>
          </a:prstGeom>
          <a:noFill/>
          <a:ln/>
        </p:spPr>
        <p:txBody>
          <a:bodyPr wrap="square" lIns="0" tIns="0" rIns="0" bIns="0" rtlCol="0" anchor="t"/>
          <a:lstStyle/>
          <a:p>
            <a:pPr indent="0" marL="0">
              <a:buNone/>
            </a:pPr>
            <a:r>
              <a:rPr lang="en-US" sz="1300" dirty="0">
                <a:solidFill>
                  <a:schemeClr val="accent4"/>
                </a:solidFill>
              </a:rPr>
              <a:t>unflagged are almost all clear</a:t>
            </a:r>
            <a:endParaRPr lang="en-US" sz="1300" dirty="0"/>
          </a:p>
        </p:txBody>
      </p:sp>
      <p:pic>
        <p:nvPicPr>
          <p:cNvPr id="19" name="test confusion matrix" descr="figures/test_confusion.png">    </p:cNvPr>
          <p:cNvPicPr>
            <a:picLocks noChangeAspect="1"/>
          </p:cNvPicPr>
          <p:nvPr/>
        </p:nvPicPr>
        <p:blipFill>
          <a:blip r:embed="rId1"/>
          <a:stretch>
            <a:fillRect/>
          </a:stretch>
        </p:blipFill>
        <p:spPr>
          <a:xfrm>
            <a:off x="7315200" y="1463040"/>
            <a:ext cx="4297680" cy="3227832"/>
          </a:xfrm>
          <a:prstGeom prst="rect">
            <a:avLst/>
          </a:prstGeom>
        </p:spPr>
      </p:pic>
      <p:sp>
        <p:nvSpPr>
          <p:cNvPr id="20" name="Text 17"/>
          <p:cNvSpPr txBox="1"/>
          <p:nvPr/>
        </p:nvSpPr>
        <p:spPr>
          <a:xfrm>
            <a:off x="7315200" y="4846320"/>
            <a:ext cx="4297680" cy="1097280"/>
          </a:xfrm>
          <a:prstGeom prst="rect">
            <a:avLst/>
          </a:prstGeom>
          <a:noFill/>
          <a:ln/>
        </p:spPr>
        <p:txBody>
          <a:bodyPr wrap="square" lIns="0" tIns="0" rIns="0" bIns="0" rtlCol="0" anchor="t"/>
          <a:lstStyle/>
          <a:p>
            <a:pPr indent="0" marL="0">
              <a:buNone/>
            </a:pPr>
            <a:r>
              <a:rPr lang="en-US" sz="1400" i="1" dirty="0">
                <a:solidFill>
                  <a:schemeClr val="accent4"/>
                </a:solidFill>
              </a:rPr>
              <a:t>Random forest on features, threshold 0.16. CIs from 1,000 bootstrap samples of recordings, not rows.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Where the model goes wrong</a:t>
            </a:r>
            <a:endParaRPr lang="en-US" sz="3600" dirty="0"/>
          </a:p>
        </p:txBody>
      </p:sp>
      <p:graphicFrame>
        <p:nvGraphicFramePr>
          <p:cNvPr id="3" name="false positive chart" descr=""/>
          <p:cNvGraphicFramePr/>
          <p:nvPr/>
        </p:nvGraphicFramePr>
        <p:xfrm>
          <a:off x="548640" y="146304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715000"/>
            <a:ext cx="6035040" cy="548640"/>
          </a:xfrm>
          <a:prstGeom prst="rect">
            <a:avLst/>
          </a:prstGeom>
          <a:noFill/>
          <a:ln/>
        </p:spPr>
        <p:txBody>
          <a:bodyPr wrap="square" lIns="0" tIns="0" rIns="0" bIns="0" rtlCol="0" anchor="t"/>
          <a:lstStyle/>
          <a:p>
            <a:pPr indent="0" marL="0">
              <a:buNone/>
            </a:pPr>
            <a:r>
              <a:rPr lang="en-US" sz="1300" i="1" dirty="0">
                <a:solidFill>
                  <a:schemeClr val="accent4"/>
                </a:solidFill>
              </a:rPr>
              <a:t>Patients' EEG between seizures can still have sharp, large waves. Eyes-open EEG is calm and gave no false alarms.</a:t>
            </a:r>
            <a:endParaRPr lang="en-US" sz="1300" dirty="0"/>
          </a:p>
        </p:txBody>
      </p:sp>
      <p:sp>
        <p:nvSpPr>
          <p:cNvPr id="5" name="Text 2"/>
          <p:cNvSpPr txBox="1"/>
          <p:nvPr/>
        </p:nvSpPr>
        <p:spPr>
          <a:xfrm>
            <a:off x="7040880" y="1600200"/>
            <a:ext cx="45720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86 mistakes</a:t>
            </a:r>
            <a:endParaRPr lang="en-US" sz="4000" dirty="0"/>
          </a:p>
        </p:txBody>
      </p:sp>
      <p:sp>
        <p:nvSpPr>
          <p:cNvPr id="6" name="Text 3"/>
          <p:cNvSpPr txBox="1"/>
          <p:nvPr/>
        </p:nvSpPr>
        <p:spPr>
          <a:xfrm>
            <a:off x="7040880" y="2331720"/>
            <a:ext cx="4572000" cy="411480"/>
          </a:xfrm>
          <a:prstGeom prst="rect">
            <a:avLst/>
          </a:prstGeom>
          <a:noFill/>
          <a:ln/>
        </p:spPr>
        <p:txBody>
          <a:bodyPr wrap="square" lIns="0" tIns="0" rIns="0" bIns="0" rtlCol="0" anchor="t"/>
          <a:lstStyle/>
          <a:p>
            <a:pPr indent="0" marL="0">
              <a:buNone/>
            </a:pPr>
            <a:r>
              <a:rPr lang="en-US" sz="1700" b="1" dirty="0">
                <a:solidFill>
                  <a:schemeClr val="tx2"/>
                </a:solidFill>
              </a:rPr>
              <a:t>all inside just 15 of 100 test recordings</a:t>
            </a:r>
            <a:endParaRPr lang="en-US" sz="1700" dirty="0"/>
          </a:p>
        </p:txBody>
      </p:sp>
      <p:sp>
        <p:nvSpPr>
          <p:cNvPr id="7" name="cluster card"/>
          <p:cNvSpPr/>
          <p:nvPr/>
        </p:nvSpPr>
        <p:spPr>
          <a:xfrm>
            <a:off x="7040880" y="3017520"/>
            <a:ext cx="4572000" cy="2651760"/>
          </a:xfrm>
          <a:prstGeom prst="roundRect">
            <a:avLst>
              <a:gd name="adj" fmla="val 4138"/>
            </a:avLst>
          </a:prstGeom>
          <a:solidFill>
            <a:srgbClr val="EEF2F6"/>
          </a:solidFill>
          <a:ln w="12700">
            <a:solidFill>
              <a:srgbClr val="EEF2F6"/>
            </a:solidFill>
            <a:prstDash val="solid"/>
          </a:ln>
        </p:spPr>
      </p:sp>
      <p:sp>
        <p:nvSpPr>
          <p:cNvPr id="8" name="Text 5"/>
          <p:cNvSpPr txBox="1"/>
          <p:nvPr/>
        </p:nvSpPr>
        <p:spPr>
          <a:xfrm>
            <a:off x="7269480" y="3200400"/>
            <a:ext cx="4114800" cy="2377440"/>
          </a:xfrm>
          <a:prstGeom prst="rect">
            <a:avLst/>
          </a:prstGeom>
          <a:noFill/>
          <a:ln/>
        </p:spPr>
        <p:txBody>
          <a:bodyPr wrap="square" lIns="0" tIns="0" rIns="0" bIns="0" rtlCol="0" anchor="t"/>
          <a:lstStyle/>
          <a:p>
            <a:pPr indent="0" marL="0">
              <a:buNone/>
            </a:pPr>
            <a:r>
              <a:rPr lang="en-US" sz="1500" dirty="0">
                <a:solidFill>
                  <a:schemeClr val="tx1"/>
                </a:solidFill>
              </a:rPr>
              <a:t>Two recordings alone had 23 and 20 of their 23 segments wrong, both from tumour patients.</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2"/>
                </a:solidFill>
              </a:rPr>
              <a:t>So errors depend on the recording or person, not random noise. A new person could fail the same way.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From segments to whole recordings</a:t>
            </a:r>
            <a:endParaRPr lang="en-US" sz="3600" dirty="0"/>
          </a:p>
        </p:txBody>
      </p:sp>
      <p:sp>
        <p:nvSpPr>
          <p:cNvPr id="3" name="Text 1"/>
          <p:cNvSpPr txBox="1"/>
          <p:nvPr/>
        </p:nvSpPr>
        <p:spPr>
          <a:xfrm>
            <a:off x="548640" y="1463040"/>
            <a:ext cx="11064240" cy="640080"/>
          </a:xfrm>
          <a:prstGeom prst="rect">
            <a:avLst/>
          </a:prstGeom>
          <a:noFill/>
          <a:ln/>
        </p:spPr>
        <p:txBody>
          <a:bodyPr wrap="square" lIns="0" tIns="0" rIns="0" bIns="0" rtlCol="0" anchor="t"/>
          <a:lstStyle/>
          <a:p>
            <a:pPr indent="0" marL="0">
              <a:buNone/>
            </a:pPr>
            <a:r>
              <a:rPr lang="en-US" sz="1600" dirty="0">
                <a:solidFill>
                  <a:schemeClr val="tx1"/>
                </a:solidFill>
              </a:rPr>
              <a:t>Flag a recording if at least k of its 23 segments are predicted seizure (test set, 20 seizure and 80 non-seizure recordings).</a:t>
            </a:r>
            <a:endParaRPr lang="en-US" sz="1600" dirty="0"/>
          </a:p>
        </p:txBody>
      </p:sp>
      <p:graphicFrame>
        <p:nvGraphicFramePr>
          <p:cNvPr id="12" name="recording table"/>
          <p:cNvGraphicFramePr>
            <a:graphicFrameLocks noGrp="1"/>
          </p:cNvGraphicFramePr>
          <p:nvPr>
            <p:extLst>
              <p:ext uri="{D42A27DB-BD31-4B8C-83A1-F6EECF244321}">
                <p14:modId xmlns:p14="http://schemas.microsoft.com/office/powerpoint/2010/main" val="1579011935"/>
              </p:ext>
            </p:extLst>
          </p:nvPr>
        </p:nvGraphicFramePr>
        <p:xfrm>
          <a:off x="548640" y="2286000"/>
          <a:ext cx="6949440" cy="914400"/>
        </p:xfrm>
        <a:graphic>
          <a:graphicData uri="http://schemas.openxmlformats.org/drawingml/2006/table">
            <a:tbl>
              <a:tblPr/>
              <a:tblGrid>
                <a:gridCol w="731520"/>
                <a:gridCol w="1737360"/>
                <a:gridCol w="1737360"/>
                <a:gridCol w="1371600"/>
                <a:gridCol w="1371600"/>
              </a:tblGrid>
              <a:tr h="56692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k</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Seizure recordings caught</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Healthy recordings flagged</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Sensitivity</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Specificity</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14213D"/>
                    </a:solidFill>
                  </a:tcPr>
                </a:tc>
              </a:tr>
              <a:tr h="566928">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20 / 20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12 / 80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85.0%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20 / 20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8 / 80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90.0%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20 / 20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7 / 80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E1E24"/>
                          </a:solidFill>
                          <a:latin typeface="Calibri" pitchFamily="34" charset="0"/>
                          <a:ea typeface="Calibri" pitchFamily="34" charset="-122"/>
                          <a:cs typeface="Calibri" pitchFamily="34" charset="-120"/>
                        </a:rPr>
                        <a:t>91.2%</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FFFFFF"/>
                    </a:solidFill>
                  </a:tcPr>
                </a:tc>
              </a:tr>
              <a:tr h="566928">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E6F1F2"/>
                    </a:solidFill>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20 / 20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E6F1F2"/>
                    </a:solidFill>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5 / 80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E6F1F2"/>
                    </a:solidFill>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E6F1F2"/>
                    </a:solidFill>
                  </a:tcPr>
                </a:tc>
                <a:tc>
                  <a:txBody>
                    <a:bodyPr/>
                    <a:lstStyle/>
                    <a:p>
                      <a:pPr algn="ctr" indent="0" marL="0">
                        <a:buNone/>
                      </a:pPr>
                      <a:r>
                        <a:rPr lang="en-US" sz="1500" b="1" dirty="0">
                          <a:solidFill>
                            <a:srgbClr val="1E1E24"/>
                          </a:solidFill>
                          <a:latin typeface="Calibri" pitchFamily="34" charset="0"/>
                          <a:ea typeface="Calibri" pitchFamily="34" charset="-122"/>
                          <a:cs typeface="Calibri" pitchFamily="34" charset="-120"/>
                        </a:rPr>
                        <a:t>93.8%</a:t>
                      </a:r>
                      <a:endParaRPr lang="en-US" sz="1500" dirty="0">
                        <a:latin typeface="Calibri" charset="0"/>
                        <a:ea typeface="Calibri" charset="0"/>
                        <a:cs typeface="Calibri" charset="0"/>
                      </a:endParaRPr>
                    </a:p>
                  </a:txBody>
                  <a:tcPr marL="91440" marR="91440" marT="45720" marB="45720">
                    <a:lnL w="12700" cap="flat" cmpd="sng" algn="ctr">
                      <a:solidFill>
                        <a:srgbClr val="DDE3EA"/>
                      </a:solidFill>
                      <a:prstDash val="solid"/>
                      <a:round/>
                      <a:headEnd type="none" w="med" len="med"/>
                      <a:tailEnd type="none" w="med" len="med"/>
                    </a:lnL>
                    <a:lnR w="12700" cap="flat" cmpd="sng" algn="ctr">
                      <a:solidFill>
                        <a:srgbClr val="DDE3EA"/>
                      </a:solidFill>
                      <a:prstDash val="solid"/>
                      <a:round/>
                      <a:headEnd type="none" w="med" len="med"/>
                      <a:tailEnd type="none" w="med" len="med"/>
                    </a:lnR>
                    <a:lnT w="12700" cap="flat" cmpd="sng" algn="ctr">
                      <a:solidFill>
                        <a:srgbClr val="DDE3EA"/>
                      </a:solidFill>
                      <a:prstDash val="solid"/>
                      <a:round/>
                      <a:headEnd type="none" w="med" len="med"/>
                      <a:tailEnd type="none" w="med" len="med"/>
                    </a:lnT>
                    <a:lnB w="12700" cap="flat" cmpd="sng" algn="ctr">
                      <a:solidFill>
                        <a:srgbClr val="DDE3EA"/>
                      </a:solidFill>
                      <a:prstDash val="solid"/>
                      <a:round/>
                      <a:headEnd type="none" w="med" len="med"/>
                      <a:tailEnd type="none" w="med" len="med"/>
                    </a:lnB>
                    <a:solidFill>
                      <a:srgbClr val="E6F1F2"/>
                    </a:solidFill>
                  </a:tcPr>
                </a:tc>
              </a:tr>
            </a:tbl>
          </a:graphicData>
        </a:graphic>
      </p:graphicFrame>
      <p:sp>
        <p:nvSpPr>
          <p:cNvPr id="5" name="rec circle"/>
          <p:cNvSpPr/>
          <p:nvPr/>
        </p:nvSpPr>
        <p:spPr>
          <a:xfrm>
            <a:off x="7955280" y="2286000"/>
            <a:ext cx="731520" cy="731520"/>
          </a:xfrm>
          <a:prstGeom prst="ellipse">
            <a:avLst/>
          </a:prstGeom>
          <a:solidFill>
            <a:srgbClr val="1F6F78"/>
          </a:solidFill>
          <a:ln w="12700">
            <a:solidFill>
              <a:srgbClr val="1F6F78"/>
            </a:solidFill>
            <a:prstDash val="solid"/>
          </a:ln>
        </p:spPr>
      </p:sp>
      <p:pic>
        <p:nvPicPr>
          <p:cNvPr id="6" name="rec icon" descr="preencoded.png">    </p:cNvPr>
          <p:cNvPicPr>
            <a:picLocks noChangeAspect="1"/>
          </p:cNvPicPr>
          <p:nvPr/>
        </p:nvPicPr>
        <p:blipFill>
          <a:blip r:embed="rId1"/>
          <a:stretch>
            <a:fillRect/>
          </a:stretch>
        </p:blipFill>
        <p:spPr>
          <a:xfrm>
            <a:off x="8138160" y="2468880"/>
            <a:ext cx="365760" cy="365760"/>
          </a:xfrm>
          <a:prstGeom prst="rect">
            <a:avLst/>
          </a:prstGeom>
        </p:spPr>
      </p:pic>
      <p:sp>
        <p:nvSpPr>
          <p:cNvPr id="7" name="Text 3"/>
          <p:cNvSpPr txBox="1"/>
          <p:nvPr/>
        </p:nvSpPr>
        <p:spPr>
          <a:xfrm>
            <a:off x="7955280" y="3200400"/>
            <a:ext cx="3657600" cy="2834640"/>
          </a:xfrm>
          <a:prstGeom prst="rect">
            <a:avLst/>
          </a:prstGeom>
          <a:noFill/>
          <a:ln/>
        </p:spPr>
        <p:txBody>
          <a:bodyPr wrap="square" lIns="0" tIns="0" rIns="0" bIns="0" rtlCol="0" anchor="t"/>
          <a:lstStyle/>
          <a:p>
            <a:pPr indent="0" marL="0">
              <a:buNone/>
            </a:pPr>
            <a:r>
              <a:rPr lang="en-US" sz="1500" b="1" dirty="0">
                <a:solidFill>
                  <a:schemeClr val="tx2"/>
                </a:solidFill>
              </a:rPr>
              <a:t>Every seizure recording is caught at every k.</a:t>
            </a:r>
            <a:endParaRPr lang="en-US" sz="1500" dirty="0"/>
          </a:p>
          <a:p>
            <a:pPr indent="0" marL="0">
              <a:buNone/>
            </a:pPr>
            <a:r>
              <a:rPr lang="en-US" sz="800" dirty="0">
                <a:solidFill>
                  <a:schemeClr val="tx1"/>
                </a:solidFill>
              </a:rPr>
              <a:t> </a:t>
            </a:r>
            <a:endParaRPr lang="en-US" sz="1500" dirty="0"/>
          </a:p>
          <a:p>
            <a:pPr indent="0" marL="0">
              <a:buNone/>
            </a:pPr>
            <a:r>
              <a:rPr lang="en-US" sz="1500" dirty="0">
                <a:solidFill>
                  <a:schemeClr val="tx1"/>
                </a:solidFill>
              </a:rPr>
              <a:t>With k = 1, one stray false alarm out of 23 flags a whole healthy recording. Asking for 5 segments cuts false alarms from 12 to 5.</a:t>
            </a:r>
            <a:endParaRPr lang="en-US" sz="1500" dirty="0"/>
          </a:p>
          <a:p>
            <a:pPr indent="0" marL="0">
              <a:buNone/>
            </a:pPr>
            <a:r>
              <a:rPr lang="en-US" sz="800" dirty="0">
                <a:solidFill>
                  <a:schemeClr val="tx1"/>
                </a:solidFill>
              </a:rPr>
              <a:t> </a:t>
            </a:r>
            <a:endParaRPr lang="en-US" sz="1500" dirty="0"/>
          </a:p>
          <a:p>
            <a:pPr indent="0" marL="0">
              <a:buNone/>
            </a:pPr>
            <a:r>
              <a:rPr lang="en-US" sz="1500" i="1" dirty="0">
                <a:solidFill>
                  <a:schemeClr val="accent4"/>
                </a:solidFill>
              </a:rPr>
              <a:t>Grouping like this is one way to reduce alert fatigue.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Good scores, but not ready for the clinic</a:t>
            </a:r>
            <a:endParaRPr lang="en-US" sz="3600" dirty="0"/>
          </a:p>
        </p:txBody>
      </p:sp>
      <p:sp>
        <p:nvSpPr>
          <p:cNvPr id="3" name="col 0"/>
          <p:cNvSpPr/>
          <p:nvPr/>
        </p:nvSpPr>
        <p:spPr>
          <a:xfrm>
            <a:off x="548640" y="1508760"/>
            <a:ext cx="3566160" cy="4572000"/>
          </a:xfrm>
          <a:prstGeom prst="roundRect">
            <a:avLst>
              <a:gd name="adj" fmla="val 3077"/>
            </a:avLst>
          </a:prstGeom>
          <a:solidFill>
            <a:srgbClr val="1F2E52"/>
          </a:solidFill>
          <a:ln w="12700">
            <a:solidFill>
              <a:srgbClr val="1F2E52"/>
            </a:solidFill>
            <a:prstDash val="solid"/>
          </a:ln>
        </p:spPr>
      </p:sp>
      <p:sp>
        <p:nvSpPr>
          <p:cNvPr id="4" name="lim0 circle"/>
          <p:cNvSpPr/>
          <p:nvPr/>
        </p:nvSpPr>
        <p:spPr>
          <a:xfrm>
            <a:off x="777240" y="1737360"/>
            <a:ext cx="640080" cy="640080"/>
          </a:xfrm>
          <a:prstGeom prst="ellipse">
            <a:avLst/>
          </a:prstGeom>
          <a:solidFill>
            <a:srgbClr val="E0A100"/>
          </a:solidFill>
          <a:ln w="12700">
            <a:solidFill>
              <a:srgbClr val="E0A100"/>
            </a:solidFill>
            <a:prstDash val="solid"/>
          </a:ln>
        </p:spPr>
      </p:sp>
      <p:pic>
        <p:nvPicPr>
          <p:cNvPr id="5" name="lim0 icon"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1554480" y="1737360"/>
            <a:ext cx="2468880" cy="640080"/>
          </a:xfrm>
          <a:prstGeom prst="rect">
            <a:avLst/>
          </a:prstGeom>
          <a:noFill/>
          <a:ln/>
        </p:spPr>
        <p:txBody>
          <a:bodyPr wrap="square" lIns="0" tIns="0" rIns="0" bIns="0" rtlCol="0" anchor="ctr"/>
          <a:lstStyle/>
          <a:p>
            <a:pPr indent="0" marL="0">
              <a:buNone/>
            </a:pPr>
            <a:r>
              <a:rPr lang="en-US" sz="2000" b="1" dirty="0">
                <a:solidFill>
                  <a:schemeClr val="bg1"/>
                </a:solidFill>
              </a:rPr>
              <a:t>Why not yet</a:t>
            </a:r>
            <a:endParaRPr lang="en-US" sz="2000" dirty="0"/>
          </a:p>
        </p:txBody>
      </p:sp>
      <p:sp>
        <p:nvSpPr>
          <p:cNvPr id="7" name="Text 4"/>
          <p:cNvSpPr txBox="1"/>
          <p:nvPr/>
        </p:nvSpPr>
        <p:spPr>
          <a:xfrm>
            <a:off x="777240" y="2606040"/>
            <a:ext cx="315468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Only ~10 people in the data</a:t>
            </a:r>
            <a:endParaRPr lang="en-US" sz="1500" dirty="0"/>
          </a:p>
          <a:p>
            <a:pPr marL="342900" indent="-342900">
              <a:spcAft>
                <a:spcPts val="1000"/>
              </a:spcAft>
              <a:buSzPct val="100000"/>
              <a:buChar char="•"/>
            </a:pPr>
            <a:r>
              <a:rPr lang="en-US" sz="1500" dirty="0">
                <a:solidFill>
                  <a:schemeClr val="bg1"/>
                </a:solidFill>
              </a:rPr>
              <a:t>Single channel, clean pre-selected segments</a:t>
            </a:r>
            <a:endParaRPr lang="en-US" sz="1500" dirty="0"/>
          </a:p>
          <a:p>
            <a:pPr marL="342900" indent="-342900">
              <a:spcAft>
                <a:spcPts val="1000"/>
              </a:spcAft>
              <a:buSzPct val="100000"/>
              <a:buChar char="•"/>
            </a:pPr>
            <a:r>
              <a:rPr lang="en-US" sz="1500" dirty="0">
                <a:solidFill>
                  <a:schemeClr val="bg1"/>
                </a:solidFill>
              </a:rPr>
              <a:t>20% seizure by design; real EEG has far fewer</a:t>
            </a:r>
            <a:endParaRPr lang="en-US" sz="1500" dirty="0"/>
          </a:p>
          <a:p>
            <a:pPr marL="342900" indent="-342900">
              <a:spcAft>
                <a:spcPts val="1000"/>
              </a:spcAft>
              <a:buSzPct val="100000"/>
              <a:buChar char="•"/>
            </a:pPr>
            <a:r>
              <a:rPr lang="en-US" sz="1500" dirty="0">
                <a:solidFill>
                  <a:schemeClr val="bg1"/>
                </a:solidFill>
              </a:rPr>
              <a:t>No clinical context (age, drugs, video)</a:t>
            </a:r>
            <a:endParaRPr lang="en-US" sz="1500" dirty="0"/>
          </a:p>
        </p:txBody>
      </p:sp>
      <p:sp>
        <p:nvSpPr>
          <p:cNvPr id="8" name="col 1"/>
          <p:cNvSpPr/>
          <p:nvPr/>
        </p:nvSpPr>
        <p:spPr>
          <a:xfrm>
            <a:off x="4297680" y="1508760"/>
            <a:ext cx="3566160" cy="4572000"/>
          </a:xfrm>
          <a:prstGeom prst="roundRect">
            <a:avLst>
              <a:gd name="adj" fmla="val 3077"/>
            </a:avLst>
          </a:prstGeom>
          <a:solidFill>
            <a:srgbClr val="1F2E52"/>
          </a:solidFill>
          <a:ln w="12700">
            <a:solidFill>
              <a:srgbClr val="1F2E52"/>
            </a:solidFill>
            <a:prstDash val="solid"/>
          </a:ln>
        </p:spPr>
      </p:sp>
      <p:sp>
        <p:nvSpPr>
          <p:cNvPr id="9" name="lim1 circle"/>
          <p:cNvSpPr/>
          <p:nvPr/>
        </p:nvSpPr>
        <p:spPr>
          <a:xfrm>
            <a:off x="4526280" y="1737360"/>
            <a:ext cx="640080" cy="640080"/>
          </a:xfrm>
          <a:prstGeom prst="ellipse">
            <a:avLst/>
          </a:prstGeom>
          <a:solidFill>
            <a:srgbClr val="1F6F78"/>
          </a:solidFill>
          <a:ln w="12700">
            <a:solidFill>
              <a:srgbClr val="1F6F78"/>
            </a:solidFill>
            <a:prstDash val="solid"/>
          </a:ln>
        </p:spPr>
      </p:sp>
      <p:pic>
        <p:nvPicPr>
          <p:cNvPr id="10" name="lim1 icon" descr="preencoded.png">    </p:cNvPr>
          <p:cNvPicPr>
            <a:picLocks noChangeAspect="1"/>
          </p:cNvPicPr>
          <p:nvPr/>
        </p:nvPicPr>
        <p:blipFill>
          <a:blip r:embed="rId2"/>
          <a:stretch>
            <a:fillRect/>
          </a:stretch>
        </p:blipFill>
        <p:spPr>
          <a:xfrm>
            <a:off x="4686300" y="1897380"/>
            <a:ext cx="320040" cy="320040"/>
          </a:xfrm>
          <a:prstGeom prst="rect">
            <a:avLst/>
          </a:prstGeom>
        </p:spPr>
      </p:pic>
      <p:sp>
        <p:nvSpPr>
          <p:cNvPr id="11" name="Text 7"/>
          <p:cNvSpPr txBox="1"/>
          <p:nvPr/>
        </p:nvSpPr>
        <p:spPr>
          <a:xfrm>
            <a:off x="5303520" y="1737360"/>
            <a:ext cx="2468880" cy="640080"/>
          </a:xfrm>
          <a:prstGeom prst="rect">
            <a:avLst/>
          </a:prstGeom>
          <a:noFill/>
          <a:ln/>
        </p:spPr>
        <p:txBody>
          <a:bodyPr wrap="square" lIns="0" tIns="0" rIns="0" bIns="0" rtlCol="0" anchor="ctr"/>
          <a:lstStyle/>
          <a:p>
            <a:pPr indent="0" marL="0">
              <a:buNone/>
            </a:pPr>
            <a:r>
              <a:rPr lang="en-US" sz="2000" b="1" dirty="0">
                <a:solidFill>
                  <a:schemeClr val="bg1"/>
                </a:solidFill>
              </a:rPr>
              <a:t>What's needed</a:t>
            </a:r>
            <a:endParaRPr lang="en-US" sz="2000" dirty="0"/>
          </a:p>
        </p:txBody>
      </p:sp>
      <p:sp>
        <p:nvSpPr>
          <p:cNvPr id="12" name="Text 8"/>
          <p:cNvSpPr txBox="1"/>
          <p:nvPr/>
        </p:nvSpPr>
        <p:spPr>
          <a:xfrm>
            <a:off x="4526280" y="2606040"/>
            <a:ext cx="315468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New patients from other hospitals and machines</a:t>
            </a:r>
            <a:endParaRPr lang="en-US" sz="1500" dirty="0"/>
          </a:p>
          <a:p>
            <a:pPr marL="342900" indent="-342900">
              <a:spcAft>
                <a:spcPts val="1000"/>
              </a:spcAft>
              <a:buSzPct val="100000"/>
              <a:buChar char="•"/>
            </a:pPr>
            <a:r>
              <a:rPr lang="en-US" sz="1500" dirty="0">
                <a:solidFill>
                  <a:schemeClr val="bg1"/>
                </a:solidFill>
              </a:rPr>
              <a:t>Continuous multichannel recordings</a:t>
            </a:r>
            <a:endParaRPr lang="en-US" sz="1500" dirty="0"/>
          </a:p>
          <a:p>
            <a:pPr marL="342900" indent="-342900">
              <a:spcAft>
                <a:spcPts val="1000"/>
              </a:spcAft>
              <a:buSzPct val="100000"/>
              <a:buChar char="•"/>
            </a:pPr>
            <a:r>
              <a:rPr lang="en-US" sz="1500" dirty="0">
                <a:solidFill>
                  <a:schemeClr val="bg1"/>
                </a:solidFill>
              </a:rPr>
              <a:t>Person-level split, expert-agreed labels</a:t>
            </a:r>
            <a:endParaRPr lang="en-US" sz="1500" dirty="0"/>
          </a:p>
          <a:p>
            <a:pPr marL="342900" indent="-342900">
              <a:spcAft>
                <a:spcPts val="1000"/>
              </a:spcAft>
              <a:buSzPct val="100000"/>
              <a:buChar char="•"/>
            </a:pPr>
            <a:r>
              <a:rPr lang="en-US" sz="1500" dirty="0">
                <a:solidFill>
                  <a:schemeClr val="bg1"/>
                </a:solidFill>
              </a:rPr>
              <a:t>Prospective study of review time and misses</a:t>
            </a:r>
            <a:endParaRPr lang="en-US" sz="1500" dirty="0"/>
          </a:p>
        </p:txBody>
      </p:sp>
      <p:sp>
        <p:nvSpPr>
          <p:cNvPr id="13" name="col 2"/>
          <p:cNvSpPr/>
          <p:nvPr/>
        </p:nvSpPr>
        <p:spPr>
          <a:xfrm>
            <a:off x="8046720" y="1508760"/>
            <a:ext cx="3566160" cy="4572000"/>
          </a:xfrm>
          <a:prstGeom prst="roundRect">
            <a:avLst>
              <a:gd name="adj" fmla="val 3077"/>
            </a:avLst>
          </a:prstGeom>
          <a:solidFill>
            <a:srgbClr val="1F2E52"/>
          </a:solidFill>
          <a:ln w="12700">
            <a:solidFill>
              <a:srgbClr val="1F2E52"/>
            </a:solidFill>
            <a:prstDash val="solid"/>
          </a:ln>
        </p:spPr>
      </p:sp>
      <p:sp>
        <p:nvSpPr>
          <p:cNvPr id="14" name="lim2 circle"/>
          <p:cNvSpPr/>
          <p:nvPr/>
        </p:nvSpPr>
        <p:spPr>
          <a:xfrm>
            <a:off x="8275320" y="1737360"/>
            <a:ext cx="640080" cy="640080"/>
          </a:xfrm>
          <a:prstGeom prst="ellipse">
            <a:avLst/>
          </a:prstGeom>
          <a:solidFill>
            <a:srgbClr val="C8102E"/>
          </a:solidFill>
          <a:ln w="12700">
            <a:solidFill>
              <a:srgbClr val="C8102E"/>
            </a:solidFill>
            <a:prstDash val="solid"/>
          </a:ln>
        </p:spPr>
      </p:sp>
      <p:pic>
        <p:nvPicPr>
          <p:cNvPr id="15" name="lim2 icon" descr="preencoded.png">    </p:cNvPr>
          <p:cNvPicPr>
            <a:picLocks noChangeAspect="1"/>
          </p:cNvPicPr>
          <p:nvPr/>
        </p:nvPicPr>
        <p:blipFill>
          <a:blip r:embed="rId3"/>
          <a:stretch>
            <a:fillRect/>
          </a:stretch>
        </p:blipFill>
        <p:spPr>
          <a:xfrm>
            <a:off x="8435340" y="1897380"/>
            <a:ext cx="320040" cy="320040"/>
          </a:xfrm>
          <a:prstGeom prst="rect">
            <a:avLst/>
          </a:prstGeom>
        </p:spPr>
      </p:pic>
      <p:sp>
        <p:nvSpPr>
          <p:cNvPr id="16" name="Text 11"/>
          <p:cNvSpPr txBox="1"/>
          <p:nvPr/>
        </p:nvSpPr>
        <p:spPr>
          <a:xfrm>
            <a:off x="9052560" y="1737360"/>
            <a:ext cx="2468880" cy="640080"/>
          </a:xfrm>
          <a:prstGeom prst="rect">
            <a:avLst/>
          </a:prstGeom>
          <a:noFill/>
          <a:ln/>
        </p:spPr>
        <p:txBody>
          <a:bodyPr wrap="square" lIns="0" tIns="0" rIns="0" bIns="0" rtlCol="0" anchor="ctr"/>
          <a:lstStyle/>
          <a:p>
            <a:pPr indent="0" marL="0">
              <a:buNone/>
            </a:pPr>
            <a:r>
              <a:rPr lang="en-US" sz="2000" b="1" dirty="0">
                <a:solidFill>
                  <a:schemeClr val="bg1"/>
                </a:solidFill>
              </a:rPr>
              <a:t>How it should fit</a:t>
            </a:r>
            <a:endParaRPr lang="en-US" sz="2000" dirty="0"/>
          </a:p>
        </p:txBody>
      </p:sp>
      <p:sp>
        <p:nvSpPr>
          <p:cNvPr id="17" name="Text 12"/>
          <p:cNvSpPr txBox="1"/>
          <p:nvPr/>
        </p:nvSpPr>
        <p:spPr>
          <a:xfrm>
            <a:off x="8275320" y="2606040"/>
            <a:ext cx="3154680" cy="32918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Only reorders the review queue</a:t>
            </a:r>
            <a:endParaRPr lang="en-US" sz="1500" dirty="0"/>
          </a:p>
          <a:p>
            <a:pPr marL="342900" indent="-342900">
              <a:spcAft>
                <a:spcPts val="1000"/>
              </a:spcAft>
              <a:buSzPct val="100000"/>
              <a:buChar char="•"/>
            </a:pPr>
            <a:r>
              <a:rPr lang="en-US" sz="1500" dirty="0">
                <a:solidFill>
                  <a:schemeClr val="bg1"/>
                </a:solidFill>
              </a:rPr>
              <a:t>Neurologist makes every decision</a:t>
            </a:r>
            <a:endParaRPr lang="en-US" sz="1500" dirty="0"/>
          </a:p>
          <a:p>
            <a:pPr marL="342900" indent="-342900">
              <a:spcAft>
                <a:spcPts val="1000"/>
              </a:spcAft>
              <a:buSzPct val="100000"/>
              <a:buChar char="•"/>
            </a:pPr>
            <a:r>
              <a:rPr lang="en-US" sz="1500" dirty="0">
                <a:solidFill>
                  <a:schemeClr val="bg1"/>
                </a:solidFill>
              </a:rPr>
              <a:t>Flag time windows, not every second</a:t>
            </a:r>
            <a:endParaRPr lang="en-US" sz="1500" dirty="0"/>
          </a:p>
          <a:p>
            <a:pPr marL="342900" indent="-342900">
              <a:spcAft>
                <a:spcPts val="1000"/>
              </a:spcAft>
              <a:buSzPct val="100000"/>
              <a:buChar char="•"/>
            </a:pPr>
            <a:r>
              <a:rPr lang="en-US" sz="1500" dirty="0">
                <a:solidFill>
                  <a:schemeClr val="bg1"/>
                </a:solidFill>
              </a:rPr>
              <a:t>Show the reason; monitor false-alarm rate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EEG Lab">
  <a:themeElements>
    <a:clrScheme name="EEG Lab">
      <a:dk1>
        <a:srgbClr val="1E1E24"/>
      </a:dk1>
      <a:lt1>
        <a:srgbClr val="FFFFFF"/>
      </a:lt1>
      <a:dk2>
        <a:srgbClr val="14213D"/>
      </a:dk2>
      <a:lt2>
        <a:srgbClr val="EEF2F6"/>
      </a:lt2>
      <a:accent1>
        <a:srgbClr val="C8102E"/>
      </a:accent1>
      <a:accent2>
        <a:srgbClr val="1F6F78"/>
      </a:accent2>
      <a:accent3>
        <a:srgbClr val="E0A100"/>
      </a:accent3>
      <a:accent4>
        <a:srgbClr val="5B6575"/>
      </a:accent4>
      <a:accent5>
        <a:srgbClr val="8FB8BD"/>
      </a:accent5>
      <a:accent6>
        <a:srgbClr val="F4C7CD"/>
      </a:accent6>
      <a:hlink>
        <a:srgbClr val="1F6F78"/>
      </a:hlink>
      <a:folHlink>
        <a:srgbClr val="5B6575"/>
      </a:folHlink>
    </a:clrScheme>
    <a:fontScheme name="EEG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9: EEG seizure recognition</dc:title>
  <dc:subject>PptxGenJS Presentation</dc:subject>
  <dc:creator>Ansh Upadhyay</dc:creator>
  <cp:lastModifiedBy>Ansh Upadhyay</cp:lastModifiedBy>
  <cp:revision>1</cp:revision>
  <dcterms:created xsi:type="dcterms:W3CDTF">2026-10-22T21:23:45Z</dcterms:created>
  <dcterms:modified xsi:type="dcterms:W3CDTF">2026-10-22T21:23:45Z</dcterms:modified>
</cp:coreProperties>
</file>