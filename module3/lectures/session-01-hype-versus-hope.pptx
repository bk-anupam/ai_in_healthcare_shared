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07471d1-0560-b651-fde7-5a6ce2275f81}">
          <p14:sldIdLst>
            <p14:sldId id="256"/>
            <p14:sldId id="257"/>
            <p14:sldId id="258"/>
          </p14:sldIdLst>
        </p14:section>
        <p14:section name="The evidence ladder" id="{7e09da08-630f-3fab-4273-332c218fdf87}">
          <p14:sldIdLst>
            <p14:sldId id="259"/>
            <p14:sldId id="260"/>
          </p14:sldIdLst>
        </p14:section>
        <p14:section name="Four cases" id="{fc96187c-6156-4a7a-ce4a-d0bfb85e1790}">
          <p14:sldIdLst>
            <p14:sldId id="261"/>
            <p14:sldId id="262"/>
            <p14:sldId id="263"/>
            <p14:sldId id="264"/>
            <p14:sldId id="265"/>
          </p14:sldIdLst>
        </p14:section>
        <p14:section name="Why prevalence matters" id="{acb4b4a5-1c59-41df-a228-c5cd188eaf8b}">
          <p14:sldIdLst>
            <p14:sldId id="266"/>
            <p14:sldId id="267"/>
            <p14:sldId id="268"/>
            <p14:sldId id="269"/>
          </p14:sldIdLst>
        </p14:section>
        <p14:section name="Benefits and limitations" id="{6fbf0951-394b-9279-017a-ebae755451b4}">
          <p14:sldIdLst>
            <p14:sldId id="270"/>
            <p14:sldId id="271"/>
          </p14:sldIdLst>
        </p14:section>
        <p14:section name="From predicting to acting" id="{328199ac-d568-4aef-3108-3d03f177d3a7}">
          <p14:sldIdLst>
            <p14:sldId id="272"/>
          </p14:sldIdLst>
        </p14:section>
        <p14:section name="Wrap-up" id="{a4a3ef6f-0e6b-0484-6ec0-91614bd8d47e}">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A33"/>
                </a:solidFill>
                <a:latin typeface="+mn-lt"/>
              </a:defRPr>
            </a:pPr>
            <a:r>
              <a:rPr sz="1400" b="0" i="0" u="none" strike="noStrike">
                <a:solidFill>
                  <a:srgbClr val="1E2A33"/>
                </a:solidFill>
                <a:latin typeface="+mn-lt"/>
              </a:rPr>
              <a:t>1,709 of 2,552 sepsis cases (67%) were not identified</a:t>
            </a:r>
          </a:p>
        </c:rich>
      </c:tx>
      <c:layout/>
      <c:overlay val="0"/>
    </c:title>
    <c:autoTitleDeleted val="0"/>
    <c:plotArea>
      <c:layout/>
      <c:barChart>
        <c:barDir val="bar"/>
        <c:grouping val="stacked"/>
        <c:varyColors val="0"/>
        <c:ser>
          <c:idx val="0"/>
          <c:order val="0"/>
          <c:tx>
            <c:strRef>
              <c:f>Sheet1!$B$1</c:f>
              <c:strCache>
                <c:ptCount val="1"/>
                <c:pt idx="0">
                  <c:v>Identified</c:v>
                </c:pt>
              </c:strCache>
            </c:strRef>
          </c:tx>
          <c:spPr>
            <a:solidFill>
              <a:srgbClr val="17717A"/>
            </a:solidFill>
            <a:effectLst/>
          </c:spPr>
          <c:invertIfNegative val="0"/>
          <c:dLbls>
            <c:numFmt formatCode="#,##0" sourceLinked="0"/>
            <c:txPr>
              <a:bodyPr/>
              <a:lstStyle/>
              <a:p>
                <a:pPr>
                  <a:defRPr b="0" i="0" strike="noStrike" sz="16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Sepsis cases (2,552)</c:v>
                  </c:pt>
                </c:lvl>
              </c:multiLvlStrCache>
            </c:multiLvlStrRef>
          </c:cat>
          <c:val>
            <c:numRef>
              <c:f>Sheet1!$B$2:$B$2</c:f>
              <c:numCache>
                <c:formatCode>General</c:formatCode>
                <c:ptCount val="1"/>
                <c:pt idx="0">
                  <c:v>843</c:v>
                </c:pt>
              </c:numCache>
            </c:numRef>
          </c:val>
        </c:ser>
        <c:ser>
          <c:idx val="1"/>
          <c:order val="1"/>
          <c:tx>
            <c:strRef>
              <c:f>Sheet1!$C$1</c:f>
              <c:strCache>
                <c:ptCount val="1"/>
                <c:pt idx="0">
                  <c:v>Missed</c:v>
                </c:pt>
              </c:strCache>
            </c:strRef>
          </c:tx>
          <c:spPr>
            <a:solidFill>
              <a:srgbClr val="B4443C"/>
            </a:solidFill>
            <a:effectLst/>
          </c:spPr>
          <c:invertIfNegative val="0"/>
          <c:dLbls>
            <c:numFmt formatCode="#,##0" sourceLinked="0"/>
            <c:txPr>
              <a:bodyPr/>
              <a:lstStyle/>
              <a:p>
                <a:pPr>
                  <a:defRPr b="0" i="0" strike="noStrike" sz="16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Sepsis cases (2,552)</c:v>
                  </c:pt>
                </c:lvl>
              </c:multiLvlStrCache>
            </c:multiLvlStrRef>
          </c:cat>
          <c:val>
            <c:numRef>
              <c:f>Sheet1!$C$2:$C$2</c:f>
              <c:numCache>
                <c:formatCode>General</c:formatCode>
                <c:ptCount val="1"/>
                <c:pt idx="0">
                  <c:v>1709</c:v>
                </c:pt>
              </c:numCache>
            </c:numRef>
          </c:val>
        </c:ser>
        <c:dLbls>
          <c:numFmt formatCode="#,##0" sourceLinked="0"/>
          <c:txPr>
            <a:bodyPr/>
            <a:lstStyle/>
            <a:p>
              <a:pPr>
                <a:defRPr b="0" i="0" strike="noStrike" sz="1600" u="none">
                  <a:solidFill>
                    <a:srgbClr val="FFFFFF"/>
                  </a:solidFill>
                  <a:latin typeface="+mn-lt"/>
                </a:defRPr>
              </a:pPr>
            </a:p>
          </c:txPr>
          <c:dLblPos val="ctr"/>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E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A33"/>
                </a:solidFill>
                <a:latin typeface="+mn-lt"/>
              </a:defRPr>
            </a:pPr>
            <a:r>
              <a:rPr sz="1400" b="0" i="0" u="none" strike="noStrike">
                <a:solidFill>
                  <a:srgbClr val="1E2A33"/>
                </a:solidFill>
                <a:latin typeface="+mn-lt"/>
              </a:rPr>
              <a:t>Positive results per 10,000 people tested</a:t>
            </a:r>
          </a:p>
        </c:rich>
      </c:tx>
      <c:layout/>
      <c:overlay val="0"/>
    </c:title>
    <c:autoTitleDeleted val="0"/>
    <c:plotArea>
      <c:layout/>
      <c:barChart>
        <c:barDir val="col"/>
        <c:grouping val="stacked"/>
        <c:varyColors val="0"/>
        <c:ser>
          <c:idx val="0"/>
          <c:order val="0"/>
          <c:tx>
            <c:strRef>
              <c:f>Sheet1!$B$1</c:f>
              <c:strCache>
                <c:ptCount val="1"/>
                <c:pt idx="0">
                  <c:v>True positives</c:v>
                </c:pt>
              </c:strCache>
            </c:strRef>
          </c:tx>
          <c:spPr>
            <a:solidFill>
              <a:srgbClr val="17717A"/>
            </a:solidFill>
            <a:effectLst/>
          </c:spPr>
          <c:invertIfNegative val="0"/>
          <c:dLbls>
            <c:numFmt formatCode="#,##0" sourceLinked="0"/>
            <c:txPr>
              <a:bodyPr/>
              <a:lstStyle/>
              <a:p>
                <a:pPr>
                  <a:defRPr b="0" i="0" strike="noStrike" sz="1300" u="none">
                    <a:solidFill>
                      <a:srgbClr val="1E2A33"/>
                    </a:solidFill>
                    <a:latin typeface="+mn-lt"/>
                  </a:defRPr>
                </a:pPr>
              </a:p>
            </c:txPr>
            <c:dLblPos val="ctr"/>
            <c:showLegendKey val="0"/>
            <c:showVal val="0"/>
            <c:showCatName val="0"/>
            <c:showSerName val="0"/>
            <c:showPercent val="0"/>
            <c:showBubbleSize val="0"/>
            <c:showLeaderLines val="0"/>
          </c:dLbls>
          <c:cat>
            <c:multiLvlStrRef>
              <c:f>Sheet1!$A$2:$A$3</c:f>
              <c:multiLvlStrCache>
                <c:ptCount val="2"/>
                <c:lvl>
                  <c:pt idx="0">
                    <c:v>Specialist clinic (20%)</c:v>
                  </c:pt>
                  <c:pt idx="1">
                    <c:v>General population (1%)</c:v>
                  </c:pt>
                </c:lvl>
              </c:multiLvlStrCache>
            </c:multiLvlStrRef>
          </c:cat>
          <c:val>
            <c:numRef>
              <c:f>Sheet1!$B$2:$B$3</c:f>
              <c:numCache>
                <c:formatCode>General</c:formatCode>
                <c:ptCount val="2"/>
                <c:pt idx="0">
                  <c:v>1800</c:v>
                </c:pt>
                <c:pt idx="1">
                  <c:v>90</c:v>
                </c:pt>
              </c:numCache>
            </c:numRef>
          </c:val>
        </c:ser>
        <c:ser>
          <c:idx val="1"/>
          <c:order val="1"/>
          <c:tx>
            <c:strRef>
              <c:f>Sheet1!$C$1</c:f>
              <c:strCache>
                <c:ptCount val="1"/>
                <c:pt idx="0">
                  <c:v>False positives</c:v>
                </c:pt>
              </c:strCache>
            </c:strRef>
          </c:tx>
          <c:spPr>
            <a:solidFill>
              <a:srgbClr val="B4443C"/>
            </a:solidFill>
            <a:effectLst/>
          </c:spPr>
          <c:invertIfNegative val="0"/>
          <c:dLbls>
            <c:numFmt formatCode="#,##0" sourceLinked="0"/>
            <c:txPr>
              <a:bodyPr/>
              <a:lstStyle/>
              <a:p>
                <a:pPr>
                  <a:defRPr b="0" i="0" strike="noStrike" sz="1300" u="none">
                    <a:solidFill>
                      <a:srgbClr val="1E2A33"/>
                    </a:solidFill>
                    <a:latin typeface="+mn-lt"/>
                  </a:defRPr>
                </a:pPr>
              </a:p>
            </c:txPr>
            <c:dLblPos val="ctr"/>
            <c:showLegendKey val="0"/>
            <c:showVal val="0"/>
            <c:showCatName val="0"/>
            <c:showSerName val="0"/>
            <c:showPercent val="0"/>
            <c:showBubbleSize val="0"/>
            <c:showLeaderLines val="0"/>
          </c:dLbls>
          <c:cat>
            <c:multiLvlStrRef>
              <c:f>Sheet1!$A$2:$A$3</c:f>
              <c:multiLvlStrCache>
                <c:ptCount val="2"/>
                <c:lvl>
                  <c:pt idx="0">
                    <c:v>Specialist clinic (20%)</c:v>
                  </c:pt>
                  <c:pt idx="1">
                    <c:v>General population (1%)</c:v>
                  </c:pt>
                </c:lvl>
              </c:multiLvlStrCache>
            </c:multiLvlStrRef>
          </c:cat>
          <c:val>
            <c:numRef>
              <c:f>Sheet1!$C$2:$C$3</c:f>
              <c:numCache>
                <c:formatCode>General</c:formatCode>
                <c:ptCount val="2"/>
                <c:pt idx="0">
                  <c:v>800</c:v>
                </c:pt>
                <c:pt idx="1">
                  <c:v>990</c:v>
                </c:pt>
              </c:numCache>
            </c:numRef>
          </c:val>
        </c:ser>
        <c:dLbls>
          <c:numFmt formatCode="#,##0" sourceLinked="0"/>
          <c:txPr>
            <a:bodyPr/>
            <a:lstStyle/>
            <a:p>
              <a:pPr>
                <a:defRPr b="0" i="0" strike="noStrike" sz="1300" u="none">
                  <a:solidFill>
                    <a:srgbClr val="1E2A33"/>
                  </a:solidFill>
                  <a:latin typeface="+mn-lt"/>
                </a:defRPr>
              </a:pPr>
            </a:p>
          </c:txPr>
          <c:dLblPos val="ct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E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A33"/>
                </a:solidFill>
                <a:latin typeface="+mn-lt"/>
              </a:defRPr>
            </a:pPr>
            <a:r>
              <a:rPr sz="1400" b="0" i="0" u="none" strike="noStrike">
                <a:solidFill>
                  <a:srgbClr val="1E2A33"/>
                </a:solidFill>
                <a:latin typeface="+mn-lt"/>
              </a:rPr>
              <a:t>90%/90% test: PPV and NPV (%) by prevalence</a:t>
            </a:r>
          </a:p>
        </c:rich>
      </c:tx>
      <c:layout/>
      <c:overlay val="0"/>
    </c:title>
    <c:autoTitleDeleted val="0"/>
    <c:plotArea>
      <c:layout/>
      <c:lineChart>
        <c:varyColors val="0"/>
        <c:ser>
          <c:idx val="0"/>
          <c:order val="0"/>
          <c:tx>
            <c:strRef>
              <c:f>Sheet1!$B$1</c:f>
              <c:strCache>
                <c:ptCount val="1"/>
                <c:pt idx="0">
                  <c:v>PPV</c:v>
                </c:pt>
              </c:strCache>
            </c:strRef>
          </c:tx>
          <c:spPr>
            <a:solidFill>
              <a:srgbClr val="B4443C"/>
            </a:solidFill>
            <a:ln w="31750" cap="flat">
              <a:solidFill>
                <a:srgbClr val="B4443C"/>
              </a:solidFill>
              <a:prstDash val="solid"/>
              <a:round/>
            </a:ln>
            <a:effectLst/>
          </c:spPr>
          <c:invertIfNegative val="0"/>
          <c:dLbls>
            <c:numFmt formatCode="#,##0" sourceLinked="0"/>
            <c:txPr>
              <a:bodyPr/>
              <a:lstStyle/>
              <a:p>
                <a:pPr>
                  <a:defRPr b="0" i="0" strike="noStrike" sz="1300" u="none">
                    <a:solidFill>
                      <a:srgbClr val="1E2A33"/>
                    </a:solidFill>
                    <a:latin typeface="+mn-lt"/>
                  </a:defRPr>
                </a:pPr>
              </a:p>
            </c:txPr>
            <c:showLegendKey val="0"/>
            <c:showVal val="0"/>
            <c:showCatName val="0"/>
            <c:showSerName val="0"/>
            <c:showPercent val="0"/>
            <c:showBubbleSize val="0"/>
            <c:showLeaderLines val="0"/>
          </c:dLbls>
          <c:marker>
            <c:symbol val="circle"/>
            <c:size val="7"/>
            <c:spPr>
              <a:solidFill>
                <a:srgbClr val="B4443C"/>
              </a:solidFill>
              <a:ln w="9525" cap="flat">
                <a:solidFill>
                  <a:srgbClr val="B4443C"/>
                </a:solidFill>
                <a:prstDash val="solid"/>
                <a:round/>
              </a:ln>
              <a:effectLst/>
            </c:spPr>
          </c:marker>
          <c:cat>
            <c:multiLvlStrRef>
              <c:f>Sheet1!$A$2:$A$7</c:f>
              <c:multiLvlStrCache>
                <c:ptCount val="6"/>
                <c:lvl>
                  <c:pt idx="0">
                    <c:v>50%</c:v>
                  </c:pt>
                  <c:pt idx="1">
                    <c:v>20%</c:v>
                  </c:pt>
                  <c:pt idx="2">
                    <c:v>10%</c:v>
                  </c:pt>
                  <c:pt idx="3">
                    <c:v>5%</c:v>
                  </c:pt>
                  <c:pt idx="4">
                    <c:v>1%</c:v>
                  </c:pt>
                  <c:pt idx="5">
                    <c:v>0.1%</c:v>
                  </c:pt>
                </c:lvl>
              </c:multiLvlStrCache>
            </c:multiLvlStrRef>
          </c:cat>
          <c:val>
            <c:numRef>
              <c:f>Sheet1!$B$2:$B$7</c:f>
              <c:numCache>
                <c:formatCode>General</c:formatCode>
                <c:ptCount val="6"/>
                <c:pt idx="0">
                  <c:v>90</c:v>
                </c:pt>
                <c:pt idx="1">
                  <c:v>69.2</c:v>
                </c:pt>
                <c:pt idx="2">
                  <c:v>50</c:v>
                </c:pt>
                <c:pt idx="3">
                  <c:v>32.1</c:v>
                </c:pt>
                <c:pt idx="4">
                  <c:v>8.3</c:v>
                </c:pt>
                <c:pt idx="5">
                  <c:v>0.9</c:v>
                </c:pt>
              </c:numCache>
            </c:numRef>
          </c:val>
          <c:smooth val="0"/>
        </c:ser>
        <c:ser>
          <c:idx val="1"/>
          <c:order val="1"/>
          <c:tx>
            <c:strRef>
              <c:f>Sheet1!$C$1</c:f>
              <c:strCache>
                <c:ptCount val="1"/>
                <c:pt idx="0">
                  <c:v>NPV</c:v>
                </c:pt>
              </c:strCache>
            </c:strRef>
          </c:tx>
          <c:spPr>
            <a:solidFill>
              <a:srgbClr val="17717A"/>
            </a:solidFill>
            <a:ln w="31750" cap="flat">
              <a:solidFill>
                <a:srgbClr val="17717A"/>
              </a:solidFill>
              <a:prstDash val="solid"/>
              <a:round/>
            </a:ln>
            <a:effectLst/>
          </c:spPr>
          <c:invertIfNegative val="0"/>
          <c:dLbls>
            <c:numFmt formatCode="#,##0" sourceLinked="0"/>
            <c:txPr>
              <a:bodyPr/>
              <a:lstStyle/>
              <a:p>
                <a:pPr>
                  <a:defRPr b="0" i="0" strike="noStrike" sz="1300" u="none">
                    <a:solidFill>
                      <a:srgbClr val="1E2A33"/>
                    </a:solidFill>
                    <a:latin typeface="+mn-lt"/>
                  </a:defRPr>
                </a:pPr>
              </a:p>
            </c:txPr>
            <c:showLegendKey val="0"/>
            <c:showVal val="0"/>
            <c:showCatName val="0"/>
            <c:showSerName val="0"/>
            <c:showPercent val="0"/>
            <c:showBubbleSize val="0"/>
            <c:showLeaderLines val="0"/>
          </c:dLbls>
          <c:marker>
            <c:symbol val="circle"/>
            <c:size val="7"/>
            <c:spPr>
              <a:solidFill>
                <a:srgbClr val="17717A"/>
              </a:solidFill>
              <a:ln w="9525" cap="flat">
                <a:solidFill>
                  <a:srgbClr val="17717A"/>
                </a:solidFill>
                <a:prstDash val="solid"/>
                <a:round/>
              </a:ln>
              <a:effectLst/>
            </c:spPr>
          </c:marker>
          <c:cat>
            <c:multiLvlStrRef>
              <c:f>Sheet1!$A$2:$A$7</c:f>
              <c:multiLvlStrCache>
                <c:ptCount val="6"/>
                <c:lvl>
                  <c:pt idx="0">
                    <c:v>50%</c:v>
                  </c:pt>
                  <c:pt idx="1">
                    <c:v>20%</c:v>
                  </c:pt>
                  <c:pt idx="2">
                    <c:v>10%</c:v>
                  </c:pt>
                  <c:pt idx="3">
                    <c:v>5%</c:v>
                  </c:pt>
                  <c:pt idx="4">
                    <c:v>1%</c:v>
                  </c:pt>
                  <c:pt idx="5">
                    <c:v>0.1%</c:v>
                  </c:pt>
                </c:lvl>
              </c:multiLvlStrCache>
            </c:multiLvlStrRef>
          </c:cat>
          <c:val>
            <c:numRef>
              <c:f>Sheet1!$C$2:$C$7</c:f>
              <c:numCache>
                <c:formatCode>General</c:formatCode>
                <c:ptCount val="6"/>
                <c:pt idx="0">
                  <c:v>90</c:v>
                </c:pt>
                <c:pt idx="1">
                  <c:v>97.3</c:v>
                </c:pt>
                <c:pt idx="2">
                  <c:v>98.8</c:v>
                </c:pt>
                <c:pt idx="3">
                  <c:v>99.4</c:v>
                </c:pt>
                <c:pt idx="4">
                  <c:v>99.9</c:v>
                </c:pt>
                <c:pt idx="5">
                  <c:v>100</c:v>
                </c:pt>
              </c:numCache>
            </c:numRef>
          </c:val>
          <c:smooth val="0"/>
        </c:ser>
        <c:dLbls>
          <c:numFmt formatCode="#,##0" sourceLinked="0"/>
          <c:txPr>
            <a:bodyPr/>
            <a:lstStyle/>
            <a:p>
              <a:pPr>
                <a:defRPr b="0" i="0" strike="noStrike" sz="1300" u="none">
                  <a:solidFill>
                    <a:srgbClr val="1E2A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F6B7A"/>
                    </a:solidFill>
                    <a:latin typeface="Arial"/>
                  </a:defRPr>
                </a:pPr>
                <a:r>
                  <a:rPr sz="1200" b="0" i="0" u="none" strike="noStrike">
                    <a:solidFill>
                      <a:srgbClr val="5F6B7A"/>
                    </a:solidFill>
                    <a:latin typeface="Arial"/>
                  </a:rPr>
                  <a:t>Prevalence</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EE2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300">
              <a:solidFill>
                <a:srgbClr val="1E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III opens with a skill students will use for the rest of the course: deciding how much a claim about a healthcare AI system is worth. No code today. Prerequisites: Unit I session 7 (stakeholders, PPV, alert cost) and sensitivity, specificity, 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out the four objectives. Point out that objective 3 is a calculation they will do in class, so they should have paper or a calculator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the hospital is thinking of buying this product. What would you want to know before signing? Collect answers on the board (which disease, which patients, which hospital, compared with which doctors, what happened to patients). Then define hype and hope. The key line: the difference is rarely about the algorithm; it is about what was measured, where, and on whom.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up the ladder left to right.
1 Retrospective accuracy: AUC, sensitivity, specificity on a held-out test set from a curated historical dataset.
2 External validation: the same metrics on data from a different site or time.
3 Prospective or silent deployment: predictions recorded on live data as cases arrive, often not shown to staff.
4 Trial of outcomes: a randomised clinical trial (RCT) with a clinical outcome — do patients do better?
5 Implementation and value: uptake, workload, cost, equity, long-term monitoring.
The main line: hype usually means treating rung 1 as if it were rung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Nagendran et al. (BMJ 2020) reviewed 81 non-randomised studies comparing deep learning with clinicians in medical imaging: only 9 were prospective and only 6 were tested in a real clinical setting, yet 61 claimed in the abstract that the AI was at least comparable to clinicians.
Plana et al. (JAMA Network Open 2022) found only 41 randomised trials of machine-learning interventions up to October 2021, many single-site, and none fully followed the CONSORT-AI reporting guideline.
Close: a scheduling tool rarely needs a trial. The higher the stakes of the decision, the higher the rung the evidence should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Sepsis is a life-threatening response to infection; early antibiotics matter. A commercial EHR vendor's proprietary model, the Epic Sepsis Model, was used at hundreds of US hospitals.
An independent team at Michigan Medicine evaluated it on 38,455 hospitalisations (Wong et al., JAMA Internal Medicine 2021): hospitalisation-level AUC 0.63 (95% CI 0.62–0.64); 1,709 of 2,552 sepsis cases not identified (67%); 6,971 hospitalisations (18%) generated an alert at score ≥ 6.
Ask: what does an alert on almost one in five admissions mean for nurses? (Review question 3, links to alert cost in Unit I session 7.)
Lesson: wide adoption is not evidence. The model was in use before rung 2 had been reached at this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Diabetic retinopathy is damage to the retina caused by diabetes, a leading cause of preventable vision loss. Screening needs retinal photographs read by a specialist, and many patients miss yearly eye checks.
IDx-DR was tested in a pre-registered pivotal trial: 900 people with diabetes enrolled at 10 US primary care sites, 819 fully analysed, compared with a strict reading-centre reference standard (Abràmoff et al., npj Digital Medicine 2018). Sensitivity 87.2% (95% CI 81.8–91.2) against a target of &gt; 85%; specificity 90.7% (88.3–92.7) against &gt; 82.5%.
April 2018: FDA authorised it through the De Novo pathway as the first autonomous AI diagnostic system — it gives a screening result without a clinician reading the image.
Ask: what did the trial NOT show? Whether patients' vision was better protected over time (rung 4). This is review question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Health researchers studied a deep-learning retinopathy system deployed in 11 clinics in Thailand, observing nurses and patients over eight months (Beede et al., CHI 2020). The model was accurate in testing, but in the clinics:
- Many photos taken in imperfect rooms and lighting did not meet the model's image-quality threshold, so patients could not get a result.
- Slow or unreliable internet delayed results that were meant to be immediate (as summarised by Okolo, 2020).
- An ungradable image could lead to a referral, so patients had to take time off work to travel to a clinic further from home.
The team changed the protocol so that specialists reviewed ungradable images before referring.
Lesson: accuracy is a property of the model and its test data; usefulness is a property of the whole service. This is rung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promoted Watson for Oncology to suggest cancer treatments to hospitals worldwide. In 2018 STAT News reported internal IBM documents describing "multiple examples of unsafe and incorrect treatment recommendations", and that the system had been trained largely on hypothetical cases and the preferences of a few specialists rather than on guidelines or outcome evidence (Ross and Swetlitz, 2018). In 2022 IBM sold its Watson Health data and analytics assets to an investment firm (Healthcare IT News, 2022).
Stress the caveat: this rests on investigative journalism and company documents, not a peer-reviewed evaluation. Treat it as a cautionary example.
Lesson: the broader the task, the harder it is to produce evidence, and the bigger the gap between marketing and rungs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four cases. Note that "highest rung" is the highest reached in the source cited, not necessarily the highest the product ever reached. Three of the four are narrow tasks; the only very broad one has the weakest evidence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person tested has the condition or not and gets a positive or negative result: four outcomes, the confusion matrix. TP true positive, FP false positive (false alarm), FN false negative (missed case), TN true negative.
Sensitivity = recall = TP/(TP+FN): of the sick, how many test positive. Specificity = TN/(TN+FP): of the healthy, how many test negative. Both read down a column, so they use only sick or only healthy people: they describe the test.
PPV = precision = TP/(TP+FP): of the positives, how many are sick. NPV = TN/(TN+FN): of the negatives, how many are healthy. Both read across a row, mixing sick and healthy people, so they depend on prevalence: they describe what a result means for this patient.
Headlines quote sensitivity and specificity; a clinician holding a positive result wants PPV. Common confusion: sensitivity is not PPV — a test that flags everyone has 100% sensitivity and PPV equal to the prevalence.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hypothetical test with 90% sensitivity and 90% specificity, used on 10,000 people.
Specialist clinic, prevalence 20%: 2,000 with the condition → 1,800 TP; 8,000 without → 800 FP; PPV = 1,800 / 2,600 = 69%.
General population, prevalence 1%: 100 with the condition → 90 TP; 9,900 without → 990 FP; PPV = 90 / 1,080 = 8%.
The model is identical. In the general population more than 9 of every 10 alerts are false alarms (990 of 1,080), because healthy people vastly outnumber sick ones. A model validated in a specialist clinic and moved to general screening can look accurate on paper and still overwhelm staff.
NPV moves the other way: clinic 7,200 / 7,400 = 97.3%; general population 8,910 / 8,920 = 99.9%. A negative result is very reassuring in screening; a positive one needs confirmation.
The chart is the notes' worked example, not data from a real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prevalence as p. Out of N people, pN are sick and sensitivity × pN of them test positive (TP). (1 − p)N are healthy and (1 − specificity) × (1 − p)N of them test positive (FP). Substitute into TP / (TP + FP); N cancels.
The numerator scales with p; the false-positive term scales with 1 − p. When the condition is rare, a small false-positive rate on the huge healthy group outnumbers the true positives from the small sick group.
Check: p = 0.01 gives 0.009 / (0.009 + 0.099) = 8.3%, matching the counts on the previous slide.
The chart uses the same hypothetical 90%/90% test (notes section 4.4): PPV 90.0, 69.2, 50.0, 32.1, 8.3, 0.9%; NPV 90.0, 97.3, 98.8, 99.4, 99.9, &gt;99.9%. Categories are not evenly spaced in prevalence.
Two consequences: a PPV or precision measured on an enriched or specialist dataset does not carry over to screening; and for rare conditions specificity matters most — at 1%, raising specificity from 90% to 99% raises PPV from 8% to about 48%.
Caveat: the formula assumes sensitivity and specificity do not change in the new setting; dataset shift can change them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4–5 minutes. This is review question 5.
Answer: 2% of 10,000 = 200 with the condition → 95% detected = 190 TP, 10 FN. 9,800 without → 5% false positives = 490 FP, 9,310 TN. PPV = 190 / (190 + 490) = 190 / 680 ≈ 27.9%. NPV = 9,310 / (9,310 + 10) = 9,310 / 9,320 ≈ 99.9%.
Interpretation: even with 95%/95%, only about 28% of positive results are true cases at 2% prevalence; roughly 7 in 10 positives are false alarms, so a positive should prompt a confirmatory test, not a diagnosis. A negative result, by contrast, is very reassuring (NPV 99.9%).
Common error: dividing TP by the number with the condition (that is sensitivity), or forgetting that FP comes from the 9,800 healthy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a list of advantages and disadvantages, look for the conditions under which AI tends to help. Map the cases: IDx-DR sits in the left column on almost every row; the sepsis model hits 'staff ignore it' (alert fatigue); Thai clinics hit dataset shift (image conditions); Watson hits 'broad task'.
Define dataset shift (patients, devices or practice differ from training) and automation bias (over-trusting the output) and alert fatigue (ignoring alerts after too many). Sessions 4–6 examine these failure modes in depth.
Review question 6: pick one row and give a healthcare example of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World Health Organization, 2021 consolidated guidelines on tuberculosis, Module 2: Screening. Computer-aided detection (CAD) software may replace human readers in interpreting chest X-rays for TB screening and triage in people aged 15 and over.
Stress the qualifiers: a conditional recommendation, based on low-certainty evidence, and it covers screening, not diagnosis. Even a recommended tool comes with a defined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system today informs a person: a risk score, a screening result, a treatment suggestion. A clinician decides what to do.
Session 3 introduces AI agents: systems that take steps themselves — looking up records, proposing a booking, drafting a message, routing a request. When AI moves from predicting to acting, an error can become a wrong action; we must test what the system does across many runs, not only how accurate it is; and safeguards such as human approval, limited permissions and audit trails become part of the design.
Close with review question 7: an agent that performs well in a demo is still standing on rung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each row in one sentence. Point students to the review questions in the notes for self-study.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two or three of these as closing discussion, or set them for self-study. Q5 was done in class.
Q1: rung 1 (retrospective, single archive); needs external validation and a prospective/silent deployment, and ideally an outcome study.
Q2: dataset shift — different patients, scanners or protocols, labelling practice, prevalence.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with links are in the lecture notes, section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246120"/>
            <a:ext cx="10698480" cy="731520"/>
          </a:xfrm>
          <a:prstGeom prst="rect">
            <a:avLst/>
          </a:prstGeom>
          <a:noFill/>
          <a:ln/>
        </p:spPr>
        <p:txBody>
          <a:bodyPr wrap="square" rtlCol="0"/>
          <a:lstStyle>
            <a:lvl1pPr indent="0" marL="0">
              <a:buNone/>
              <a:defRPr lang="en-US" sz="2600" dirty="0">
                <a:solidFill>
                  <a:schemeClr val="accent2"/>
                </a:solidFill>
              </a:defRPr>
            </a:lvl1pPr>
          </a:lstStyle>
          <a:p>
            <a:pPr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AI in Healthcare · Unit III · Session 1 — Hype versus Hope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737360"/>
          </a:xfrm>
          <a:prstGeom prst="rect">
            <a:avLst/>
          </a:prstGeom>
          <a:noFill/>
          <a:ln/>
        </p:spPr>
        <p:txBody>
          <a:bodyPr wrap="square" lIns="0" tIns="0" rIns="0" bIns="0" rtlCol="0" anchor="b"/>
          <a:lstStyle/>
          <a:p>
            <a:pPr algn="l" indent="0" marL="0">
              <a:buNone/>
            </a:pPr>
            <a:r>
              <a:rPr lang="en-US" sz="4800" b="1" dirty="0">
                <a:solidFill>
                  <a:schemeClr val="bg1"/>
                </a:solidFill>
              </a:rPr>
              <a:t>Hype versus Hope</a:t>
            </a:r>
            <a:endParaRPr lang="en-US" sz="4800" dirty="0"/>
          </a:p>
        </p:txBody>
      </p:sp>
      <p:sp>
        <p:nvSpPr>
          <p:cNvPr id="3" name="Text 0"/>
          <p:cNvSpPr/>
          <p:nvPr>
            <p:ph idx="101" type="body" hasCustomPrompt="1"/>
          </p:nvPr>
        </p:nvSpPr>
        <p:spPr>
          <a:xfrm>
            <a:off x="731520" y="3246120"/>
            <a:ext cx="10698480" cy="731520"/>
          </a:xfrm>
          <a:prstGeom prst="rect">
            <a:avLst/>
          </a:prstGeom>
          <a:noFill/>
          <a:ln/>
        </p:spPr>
        <p:txBody>
          <a:bodyPr wrap="square" lIns="0" tIns="0" rIns="0" bIns="0" rtlCol="0" anchor="t"/>
          <a:lstStyle/>
          <a:p>
            <a:pPr indent="0" marL="0">
              <a:buNone/>
            </a:pPr>
            <a:r>
              <a:rPr lang="en-US" sz="2600" dirty="0">
                <a:solidFill>
                  <a:schemeClr val="accent2"/>
                </a:solidFill>
              </a:rPr>
              <a:t>Judging healthcare AI claims</a:t>
            </a:r>
            <a:endParaRPr lang="en-US" sz="2600" dirty="0"/>
          </a:p>
        </p:txBody>
      </p:sp>
      <p:sp>
        <p:nvSpPr>
          <p:cNvPr id="4" name="Text 2"/>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800" dirty="0">
                <a:solidFill>
                  <a:schemeClr val="bg1"/>
                </a:solidFill>
              </a:rPr>
              <a:t>AI in Healthcare · Unit III · Session 1</a:t>
            </a:r>
            <a:endParaRPr lang="en-US" sz="1800" dirty="0"/>
          </a:p>
        </p:txBody>
      </p:sp>
      <p:sp>
        <p:nvSpPr>
          <p:cNvPr id="5" name="Text 3"/>
          <p:cNvSpPr txBox="1"/>
          <p:nvPr/>
        </p:nvSpPr>
        <p:spPr>
          <a:xfrm>
            <a:off x="731520" y="5532120"/>
            <a:ext cx="10698480" cy="365760"/>
          </a:xfrm>
          <a:prstGeom prst="rect">
            <a:avLst/>
          </a:prstGeom>
          <a:noFill/>
          <a:ln/>
        </p:spPr>
        <p:txBody>
          <a:bodyPr wrap="square" lIns="0" tIns="0" rIns="0" bIns="0" rtlCol="0" anchor="t"/>
          <a:lstStyle/>
          <a:p>
            <a:pPr indent="0" marL="0">
              <a:buNone/>
            </a:pPr>
            <a:r>
              <a:rPr lang="en-US" sz="1500" dirty="0">
                <a:solidFill>
                  <a:srgbClr val="CED4DA"/>
                </a:solidFill>
              </a:rPr>
              <a:t>B.Tech AI, Third Year · Bennett University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By the end of this lecture you can…</a:t>
            </a:r>
            <a:endParaRPr lang="en-US" sz="3200" dirty="0"/>
          </a:p>
        </p:txBody>
      </p:sp>
      <p:sp>
        <p:nvSpPr>
          <p:cNvPr id="4" name="Shape 1"/>
          <p:cNvSpPr/>
          <p:nvPr/>
        </p:nvSpPr>
        <p:spPr>
          <a:xfrm>
            <a:off x="731520" y="1508760"/>
            <a:ext cx="548640" cy="548640"/>
          </a:xfrm>
          <a:prstGeom prst="ellipse">
            <a:avLst/>
          </a:prstGeom>
          <a:solidFill>
            <a:schemeClr val="accent1"/>
          </a:solidFill>
          <a:ln w="12700">
            <a:solidFill>
              <a:schemeClr val="accent1"/>
            </a:solidFill>
            <a:prstDash val="solid"/>
          </a:ln>
        </p:spPr>
      </p:sp>
      <p:sp>
        <p:nvSpPr>
          <p:cNvPr id="5" name="Text 2"/>
          <p:cNvSpPr txBox="1"/>
          <p:nvPr/>
        </p:nvSpPr>
        <p:spPr>
          <a:xfrm>
            <a:off x="731520"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1554480" y="1417320"/>
            <a:ext cx="9875520" cy="731520"/>
          </a:xfrm>
          <a:prstGeom prst="rect">
            <a:avLst/>
          </a:prstGeom>
          <a:noFill/>
          <a:ln/>
        </p:spPr>
        <p:txBody>
          <a:bodyPr wrap="square" lIns="0" tIns="0" rIns="0" bIns="0" rtlCol="0" anchor="ctr"/>
          <a:lstStyle/>
          <a:p>
            <a:pPr indent="0" marL="0">
              <a:buNone/>
            </a:pPr>
            <a:r>
              <a:rPr lang="en-US" sz="2000" b="1" dirty="0">
                <a:solidFill>
                  <a:schemeClr val="tx1"/>
                </a:solidFill>
              </a:rPr>
              <a:t>Place a claim</a:t>
            </a:r>
            <a:r>
              <a:rPr lang="en-US" sz="2000" dirty="0">
                <a:solidFill>
                  <a:schemeClr val="tx1"/>
                </a:solidFill>
              </a:rPr>
              <a:t> on an evidence ladder, from benchmark accuracy to patient outcomes</a:t>
            </a:r>
            <a:endParaRPr lang="en-US" sz="2000" dirty="0"/>
          </a:p>
        </p:txBody>
      </p:sp>
      <p:sp>
        <p:nvSpPr>
          <p:cNvPr id="7" name="Shape 4"/>
          <p:cNvSpPr/>
          <p:nvPr/>
        </p:nvSpPr>
        <p:spPr>
          <a:xfrm>
            <a:off x="731520" y="2468880"/>
            <a:ext cx="548640" cy="548640"/>
          </a:xfrm>
          <a:prstGeom prst="ellipse">
            <a:avLst/>
          </a:prstGeom>
          <a:solidFill>
            <a:schemeClr val="accent1"/>
          </a:solidFill>
          <a:ln w="12700">
            <a:solidFill>
              <a:schemeClr val="accent1"/>
            </a:solidFill>
            <a:prstDash val="solid"/>
          </a:ln>
        </p:spPr>
      </p:sp>
      <p:sp>
        <p:nvSpPr>
          <p:cNvPr id="8" name="Text 5"/>
          <p:cNvSpPr txBox="1"/>
          <p:nvPr/>
        </p:nvSpPr>
        <p:spPr>
          <a:xfrm>
            <a:off x="731520" y="2468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6"/>
          <p:cNvSpPr txBox="1"/>
          <p:nvPr/>
        </p:nvSpPr>
        <p:spPr>
          <a:xfrm>
            <a:off x="1554480" y="2377440"/>
            <a:ext cx="9875520" cy="731520"/>
          </a:xfrm>
          <a:prstGeom prst="rect">
            <a:avLst/>
          </a:prstGeom>
          <a:noFill/>
          <a:ln/>
        </p:spPr>
        <p:txBody>
          <a:bodyPr wrap="square" lIns="0" tIns="0" rIns="0" bIns="0" rtlCol="0" anchor="ctr"/>
          <a:lstStyle/>
          <a:p>
            <a:pPr indent="0" marL="0">
              <a:buNone/>
            </a:pPr>
            <a:r>
              <a:rPr lang="en-US" sz="2000" b="1" dirty="0">
                <a:solidFill>
                  <a:schemeClr val="tx1"/>
                </a:solidFill>
              </a:rPr>
              <a:t>Use four real cases</a:t>
            </a:r>
            <a:r>
              <a:rPr lang="en-US" sz="2000" dirty="0">
                <a:solidFill>
                  <a:schemeClr val="tx1"/>
                </a:solidFill>
              </a:rPr>
              <a:t> to explain why good accuracy does not guarantee clinical benefit</a:t>
            </a:r>
            <a:endParaRPr lang="en-US" sz="2000" dirty="0"/>
          </a:p>
        </p:txBody>
      </p:sp>
      <p:sp>
        <p:nvSpPr>
          <p:cNvPr id="10" name="Shape 7"/>
          <p:cNvSpPr/>
          <p:nvPr/>
        </p:nvSpPr>
        <p:spPr>
          <a:xfrm>
            <a:off x="731520" y="3429000"/>
            <a:ext cx="548640" cy="548640"/>
          </a:xfrm>
          <a:prstGeom prst="ellipse">
            <a:avLst/>
          </a:prstGeom>
          <a:solidFill>
            <a:schemeClr val="accent1"/>
          </a:solidFill>
          <a:ln w="12700">
            <a:solidFill>
              <a:schemeClr val="accent1"/>
            </a:solidFill>
            <a:prstDash val="solid"/>
          </a:ln>
        </p:spPr>
      </p:sp>
      <p:sp>
        <p:nvSpPr>
          <p:cNvPr id="11" name="Text 8"/>
          <p:cNvSpPr txBox="1"/>
          <p:nvPr/>
        </p:nvSpPr>
        <p:spPr>
          <a:xfrm>
            <a:off x="731520" y="34290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ext 9"/>
          <p:cNvSpPr txBox="1"/>
          <p:nvPr/>
        </p:nvSpPr>
        <p:spPr>
          <a:xfrm>
            <a:off x="1554480" y="3337560"/>
            <a:ext cx="9875520" cy="731520"/>
          </a:xfrm>
          <a:prstGeom prst="rect">
            <a:avLst/>
          </a:prstGeom>
          <a:noFill/>
          <a:ln/>
        </p:spPr>
        <p:txBody>
          <a:bodyPr wrap="square" lIns="0" tIns="0" rIns="0" bIns="0" rtlCol="0" anchor="ctr"/>
          <a:lstStyle/>
          <a:p>
            <a:pPr indent="0" marL="0">
              <a:buNone/>
            </a:pPr>
            <a:r>
              <a:rPr lang="en-US" sz="2000" b="1" dirty="0">
                <a:solidFill>
                  <a:schemeClr val="tx1"/>
                </a:solidFill>
              </a:rPr>
              <a:t>Define and calculate</a:t>
            </a:r>
            <a:r>
              <a:rPr lang="en-US" sz="2000" dirty="0">
                <a:solidFill>
                  <a:schemeClr val="tx1"/>
                </a:solidFill>
              </a:rPr>
              <a:t> sensitivity, specificity, PPV and NPV, and how prevalence changes PPV</a:t>
            </a:r>
            <a:endParaRPr lang="en-US" sz="2000" dirty="0"/>
          </a:p>
        </p:txBody>
      </p:sp>
      <p:sp>
        <p:nvSpPr>
          <p:cNvPr id="13" name="Shape 10"/>
          <p:cNvSpPr/>
          <p:nvPr/>
        </p:nvSpPr>
        <p:spPr>
          <a:xfrm>
            <a:off x="731520" y="4389120"/>
            <a:ext cx="548640" cy="548640"/>
          </a:xfrm>
          <a:prstGeom prst="ellipse">
            <a:avLst/>
          </a:prstGeom>
          <a:solidFill>
            <a:schemeClr val="accent1"/>
          </a:solidFill>
          <a:ln w="12700">
            <a:solidFill>
              <a:schemeClr val="accent1"/>
            </a:solidFill>
            <a:prstDash val="solid"/>
          </a:ln>
        </p:spPr>
      </p:sp>
      <p:sp>
        <p:nvSpPr>
          <p:cNvPr id="14" name="Text 11"/>
          <p:cNvSpPr txBox="1"/>
          <p:nvPr/>
        </p:nvSpPr>
        <p:spPr>
          <a:xfrm>
            <a:off x="731520" y="4389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5" name="Text 12"/>
          <p:cNvSpPr txBox="1"/>
          <p:nvPr/>
        </p:nvSpPr>
        <p:spPr>
          <a:xfrm>
            <a:off x="1554480" y="4297680"/>
            <a:ext cx="9875520" cy="731520"/>
          </a:xfrm>
          <a:prstGeom prst="rect">
            <a:avLst/>
          </a:prstGeom>
          <a:noFill/>
          <a:ln/>
        </p:spPr>
        <p:txBody>
          <a:bodyPr wrap="square" lIns="0" tIns="0" rIns="0" bIns="0" rtlCol="0" anchor="ctr"/>
          <a:lstStyle/>
          <a:p>
            <a:pPr indent="0" marL="0">
              <a:buNone/>
            </a:pPr>
            <a:r>
              <a:rPr lang="en-US" sz="2000" b="1" dirty="0">
                <a:solidFill>
                  <a:schemeClr val="tx1"/>
                </a:solidFill>
              </a:rPr>
              <a:t>Describe</a:t>
            </a:r>
            <a:r>
              <a:rPr lang="en-US" sz="2000" dirty="0">
                <a:solidFill>
                  <a:schemeClr val="tx1"/>
                </a:solidFill>
              </a:rPr>
              <a:t> where healthcare AI tends to help and where it tends to fail</a:t>
            </a:r>
            <a:endParaRPr lang="en-US" sz="2000" dirty="0"/>
          </a:p>
        </p:txBody>
      </p:sp>
      <p:sp>
        <p:nvSpPr>
          <p:cNvPr id="16" name="Text 13"/>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500" b="1" dirty="0">
                <a:solidFill>
                  <a:schemeClr val="tx2"/>
                </a:solidFill>
              </a:rPr>
              <a:t>Prerequisites: </a:t>
            </a:r>
            <a:r>
              <a:rPr lang="en-US" sz="1500" dirty="0">
                <a:solidFill>
                  <a:schemeClr val="tx2"/>
                </a:solidFill>
              </a:rPr>
              <a:t>Unit I session 7 (stakeholders, PPV, alert cost); sensitivity, specificity and AUC</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 hospital reads a headline</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ASK  </a:t>
            </a:r>
            <a:r>
              <a:rPr lang="en-US" sz="1400" dirty="0">
                <a:solidFill>
                  <a:schemeClr val="tx1"/>
                </a:solidFill>
              </a:rPr>
              <a:t>the room</a:t>
            </a:r>
            <a:endParaRPr lang="en-US" sz="1400" dirty="0"/>
          </a:p>
        </p:txBody>
      </p:sp>
      <p:sp>
        <p:nvSpPr>
          <p:cNvPr id="6" name="headline"/>
          <p:cNvSpPr/>
          <p:nvPr/>
        </p:nvSpPr>
        <p:spPr>
          <a:xfrm>
            <a:off x="548640" y="1325880"/>
            <a:ext cx="11064240" cy="1371600"/>
          </a:xfrm>
          <a:prstGeom prst="roundRect">
            <a:avLst>
              <a:gd name="adj" fmla="val 8000"/>
            </a:avLst>
          </a:prstGeom>
          <a:solidFill>
            <a:schemeClr val="tx1"/>
          </a:solidFill>
          <a:ln w="12700">
            <a:solidFill>
              <a:schemeClr val="tx1"/>
            </a:solidFill>
            <a:prstDash val="solid"/>
          </a:ln>
        </p:spPr>
      </p:sp>
      <p:sp>
        <p:nvSpPr>
          <p:cNvPr id="7" name="Text 4"/>
          <p:cNvSpPr txBox="1"/>
          <p:nvPr/>
        </p:nvSpPr>
        <p:spPr>
          <a:xfrm>
            <a:off x="822960" y="1325880"/>
            <a:ext cx="10515600" cy="1371600"/>
          </a:xfrm>
          <a:prstGeom prst="rect">
            <a:avLst/>
          </a:prstGeom>
          <a:noFill/>
          <a:ln/>
        </p:spPr>
        <p:txBody>
          <a:bodyPr wrap="square" lIns="0" tIns="0" rIns="0" bIns="0" rtlCol="0" anchor="ctr"/>
          <a:lstStyle/>
          <a:p>
            <a:pPr indent="0" marL="0">
              <a:buNone/>
            </a:pPr>
            <a:r>
              <a:rPr lang="en-US" sz="3400" i="1" dirty="0">
                <a:solidFill>
                  <a:schemeClr val="bg1"/>
                </a:solidFill>
                <a:latin typeface="Cambria" pitchFamily="34" charset="0"/>
                <a:ea typeface="Cambria" pitchFamily="34" charset="-122"/>
                <a:cs typeface="Cambria" pitchFamily="34" charset="-120"/>
              </a:rPr>
              <a:t>“AI detects disease X better than doctors”</a:t>
            </a:r>
            <a:endParaRPr lang="en-US" sz="3400" dirty="0"/>
          </a:p>
        </p:txBody>
      </p:sp>
      <p:sp>
        <p:nvSpPr>
          <p:cNvPr id="8" name="Text 5"/>
          <p:cNvSpPr txBox="1"/>
          <p:nvPr/>
        </p:nvSpPr>
        <p:spPr>
          <a:xfrm>
            <a:off x="548640" y="2880360"/>
            <a:ext cx="11064240" cy="457200"/>
          </a:xfrm>
          <a:prstGeom prst="rect">
            <a:avLst/>
          </a:prstGeom>
          <a:noFill/>
          <a:ln/>
        </p:spPr>
        <p:txBody>
          <a:bodyPr wrap="square" lIns="0" tIns="0" rIns="0" bIns="0" rtlCol="0" anchor="t"/>
          <a:lstStyle/>
          <a:p>
            <a:pPr indent="0" marL="0">
              <a:buNone/>
            </a:pPr>
            <a:r>
              <a:rPr lang="en-US" sz="2000" b="1" dirty="0">
                <a:solidFill>
                  <a:schemeClr val="tx1"/>
                </a:solidFill>
              </a:rPr>
              <a:t>What should the hospital ask before buying?</a:t>
            </a:r>
            <a:endParaRPr lang="en-US" sz="2000" dirty="0"/>
          </a:p>
        </p:txBody>
      </p:sp>
      <p:sp>
        <p:nvSpPr>
          <p:cNvPr id="9" name="hype"/>
          <p:cNvSpPr/>
          <p:nvPr/>
        </p:nvSpPr>
        <p:spPr>
          <a:xfrm>
            <a:off x="548640" y="3520440"/>
            <a:ext cx="5394960" cy="1691640"/>
          </a:xfrm>
          <a:prstGeom prst="roundRect">
            <a:avLst>
              <a:gd name="adj" fmla="val 6486"/>
            </a:avLst>
          </a:prstGeom>
          <a:solidFill>
            <a:schemeClr val="accent6"/>
          </a:solidFill>
          <a:ln w="12700">
            <a:solidFill>
              <a:schemeClr val="accent6"/>
            </a:solidFill>
            <a:prstDash val="solid"/>
          </a:ln>
        </p:spPr>
      </p:sp>
      <p:sp>
        <p:nvSpPr>
          <p:cNvPr id="10" name="Text 7"/>
          <p:cNvSpPr txBox="1"/>
          <p:nvPr/>
        </p:nvSpPr>
        <p:spPr>
          <a:xfrm>
            <a:off x="822960" y="3611880"/>
            <a:ext cx="4937760" cy="1508760"/>
          </a:xfrm>
          <a:prstGeom prst="rect">
            <a:avLst/>
          </a:prstGeom>
          <a:noFill/>
          <a:ln/>
        </p:spPr>
        <p:txBody>
          <a:bodyPr wrap="square" lIns="0" tIns="0" rIns="0" bIns="0" rtlCol="0" anchor="ctr"/>
          <a:lstStyle/>
          <a:p>
            <a:pPr indent="0" marL="0">
              <a:buNone/>
            </a:pPr>
            <a:r>
              <a:rPr lang="en-US" sz="2400" b="1" dirty="0">
                <a:solidFill>
                  <a:schemeClr val="accent3"/>
                </a:solidFill>
              </a:rPr>
              <a:t>Hype</a:t>
            </a:r>
            <a:endParaRPr lang="en-US" sz="1600" dirty="0"/>
          </a:p>
          <a:p>
            <a:pPr indent="0" marL="0">
              <a:buNone/>
            </a:pPr>
            <a:r>
              <a:rPr lang="en-US" sz="1700" dirty="0">
                <a:solidFill>
                  <a:schemeClr val="tx1"/>
                </a:solidFill>
              </a:rPr>
              <a:t>A claim that runs ahead of its evidence</a:t>
            </a:r>
            <a:endParaRPr lang="en-US" sz="1600" dirty="0"/>
          </a:p>
        </p:txBody>
      </p:sp>
      <p:sp>
        <p:nvSpPr>
          <p:cNvPr id="11" name="hope"/>
          <p:cNvSpPr/>
          <p:nvPr/>
        </p:nvSpPr>
        <p:spPr>
          <a:xfrm>
            <a:off x="6217920" y="3520440"/>
            <a:ext cx="5394960" cy="1691640"/>
          </a:xfrm>
          <a:prstGeom prst="roundRect">
            <a:avLst>
              <a:gd name="adj" fmla="val 6486"/>
            </a:avLst>
          </a:prstGeom>
          <a:solidFill>
            <a:schemeClr val="accent5"/>
          </a:solidFill>
          <a:ln w="12700">
            <a:solidFill>
              <a:schemeClr val="accent5"/>
            </a:solidFill>
            <a:prstDash val="solid"/>
          </a:ln>
        </p:spPr>
      </p:sp>
      <p:sp>
        <p:nvSpPr>
          <p:cNvPr id="12" name="Text 9"/>
          <p:cNvSpPr txBox="1"/>
          <p:nvPr/>
        </p:nvSpPr>
        <p:spPr>
          <a:xfrm>
            <a:off x="6492240" y="3611880"/>
            <a:ext cx="4937760" cy="1508760"/>
          </a:xfrm>
          <a:prstGeom prst="rect">
            <a:avLst/>
          </a:prstGeom>
          <a:noFill/>
          <a:ln/>
        </p:spPr>
        <p:txBody>
          <a:bodyPr wrap="square" lIns="0" tIns="0" rIns="0" bIns="0" rtlCol="0" anchor="ctr"/>
          <a:lstStyle/>
          <a:p>
            <a:pPr indent="0" marL="0">
              <a:buNone/>
            </a:pPr>
            <a:r>
              <a:rPr lang="en-US" sz="2400" b="1" dirty="0">
                <a:solidFill>
                  <a:schemeClr val="accent1"/>
                </a:solidFill>
              </a:rPr>
              <a:t>Hope</a:t>
            </a:r>
            <a:endParaRPr lang="en-US" sz="1600" dirty="0"/>
          </a:p>
          <a:p>
            <a:pPr indent="0" marL="0">
              <a:buNone/>
            </a:pPr>
            <a:r>
              <a:rPr lang="en-US" sz="1700" dirty="0">
                <a:solidFill>
                  <a:schemeClr val="tx1"/>
                </a:solidFill>
              </a:rPr>
              <a:t>A realistic expectation, backed by evidence for a specific task, setting and group of patients</a:t>
            </a:r>
            <a:endParaRPr lang="en-US" sz="1600" dirty="0"/>
          </a:p>
        </p:txBody>
      </p:sp>
      <p:sp>
        <p:nvSpPr>
          <p:cNvPr id="13" name="Text 10"/>
          <p:cNvSpPr txBox="1"/>
          <p:nvPr/>
        </p:nvSpPr>
        <p:spPr>
          <a:xfrm>
            <a:off x="548640" y="5486400"/>
            <a:ext cx="11064240" cy="548640"/>
          </a:xfrm>
          <a:prstGeom prst="rect">
            <a:avLst/>
          </a:prstGeom>
          <a:noFill/>
          <a:ln/>
        </p:spPr>
        <p:txBody>
          <a:bodyPr wrap="square" lIns="0" tIns="0" rIns="0" bIns="0" rtlCol="0" anchor="t"/>
          <a:lstStyle/>
          <a:p>
            <a:pPr indent="0" marL="0">
              <a:buNone/>
            </a:pPr>
            <a:r>
              <a:rPr lang="en-US" sz="1900" dirty="0">
                <a:solidFill>
                  <a:schemeClr val="tx1"/>
                </a:solidFill>
              </a:rPr>
              <a:t>The difference is rarely the algorithm. It is </a:t>
            </a:r>
            <a:r>
              <a:rPr lang="en-US" sz="1900" b="1" dirty="0">
                <a:solidFill>
                  <a:schemeClr val="tx1"/>
                </a:solidFill>
              </a:rPr>
              <a:t>what was measured, where, and on whom.</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Each rung answers a harder question</a:t>
            </a:r>
            <a:endParaRPr lang="en-US" sz="3200" dirty="0"/>
          </a:p>
        </p:txBody>
      </p:sp>
      <p:sp>
        <p:nvSpPr>
          <p:cNvPr id="4" name="rung 1"/>
          <p:cNvSpPr/>
          <p:nvPr/>
        </p:nvSpPr>
        <p:spPr>
          <a:xfrm>
            <a:off x="548640" y="2926080"/>
            <a:ext cx="2103120" cy="1600200"/>
          </a:xfrm>
          <a:prstGeom prst="rect">
            <a:avLst/>
          </a:prstGeom>
          <a:solidFill>
            <a:schemeClr val="accent6"/>
          </a:solidFill>
          <a:ln w="15875">
            <a:solidFill>
              <a:schemeClr val="accent3"/>
            </a:solidFill>
            <a:prstDash val="solid"/>
          </a:ln>
        </p:spPr>
      </p:sp>
      <p:sp>
        <p:nvSpPr>
          <p:cNvPr id="5" name="Shape 2"/>
          <p:cNvSpPr/>
          <p:nvPr/>
        </p:nvSpPr>
        <p:spPr>
          <a:xfrm>
            <a:off x="685800" y="3063240"/>
            <a:ext cx="457200" cy="457200"/>
          </a:xfrm>
          <a:prstGeom prst="ellipse">
            <a:avLst/>
          </a:prstGeom>
          <a:solidFill>
            <a:schemeClr val="accent3"/>
          </a:solidFill>
          <a:ln w="12700">
            <a:solidFill>
              <a:schemeClr val="accent3"/>
            </a:solidFill>
            <a:prstDash val="solid"/>
          </a:ln>
        </p:spPr>
      </p:sp>
      <p:sp>
        <p:nvSpPr>
          <p:cNvPr id="6" name="Text 3"/>
          <p:cNvSpPr txBox="1"/>
          <p:nvPr/>
        </p:nvSpPr>
        <p:spPr>
          <a:xfrm>
            <a:off x="685800" y="30632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234440" y="3017520"/>
            <a:ext cx="1325880" cy="548640"/>
          </a:xfrm>
          <a:prstGeom prst="rect">
            <a:avLst/>
          </a:prstGeom>
          <a:noFill/>
          <a:ln/>
        </p:spPr>
        <p:txBody>
          <a:bodyPr wrap="square" lIns="0" tIns="0" rIns="0" bIns="0" rtlCol="0" anchor="ctr"/>
          <a:lstStyle/>
          <a:p>
            <a:pPr indent="0" marL="0">
              <a:buNone/>
            </a:pPr>
            <a:r>
              <a:rPr lang="en-US" sz="1400" b="1" dirty="0">
                <a:solidFill>
                  <a:schemeClr val="tx1"/>
                </a:solidFill>
              </a:rPr>
              <a:t>Retrospective accuracy</a:t>
            </a:r>
            <a:endParaRPr lang="en-US" sz="1400" dirty="0"/>
          </a:p>
        </p:txBody>
      </p:sp>
      <p:sp>
        <p:nvSpPr>
          <p:cNvPr id="8" name="Text 5"/>
          <p:cNvSpPr txBox="1"/>
          <p:nvPr/>
        </p:nvSpPr>
        <p:spPr>
          <a:xfrm>
            <a:off x="685800" y="3657600"/>
            <a:ext cx="1828800" cy="777240"/>
          </a:xfrm>
          <a:prstGeom prst="rect">
            <a:avLst/>
          </a:prstGeom>
          <a:noFill/>
          <a:ln/>
        </p:spPr>
        <p:txBody>
          <a:bodyPr wrap="square" lIns="0" tIns="0" rIns="0" bIns="0" rtlCol="0" anchor="t"/>
          <a:lstStyle/>
          <a:p>
            <a:pPr indent="0" marL="0">
              <a:buNone/>
            </a:pPr>
            <a:r>
              <a:rPr lang="en-US" sz="1300" dirty="0">
                <a:solidFill>
                  <a:schemeClr val="tx1"/>
                </a:solidFill>
              </a:rPr>
              <a:t>Does it work on a curated historical dataset?</a:t>
            </a:r>
            <a:endParaRPr lang="en-US" sz="1300" dirty="0"/>
          </a:p>
        </p:txBody>
      </p:sp>
      <p:sp>
        <p:nvSpPr>
          <p:cNvPr id="9" name="Text 6"/>
          <p:cNvSpPr txBox="1"/>
          <p:nvPr/>
        </p:nvSpPr>
        <p:spPr>
          <a:xfrm>
            <a:off x="548640" y="4599432"/>
            <a:ext cx="2103120" cy="502920"/>
          </a:xfrm>
          <a:prstGeom prst="rect">
            <a:avLst/>
          </a:prstGeom>
          <a:noFill/>
          <a:ln/>
        </p:spPr>
        <p:txBody>
          <a:bodyPr wrap="square" lIns="0" tIns="0" rIns="0" bIns="0" rtlCol="0" anchor="t"/>
          <a:lstStyle/>
          <a:p>
            <a:pPr algn="ctr" indent="0" marL="0">
              <a:buNone/>
            </a:pPr>
            <a:r>
              <a:rPr lang="en-US" sz="1200" i="1" dirty="0">
                <a:solidFill>
                  <a:schemeClr val="tx2"/>
                </a:solidFill>
              </a:rPr>
              <a:t>AUC, sens., spec. on a test set</a:t>
            </a:r>
            <a:endParaRPr lang="en-US" sz="1200" dirty="0"/>
          </a:p>
        </p:txBody>
      </p:sp>
      <p:sp>
        <p:nvSpPr>
          <p:cNvPr id="10" name="rung 2"/>
          <p:cNvSpPr/>
          <p:nvPr/>
        </p:nvSpPr>
        <p:spPr>
          <a:xfrm>
            <a:off x="2788920" y="2542032"/>
            <a:ext cx="2103120" cy="1984248"/>
          </a:xfrm>
          <a:prstGeom prst="rect">
            <a:avLst/>
          </a:prstGeom>
          <a:solidFill>
            <a:schemeClr val="bg2"/>
          </a:solidFill>
          <a:ln w="15875">
            <a:solidFill>
              <a:schemeClr val="tx2"/>
            </a:solidFill>
            <a:prstDash val="solid"/>
          </a:ln>
        </p:spPr>
      </p:sp>
      <p:sp>
        <p:nvSpPr>
          <p:cNvPr id="11" name="Shape 8"/>
          <p:cNvSpPr/>
          <p:nvPr/>
        </p:nvSpPr>
        <p:spPr>
          <a:xfrm>
            <a:off x="2926080" y="2679192"/>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2926080" y="267919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3474720" y="2633472"/>
            <a:ext cx="1325880" cy="548640"/>
          </a:xfrm>
          <a:prstGeom prst="rect">
            <a:avLst/>
          </a:prstGeom>
          <a:noFill/>
          <a:ln/>
        </p:spPr>
        <p:txBody>
          <a:bodyPr wrap="square" lIns="0" tIns="0" rIns="0" bIns="0" rtlCol="0" anchor="ctr"/>
          <a:lstStyle/>
          <a:p>
            <a:pPr indent="0" marL="0">
              <a:buNone/>
            </a:pPr>
            <a:r>
              <a:rPr lang="en-US" sz="1400" b="1" dirty="0">
                <a:solidFill>
                  <a:schemeClr val="tx1"/>
                </a:solidFill>
              </a:rPr>
              <a:t>External validation</a:t>
            </a:r>
            <a:endParaRPr lang="en-US" sz="1400" dirty="0"/>
          </a:p>
        </p:txBody>
      </p:sp>
      <p:sp>
        <p:nvSpPr>
          <p:cNvPr id="14" name="Text 11"/>
          <p:cNvSpPr txBox="1"/>
          <p:nvPr/>
        </p:nvSpPr>
        <p:spPr>
          <a:xfrm>
            <a:off x="2926080" y="3273552"/>
            <a:ext cx="1828800" cy="777240"/>
          </a:xfrm>
          <a:prstGeom prst="rect">
            <a:avLst/>
          </a:prstGeom>
          <a:noFill/>
          <a:ln/>
        </p:spPr>
        <p:txBody>
          <a:bodyPr wrap="square" lIns="0" tIns="0" rIns="0" bIns="0" rtlCol="0" anchor="t"/>
          <a:lstStyle/>
          <a:p>
            <a:pPr indent="0" marL="0">
              <a:buNone/>
            </a:pPr>
            <a:r>
              <a:rPr lang="en-US" sz="1300" dirty="0">
                <a:solidFill>
                  <a:schemeClr val="tx1"/>
                </a:solidFill>
              </a:rPr>
              <a:t>Does it work at another hospital, on other patients?</a:t>
            </a:r>
            <a:endParaRPr lang="en-US" sz="1300" dirty="0"/>
          </a:p>
        </p:txBody>
      </p:sp>
      <p:sp>
        <p:nvSpPr>
          <p:cNvPr id="15" name="Text 12"/>
          <p:cNvSpPr txBox="1"/>
          <p:nvPr/>
        </p:nvSpPr>
        <p:spPr>
          <a:xfrm>
            <a:off x="2788920" y="4599432"/>
            <a:ext cx="2103120" cy="502920"/>
          </a:xfrm>
          <a:prstGeom prst="rect">
            <a:avLst/>
          </a:prstGeom>
          <a:noFill/>
          <a:ln/>
        </p:spPr>
        <p:txBody>
          <a:bodyPr wrap="square" lIns="0" tIns="0" rIns="0" bIns="0" rtlCol="0" anchor="t"/>
          <a:lstStyle/>
          <a:p>
            <a:pPr algn="ctr" indent="0" marL="0">
              <a:buNone/>
            </a:pPr>
            <a:r>
              <a:rPr lang="en-US" sz="1200" i="1" dirty="0">
                <a:solidFill>
                  <a:schemeClr val="tx2"/>
                </a:solidFill>
              </a:rPr>
              <a:t>Same metrics, new site or time</a:t>
            </a:r>
            <a:endParaRPr lang="en-US" sz="1200" dirty="0"/>
          </a:p>
        </p:txBody>
      </p:sp>
      <p:sp>
        <p:nvSpPr>
          <p:cNvPr id="16" name="rung 3"/>
          <p:cNvSpPr/>
          <p:nvPr/>
        </p:nvSpPr>
        <p:spPr>
          <a:xfrm>
            <a:off x="5029200" y="2157984"/>
            <a:ext cx="2103120" cy="2368296"/>
          </a:xfrm>
          <a:prstGeom prst="rect">
            <a:avLst/>
          </a:prstGeom>
          <a:solidFill>
            <a:schemeClr val="bg2"/>
          </a:solidFill>
          <a:ln w="15875">
            <a:solidFill>
              <a:schemeClr val="tx2"/>
            </a:solidFill>
            <a:prstDash val="solid"/>
          </a:ln>
        </p:spPr>
      </p:sp>
      <p:sp>
        <p:nvSpPr>
          <p:cNvPr id="17" name="Shape 14"/>
          <p:cNvSpPr/>
          <p:nvPr/>
        </p:nvSpPr>
        <p:spPr>
          <a:xfrm>
            <a:off x="5166360" y="2295144"/>
            <a:ext cx="457200" cy="457200"/>
          </a:xfrm>
          <a:prstGeom prst="ellipse">
            <a:avLst/>
          </a:prstGeom>
          <a:solidFill>
            <a:schemeClr val="accent1"/>
          </a:solidFill>
          <a:ln w="12700">
            <a:solidFill>
              <a:schemeClr val="accent1"/>
            </a:solidFill>
            <a:prstDash val="solid"/>
          </a:ln>
        </p:spPr>
      </p:sp>
      <p:sp>
        <p:nvSpPr>
          <p:cNvPr id="18" name="Text 15"/>
          <p:cNvSpPr txBox="1"/>
          <p:nvPr/>
        </p:nvSpPr>
        <p:spPr>
          <a:xfrm>
            <a:off x="5166360" y="229514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9" name="Text 16"/>
          <p:cNvSpPr txBox="1"/>
          <p:nvPr/>
        </p:nvSpPr>
        <p:spPr>
          <a:xfrm>
            <a:off x="5715000" y="2249424"/>
            <a:ext cx="1325880" cy="548640"/>
          </a:xfrm>
          <a:prstGeom prst="rect">
            <a:avLst/>
          </a:prstGeom>
          <a:noFill/>
          <a:ln/>
        </p:spPr>
        <p:txBody>
          <a:bodyPr wrap="square" lIns="0" tIns="0" rIns="0" bIns="0" rtlCol="0" anchor="ctr"/>
          <a:lstStyle/>
          <a:p>
            <a:pPr indent="0" marL="0">
              <a:buNone/>
            </a:pPr>
            <a:r>
              <a:rPr lang="en-US" sz="1400" b="1" dirty="0">
                <a:solidFill>
                  <a:schemeClr val="tx1"/>
                </a:solidFill>
              </a:rPr>
              <a:t>Prospective / silent</a:t>
            </a:r>
            <a:endParaRPr lang="en-US" sz="1400" dirty="0"/>
          </a:p>
        </p:txBody>
      </p:sp>
      <p:sp>
        <p:nvSpPr>
          <p:cNvPr id="20" name="Text 17"/>
          <p:cNvSpPr txBox="1"/>
          <p:nvPr/>
        </p:nvSpPr>
        <p:spPr>
          <a:xfrm>
            <a:off x="5166360" y="2889504"/>
            <a:ext cx="1828800" cy="777240"/>
          </a:xfrm>
          <a:prstGeom prst="rect">
            <a:avLst/>
          </a:prstGeom>
          <a:noFill/>
          <a:ln/>
        </p:spPr>
        <p:txBody>
          <a:bodyPr wrap="square" lIns="0" tIns="0" rIns="0" bIns="0" rtlCol="0" anchor="t"/>
          <a:lstStyle/>
          <a:p>
            <a:pPr indent="0" marL="0">
              <a:buNone/>
            </a:pPr>
            <a:r>
              <a:rPr lang="en-US" sz="1300" dirty="0">
                <a:solidFill>
                  <a:schemeClr val="tx1"/>
                </a:solidFill>
              </a:rPr>
              <a:t>Does it work on live data, as cases arrive?</a:t>
            </a:r>
            <a:endParaRPr lang="en-US" sz="1300" dirty="0"/>
          </a:p>
        </p:txBody>
      </p:sp>
      <p:sp>
        <p:nvSpPr>
          <p:cNvPr id="21" name="Text 18"/>
          <p:cNvSpPr txBox="1"/>
          <p:nvPr/>
        </p:nvSpPr>
        <p:spPr>
          <a:xfrm>
            <a:off x="5029200" y="4599432"/>
            <a:ext cx="2103120" cy="502920"/>
          </a:xfrm>
          <a:prstGeom prst="rect">
            <a:avLst/>
          </a:prstGeom>
          <a:noFill/>
          <a:ln/>
        </p:spPr>
        <p:txBody>
          <a:bodyPr wrap="square" lIns="0" tIns="0" rIns="0" bIns="0" rtlCol="0" anchor="t"/>
          <a:lstStyle/>
          <a:p>
            <a:pPr algn="ctr" indent="0" marL="0">
              <a:buNone/>
            </a:pPr>
            <a:r>
              <a:rPr lang="en-US" sz="1200" i="1" dirty="0">
                <a:solidFill>
                  <a:schemeClr val="tx2"/>
                </a:solidFill>
              </a:rPr>
              <a:t>Real-time predictions, often hidden</a:t>
            </a:r>
            <a:endParaRPr lang="en-US" sz="1200" dirty="0"/>
          </a:p>
        </p:txBody>
      </p:sp>
      <p:sp>
        <p:nvSpPr>
          <p:cNvPr id="22" name="rung 4"/>
          <p:cNvSpPr/>
          <p:nvPr/>
        </p:nvSpPr>
        <p:spPr>
          <a:xfrm>
            <a:off x="7269480" y="1773936"/>
            <a:ext cx="2103120" cy="2752344"/>
          </a:xfrm>
          <a:prstGeom prst="rect">
            <a:avLst/>
          </a:prstGeom>
          <a:solidFill>
            <a:schemeClr val="accent5"/>
          </a:solidFill>
          <a:ln w="15875">
            <a:solidFill>
              <a:schemeClr val="accent1"/>
            </a:solidFill>
            <a:prstDash val="solid"/>
          </a:ln>
        </p:spPr>
      </p:sp>
      <p:sp>
        <p:nvSpPr>
          <p:cNvPr id="23" name="Shape 20"/>
          <p:cNvSpPr/>
          <p:nvPr/>
        </p:nvSpPr>
        <p:spPr>
          <a:xfrm>
            <a:off x="7406640" y="1911096"/>
            <a:ext cx="457200" cy="457200"/>
          </a:xfrm>
          <a:prstGeom prst="ellipse">
            <a:avLst/>
          </a:prstGeom>
          <a:solidFill>
            <a:schemeClr val="accent1"/>
          </a:solidFill>
          <a:ln w="12700">
            <a:solidFill>
              <a:schemeClr val="accent1"/>
            </a:solidFill>
            <a:prstDash val="solid"/>
          </a:ln>
        </p:spPr>
      </p:sp>
      <p:sp>
        <p:nvSpPr>
          <p:cNvPr id="24" name="Text 21"/>
          <p:cNvSpPr txBox="1"/>
          <p:nvPr/>
        </p:nvSpPr>
        <p:spPr>
          <a:xfrm>
            <a:off x="7406640" y="191109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5" name="Text 22"/>
          <p:cNvSpPr txBox="1"/>
          <p:nvPr/>
        </p:nvSpPr>
        <p:spPr>
          <a:xfrm>
            <a:off x="7955280" y="1865376"/>
            <a:ext cx="1325880" cy="548640"/>
          </a:xfrm>
          <a:prstGeom prst="rect">
            <a:avLst/>
          </a:prstGeom>
          <a:noFill/>
          <a:ln/>
        </p:spPr>
        <p:txBody>
          <a:bodyPr wrap="square" lIns="0" tIns="0" rIns="0" bIns="0" rtlCol="0" anchor="ctr"/>
          <a:lstStyle/>
          <a:p>
            <a:pPr indent="0" marL="0">
              <a:buNone/>
            </a:pPr>
            <a:r>
              <a:rPr lang="en-US" sz="1400" b="1" dirty="0">
                <a:solidFill>
                  <a:schemeClr val="tx1"/>
                </a:solidFill>
              </a:rPr>
              <a:t>Outcome trial</a:t>
            </a:r>
            <a:endParaRPr lang="en-US" sz="1400" dirty="0"/>
          </a:p>
        </p:txBody>
      </p:sp>
      <p:sp>
        <p:nvSpPr>
          <p:cNvPr id="26" name="Text 23"/>
          <p:cNvSpPr txBox="1"/>
          <p:nvPr/>
        </p:nvSpPr>
        <p:spPr>
          <a:xfrm>
            <a:off x="7406640" y="2505456"/>
            <a:ext cx="1828800" cy="777240"/>
          </a:xfrm>
          <a:prstGeom prst="rect">
            <a:avLst/>
          </a:prstGeom>
          <a:noFill/>
          <a:ln/>
        </p:spPr>
        <p:txBody>
          <a:bodyPr wrap="square" lIns="0" tIns="0" rIns="0" bIns="0" rtlCol="0" anchor="t"/>
          <a:lstStyle/>
          <a:p>
            <a:pPr indent="0" marL="0">
              <a:buNone/>
            </a:pPr>
            <a:r>
              <a:rPr lang="en-US" sz="1300" dirty="0">
                <a:solidFill>
                  <a:schemeClr val="tx1"/>
                </a:solidFill>
              </a:rPr>
              <a:t>Do patients do better when it is used?</a:t>
            </a:r>
            <a:endParaRPr lang="en-US" sz="1300" dirty="0"/>
          </a:p>
        </p:txBody>
      </p:sp>
      <p:sp>
        <p:nvSpPr>
          <p:cNvPr id="27" name="Text 24"/>
          <p:cNvSpPr txBox="1"/>
          <p:nvPr/>
        </p:nvSpPr>
        <p:spPr>
          <a:xfrm>
            <a:off x="7269480" y="4599432"/>
            <a:ext cx="2103120" cy="502920"/>
          </a:xfrm>
          <a:prstGeom prst="rect">
            <a:avLst/>
          </a:prstGeom>
          <a:noFill/>
          <a:ln/>
        </p:spPr>
        <p:txBody>
          <a:bodyPr wrap="square" lIns="0" tIns="0" rIns="0" bIns="0" rtlCol="0" anchor="t"/>
          <a:lstStyle/>
          <a:p>
            <a:pPr algn="ctr" indent="0" marL="0">
              <a:buNone/>
            </a:pPr>
            <a:r>
              <a:rPr lang="en-US" sz="1200" i="1" dirty="0">
                <a:solidFill>
                  <a:schemeClr val="tx2"/>
                </a:solidFill>
              </a:rPr>
              <a:t>RCT with a clinical outcome</a:t>
            </a:r>
            <a:endParaRPr lang="en-US" sz="1200" dirty="0"/>
          </a:p>
        </p:txBody>
      </p:sp>
      <p:sp>
        <p:nvSpPr>
          <p:cNvPr id="28" name="rung 5"/>
          <p:cNvSpPr/>
          <p:nvPr/>
        </p:nvSpPr>
        <p:spPr>
          <a:xfrm>
            <a:off x="9509760" y="1389888"/>
            <a:ext cx="2103120" cy="3136392"/>
          </a:xfrm>
          <a:prstGeom prst="rect">
            <a:avLst/>
          </a:prstGeom>
          <a:solidFill>
            <a:schemeClr val="bg2"/>
          </a:solidFill>
          <a:ln w="15875">
            <a:solidFill>
              <a:schemeClr val="tx2"/>
            </a:solidFill>
            <a:prstDash val="solid"/>
          </a:ln>
        </p:spPr>
      </p:sp>
      <p:sp>
        <p:nvSpPr>
          <p:cNvPr id="29" name="Shape 26"/>
          <p:cNvSpPr/>
          <p:nvPr/>
        </p:nvSpPr>
        <p:spPr>
          <a:xfrm>
            <a:off x="9646920" y="1527048"/>
            <a:ext cx="457200" cy="457200"/>
          </a:xfrm>
          <a:prstGeom prst="ellipse">
            <a:avLst/>
          </a:prstGeom>
          <a:solidFill>
            <a:schemeClr val="accent1"/>
          </a:solidFill>
          <a:ln w="12700">
            <a:solidFill>
              <a:schemeClr val="accent1"/>
            </a:solidFill>
            <a:prstDash val="solid"/>
          </a:ln>
        </p:spPr>
      </p:sp>
      <p:sp>
        <p:nvSpPr>
          <p:cNvPr id="30" name="Text 27"/>
          <p:cNvSpPr txBox="1"/>
          <p:nvPr/>
        </p:nvSpPr>
        <p:spPr>
          <a:xfrm>
            <a:off x="9646920" y="152704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1" name="Text 28"/>
          <p:cNvSpPr txBox="1"/>
          <p:nvPr/>
        </p:nvSpPr>
        <p:spPr>
          <a:xfrm>
            <a:off x="10195560" y="1481328"/>
            <a:ext cx="1325880" cy="548640"/>
          </a:xfrm>
          <a:prstGeom prst="rect">
            <a:avLst/>
          </a:prstGeom>
          <a:noFill/>
          <a:ln/>
        </p:spPr>
        <p:txBody>
          <a:bodyPr wrap="square" lIns="0" tIns="0" rIns="0" bIns="0" rtlCol="0" anchor="ctr"/>
          <a:lstStyle/>
          <a:p>
            <a:pPr indent="0" marL="0">
              <a:buNone/>
            </a:pPr>
            <a:r>
              <a:rPr lang="en-US" sz="1400" b="1" dirty="0">
                <a:solidFill>
                  <a:schemeClr val="tx1"/>
                </a:solidFill>
              </a:rPr>
              <a:t>Implementation &amp; value</a:t>
            </a:r>
            <a:endParaRPr lang="en-US" sz="1400" dirty="0"/>
          </a:p>
        </p:txBody>
      </p:sp>
      <p:sp>
        <p:nvSpPr>
          <p:cNvPr id="32" name="Text 29"/>
          <p:cNvSpPr txBox="1"/>
          <p:nvPr/>
        </p:nvSpPr>
        <p:spPr>
          <a:xfrm>
            <a:off x="9646920" y="2121408"/>
            <a:ext cx="1828800" cy="777240"/>
          </a:xfrm>
          <a:prstGeom prst="rect">
            <a:avLst/>
          </a:prstGeom>
          <a:noFill/>
          <a:ln/>
        </p:spPr>
        <p:txBody>
          <a:bodyPr wrap="square" lIns="0" tIns="0" rIns="0" bIns="0" rtlCol="0" anchor="t"/>
          <a:lstStyle/>
          <a:p>
            <a:pPr indent="0" marL="0">
              <a:buNone/>
            </a:pPr>
            <a:r>
              <a:rPr lang="en-US" sz="1300" dirty="0">
                <a:solidFill>
                  <a:schemeClr val="tx1"/>
                </a:solidFill>
              </a:rPr>
              <a:t>Does it fit the workflow? Is it worth it?</a:t>
            </a:r>
            <a:endParaRPr lang="en-US" sz="1300" dirty="0"/>
          </a:p>
        </p:txBody>
      </p:sp>
      <p:sp>
        <p:nvSpPr>
          <p:cNvPr id="33" name="Text 30"/>
          <p:cNvSpPr txBox="1"/>
          <p:nvPr/>
        </p:nvSpPr>
        <p:spPr>
          <a:xfrm>
            <a:off x="9509760" y="4599432"/>
            <a:ext cx="2103120" cy="502920"/>
          </a:xfrm>
          <a:prstGeom prst="rect">
            <a:avLst/>
          </a:prstGeom>
          <a:noFill/>
          <a:ln/>
        </p:spPr>
        <p:txBody>
          <a:bodyPr wrap="square" lIns="0" tIns="0" rIns="0" bIns="0" rtlCol="0" anchor="t"/>
          <a:lstStyle/>
          <a:p>
            <a:pPr algn="ctr" indent="0" marL="0">
              <a:buNone/>
            </a:pPr>
            <a:r>
              <a:rPr lang="en-US" sz="1200" i="1" dirty="0">
                <a:solidFill>
                  <a:schemeClr val="tx2"/>
                </a:solidFill>
              </a:rPr>
              <a:t>Uptake, workload, cost, equity</a:t>
            </a:r>
            <a:endParaRPr lang="en-US" sz="1200" dirty="0"/>
          </a:p>
        </p:txBody>
      </p:sp>
      <p:sp>
        <p:nvSpPr>
          <p:cNvPr id="34" name="Text 31"/>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400" dirty="0">
                <a:solidFill>
                  <a:schemeClr val="tx2"/>
                </a:solidFill>
              </a:rPr>
              <a:t>Higher rung = stronger evidence  →</a:t>
            </a:r>
            <a:endParaRPr lang="en-US" sz="1400" dirty="0"/>
          </a:p>
        </p:txBody>
      </p:sp>
      <p:sp>
        <p:nvSpPr>
          <p:cNvPr id="35" name="lesson"/>
          <p:cNvSpPr/>
          <p:nvPr/>
        </p:nvSpPr>
        <p:spPr>
          <a:xfrm>
            <a:off x="548640" y="5349240"/>
            <a:ext cx="11064240" cy="685800"/>
          </a:xfrm>
          <a:prstGeom prst="roundRect">
            <a:avLst>
              <a:gd name="adj" fmla="val 16000"/>
            </a:avLst>
          </a:prstGeom>
          <a:solidFill>
            <a:schemeClr val="accent6"/>
          </a:solidFill>
          <a:ln w="12700">
            <a:solidFill>
              <a:schemeClr val="accent6"/>
            </a:solidFill>
            <a:prstDash val="solid"/>
          </a:ln>
        </p:spPr>
      </p:sp>
      <p:sp>
        <p:nvSpPr>
          <p:cNvPr id="36" name="Text 33"/>
          <p:cNvSpPr txBox="1"/>
          <p:nvPr/>
        </p:nvSpPr>
        <p:spPr>
          <a:xfrm>
            <a:off x="777240" y="5349240"/>
            <a:ext cx="10607040" cy="685800"/>
          </a:xfrm>
          <a:prstGeom prst="rect">
            <a:avLst/>
          </a:prstGeom>
          <a:noFill/>
          <a:ln/>
        </p:spPr>
        <p:txBody>
          <a:bodyPr wrap="square" lIns="0" tIns="0" rIns="0" bIns="0" rtlCol="0" anchor="ctr"/>
          <a:lstStyle/>
          <a:p>
            <a:pPr indent="0" marL="0">
              <a:buNone/>
            </a:pPr>
            <a:r>
              <a:rPr lang="en-US" sz="1700" b="1" dirty="0">
                <a:solidFill>
                  <a:schemeClr val="accent3"/>
                </a:solidFill>
              </a:rPr>
              <a:t>Hype  </a:t>
            </a:r>
            <a:r>
              <a:rPr lang="en-US" sz="1700" dirty="0">
                <a:solidFill>
                  <a:schemeClr val="tx1"/>
                </a:solidFill>
              </a:rPr>
              <a:t>usually means treating rung 1 as if it were rung 4.</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Most studies stop at rung 1</a:t>
            </a:r>
            <a:endParaRPr lang="en-US" sz="3200" dirty="0"/>
          </a:p>
        </p:txBody>
      </p:sp>
      <p:sp>
        <p:nvSpPr>
          <p:cNvPr id="4" name="Text 1"/>
          <p:cNvSpPr txBox="1"/>
          <p:nvPr/>
        </p:nvSpPr>
        <p:spPr>
          <a:xfrm>
            <a:off x="548640" y="1280160"/>
            <a:ext cx="11064240" cy="365760"/>
          </a:xfrm>
          <a:prstGeom prst="rect">
            <a:avLst/>
          </a:prstGeom>
          <a:noFill/>
          <a:ln/>
        </p:spPr>
        <p:txBody>
          <a:bodyPr wrap="square" lIns="0" tIns="0" rIns="0" bIns="0" rtlCol="0" anchor="t"/>
          <a:lstStyle/>
          <a:p>
            <a:pPr indent="0" marL="0">
              <a:buNone/>
            </a:pPr>
            <a:r>
              <a:rPr lang="en-US" sz="1500" dirty="0">
                <a:solidFill>
                  <a:schemeClr val="tx2"/>
                </a:solidFill>
              </a:rPr>
              <a:t>Nagendran et al., 2020 · 81 imaging studies comparing deep learning with clinicians</a:t>
            </a:r>
            <a:endParaRPr lang="en-US" sz="1500" dirty="0"/>
          </a:p>
        </p:txBody>
      </p:sp>
      <p:sp>
        <p:nvSpPr>
          <p:cNvPr id="5" name="were prospective (11%)"/>
          <p:cNvSpPr/>
          <p:nvPr/>
        </p:nvSpPr>
        <p:spPr>
          <a:xfrm>
            <a:off x="548640" y="1737360"/>
            <a:ext cx="3566160" cy="1645920"/>
          </a:xfrm>
          <a:prstGeom prst="roundRect">
            <a:avLst>
              <a:gd name="adj" fmla="val 6667"/>
            </a:avLst>
          </a:prstGeom>
          <a:solidFill>
            <a:schemeClr val="bg2"/>
          </a:solidFill>
          <a:ln w="12700">
            <a:solidFill>
              <a:schemeClr val="bg2"/>
            </a:solidFill>
            <a:prstDash val="solid"/>
          </a:ln>
        </p:spPr>
      </p:sp>
      <p:sp>
        <p:nvSpPr>
          <p:cNvPr id="6" name="Text 3"/>
          <p:cNvSpPr txBox="1"/>
          <p:nvPr/>
        </p:nvSpPr>
        <p:spPr>
          <a:xfrm>
            <a:off x="777240" y="1847088"/>
            <a:ext cx="3108960" cy="640080"/>
          </a:xfrm>
          <a:prstGeom prst="rect">
            <a:avLst/>
          </a:prstGeom>
          <a:noFill/>
          <a:ln/>
        </p:spPr>
        <p:txBody>
          <a:bodyPr wrap="square" lIns="0" tIns="0" rIns="0" bIns="0" rtlCol="0" anchor="b"/>
          <a:lstStyle/>
          <a:p>
            <a:pPr indent="0" marL="0">
              <a:buNone/>
            </a:pPr>
            <a:r>
              <a:rPr lang="en-US" sz="3400" b="1" dirty="0">
                <a:solidFill>
                  <a:schemeClr val="tx1"/>
                </a:solidFill>
                <a:latin typeface="Cambria" pitchFamily="34" charset="0"/>
                <a:ea typeface="Cambria" pitchFamily="34" charset="-122"/>
                <a:cs typeface="Cambria" pitchFamily="34" charset="-120"/>
              </a:rPr>
              <a:t>9 of 81</a:t>
            </a:r>
            <a:endParaRPr lang="en-US" sz="3400" dirty="0"/>
          </a:p>
        </p:txBody>
      </p:sp>
      <p:sp>
        <p:nvSpPr>
          <p:cNvPr id="7" name="Text 4"/>
          <p:cNvSpPr txBox="1"/>
          <p:nvPr/>
        </p:nvSpPr>
        <p:spPr>
          <a:xfrm>
            <a:off x="777240" y="2542032"/>
            <a:ext cx="3108960" cy="749808"/>
          </a:xfrm>
          <a:prstGeom prst="rect">
            <a:avLst/>
          </a:prstGeom>
          <a:noFill/>
          <a:ln/>
        </p:spPr>
        <p:txBody>
          <a:bodyPr wrap="square" lIns="0" tIns="0" rIns="0" bIns="0" rtlCol="0" anchor="t"/>
          <a:lstStyle/>
          <a:p>
            <a:pPr indent="0" marL="0">
              <a:buNone/>
            </a:pPr>
            <a:r>
              <a:rPr lang="en-US" sz="1400" dirty="0">
                <a:solidFill>
                  <a:schemeClr val="tx2"/>
                </a:solidFill>
              </a:rPr>
              <a:t>were prospective (11%)</a:t>
            </a:r>
            <a:endParaRPr lang="en-US" sz="1400" dirty="0"/>
          </a:p>
        </p:txBody>
      </p:sp>
      <p:sp>
        <p:nvSpPr>
          <p:cNvPr id="8" name="tested in a real clinical setting (7%)"/>
          <p:cNvSpPr/>
          <p:nvPr/>
        </p:nvSpPr>
        <p:spPr>
          <a:xfrm>
            <a:off x="4297680" y="1737360"/>
            <a:ext cx="3566160" cy="1645920"/>
          </a:xfrm>
          <a:prstGeom prst="roundRect">
            <a:avLst>
              <a:gd name="adj" fmla="val 6667"/>
            </a:avLst>
          </a:prstGeom>
          <a:solidFill>
            <a:schemeClr val="bg2"/>
          </a:solidFill>
          <a:ln w="12700">
            <a:solidFill>
              <a:schemeClr val="bg2"/>
            </a:solidFill>
            <a:prstDash val="solid"/>
          </a:ln>
        </p:spPr>
      </p:sp>
      <p:sp>
        <p:nvSpPr>
          <p:cNvPr id="9" name="Text 6"/>
          <p:cNvSpPr txBox="1"/>
          <p:nvPr/>
        </p:nvSpPr>
        <p:spPr>
          <a:xfrm>
            <a:off x="4526280" y="1847088"/>
            <a:ext cx="3108960" cy="640080"/>
          </a:xfrm>
          <a:prstGeom prst="rect">
            <a:avLst/>
          </a:prstGeom>
          <a:noFill/>
          <a:ln/>
        </p:spPr>
        <p:txBody>
          <a:bodyPr wrap="square" lIns="0" tIns="0" rIns="0" bIns="0" rtlCol="0" anchor="b"/>
          <a:lstStyle/>
          <a:p>
            <a:pPr indent="0" marL="0">
              <a:buNone/>
            </a:pPr>
            <a:r>
              <a:rPr lang="en-US" sz="3400" b="1" dirty="0">
                <a:solidFill>
                  <a:schemeClr val="tx1"/>
                </a:solidFill>
                <a:latin typeface="Cambria" pitchFamily="34" charset="0"/>
                <a:ea typeface="Cambria" pitchFamily="34" charset="-122"/>
                <a:cs typeface="Cambria" pitchFamily="34" charset="-120"/>
              </a:rPr>
              <a:t>6 of 81</a:t>
            </a:r>
            <a:endParaRPr lang="en-US" sz="3400" dirty="0"/>
          </a:p>
        </p:txBody>
      </p:sp>
      <p:sp>
        <p:nvSpPr>
          <p:cNvPr id="10" name="Text 7"/>
          <p:cNvSpPr txBox="1"/>
          <p:nvPr/>
        </p:nvSpPr>
        <p:spPr>
          <a:xfrm>
            <a:off x="4526280" y="2542032"/>
            <a:ext cx="3108960" cy="749808"/>
          </a:xfrm>
          <a:prstGeom prst="rect">
            <a:avLst/>
          </a:prstGeom>
          <a:noFill/>
          <a:ln/>
        </p:spPr>
        <p:txBody>
          <a:bodyPr wrap="square" lIns="0" tIns="0" rIns="0" bIns="0" rtlCol="0" anchor="t"/>
          <a:lstStyle/>
          <a:p>
            <a:pPr indent="0" marL="0">
              <a:buNone/>
            </a:pPr>
            <a:r>
              <a:rPr lang="en-US" sz="1400" dirty="0">
                <a:solidFill>
                  <a:schemeClr val="tx2"/>
                </a:solidFill>
              </a:rPr>
              <a:t>tested in a real clinical setting (7%)</a:t>
            </a:r>
            <a:endParaRPr lang="en-US" sz="1400" dirty="0"/>
          </a:p>
        </p:txBody>
      </p:sp>
      <p:sp>
        <p:nvSpPr>
          <p:cNvPr id="11" name="claimed AI at least comparable to clinicians (75%)"/>
          <p:cNvSpPr/>
          <p:nvPr/>
        </p:nvSpPr>
        <p:spPr>
          <a:xfrm>
            <a:off x="8046720" y="1737360"/>
            <a:ext cx="3566160" cy="1645920"/>
          </a:xfrm>
          <a:prstGeom prst="roundRect">
            <a:avLst>
              <a:gd name="adj" fmla="val 6667"/>
            </a:avLst>
          </a:prstGeom>
          <a:solidFill>
            <a:schemeClr val="accent6"/>
          </a:solidFill>
          <a:ln w="12700">
            <a:solidFill>
              <a:schemeClr val="accent6"/>
            </a:solidFill>
            <a:prstDash val="solid"/>
          </a:ln>
        </p:spPr>
      </p:sp>
      <p:sp>
        <p:nvSpPr>
          <p:cNvPr id="12" name="Text 9"/>
          <p:cNvSpPr txBox="1"/>
          <p:nvPr/>
        </p:nvSpPr>
        <p:spPr>
          <a:xfrm>
            <a:off x="8275320" y="1847088"/>
            <a:ext cx="3108960" cy="640080"/>
          </a:xfrm>
          <a:prstGeom prst="rect">
            <a:avLst/>
          </a:prstGeom>
          <a:noFill/>
          <a:ln/>
        </p:spPr>
        <p:txBody>
          <a:bodyPr wrap="square" lIns="0" tIns="0" rIns="0" bIns="0" rtlCol="0" anchor="b"/>
          <a:lstStyle/>
          <a:p>
            <a:pPr indent="0" marL="0">
              <a:buNone/>
            </a:pPr>
            <a:r>
              <a:rPr lang="en-US" sz="3400" b="1" dirty="0">
                <a:solidFill>
                  <a:schemeClr val="accent3"/>
                </a:solidFill>
                <a:latin typeface="Cambria" pitchFamily="34" charset="0"/>
                <a:ea typeface="Cambria" pitchFamily="34" charset="-122"/>
                <a:cs typeface="Cambria" pitchFamily="34" charset="-120"/>
              </a:rPr>
              <a:t>61 of 81</a:t>
            </a:r>
            <a:endParaRPr lang="en-US" sz="3400" dirty="0"/>
          </a:p>
        </p:txBody>
      </p:sp>
      <p:sp>
        <p:nvSpPr>
          <p:cNvPr id="13" name="Text 10"/>
          <p:cNvSpPr txBox="1"/>
          <p:nvPr/>
        </p:nvSpPr>
        <p:spPr>
          <a:xfrm>
            <a:off x="8275320" y="2542032"/>
            <a:ext cx="3108960" cy="749808"/>
          </a:xfrm>
          <a:prstGeom prst="rect">
            <a:avLst/>
          </a:prstGeom>
          <a:noFill/>
          <a:ln/>
        </p:spPr>
        <p:txBody>
          <a:bodyPr wrap="square" lIns="0" tIns="0" rIns="0" bIns="0" rtlCol="0" anchor="t"/>
          <a:lstStyle/>
          <a:p>
            <a:pPr indent="0" marL="0">
              <a:buNone/>
            </a:pPr>
            <a:r>
              <a:rPr lang="en-US" sz="1400" dirty="0">
                <a:solidFill>
                  <a:schemeClr val="tx2"/>
                </a:solidFill>
              </a:rPr>
              <a:t>claimed AI at least comparable to clinicians (75%)</a:t>
            </a:r>
            <a:endParaRPr lang="en-US" sz="1400" dirty="0"/>
          </a:p>
        </p:txBody>
      </p:sp>
      <p:sp>
        <p:nvSpPr>
          <p:cNvPr id="14" name="Text 11"/>
          <p:cNvSpPr txBox="1"/>
          <p:nvPr/>
        </p:nvSpPr>
        <p:spPr>
          <a:xfrm>
            <a:off x="548640" y="3611880"/>
            <a:ext cx="11064240" cy="365760"/>
          </a:xfrm>
          <a:prstGeom prst="rect">
            <a:avLst/>
          </a:prstGeom>
          <a:noFill/>
          <a:ln/>
        </p:spPr>
        <p:txBody>
          <a:bodyPr wrap="square" lIns="0" tIns="0" rIns="0" bIns="0" rtlCol="0" anchor="t"/>
          <a:lstStyle/>
          <a:p>
            <a:pPr indent="0" marL="0">
              <a:buNone/>
            </a:pPr>
            <a:r>
              <a:rPr lang="en-US" sz="1500" dirty="0">
                <a:solidFill>
                  <a:schemeClr val="tx2"/>
                </a:solidFill>
              </a:rPr>
              <a:t>Plana et al., 2022 · randomised trials of machine-learning interventions</a:t>
            </a:r>
            <a:endParaRPr lang="en-US" sz="1500" dirty="0"/>
          </a:p>
        </p:txBody>
      </p:sp>
      <p:sp>
        <p:nvSpPr>
          <p:cNvPr id="15" name="up to October 2021, many at single sites"/>
          <p:cNvSpPr/>
          <p:nvPr/>
        </p:nvSpPr>
        <p:spPr>
          <a:xfrm>
            <a:off x="548640" y="4069080"/>
            <a:ext cx="3566160" cy="1188720"/>
          </a:xfrm>
          <a:prstGeom prst="roundRect">
            <a:avLst>
              <a:gd name="adj" fmla="val 9231"/>
            </a:avLst>
          </a:prstGeom>
          <a:solidFill>
            <a:schemeClr val="bg2"/>
          </a:solidFill>
          <a:ln w="12700">
            <a:solidFill>
              <a:schemeClr val="bg2"/>
            </a:solidFill>
            <a:prstDash val="solid"/>
          </a:ln>
        </p:spPr>
      </p:sp>
      <p:sp>
        <p:nvSpPr>
          <p:cNvPr id="16" name="Text 13"/>
          <p:cNvSpPr txBox="1"/>
          <p:nvPr/>
        </p:nvSpPr>
        <p:spPr>
          <a:xfrm>
            <a:off x="777240" y="4178808"/>
            <a:ext cx="3108960" cy="640080"/>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41 RCTs</a:t>
            </a:r>
            <a:endParaRPr lang="en-US" sz="3000" dirty="0"/>
          </a:p>
        </p:txBody>
      </p:sp>
      <p:sp>
        <p:nvSpPr>
          <p:cNvPr id="17" name="Text 14"/>
          <p:cNvSpPr txBox="1"/>
          <p:nvPr/>
        </p:nvSpPr>
        <p:spPr>
          <a:xfrm>
            <a:off x="777240" y="4873752"/>
            <a:ext cx="3108960" cy="292608"/>
          </a:xfrm>
          <a:prstGeom prst="rect">
            <a:avLst/>
          </a:prstGeom>
          <a:noFill/>
          <a:ln/>
        </p:spPr>
        <p:txBody>
          <a:bodyPr wrap="square" lIns="0" tIns="0" rIns="0" bIns="0" rtlCol="0" anchor="t"/>
          <a:lstStyle/>
          <a:p>
            <a:pPr indent="0" marL="0">
              <a:buNone/>
            </a:pPr>
            <a:r>
              <a:rPr lang="en-US" sz="1400" dirty="0">
                <a:solidFill>
                  <a:schemeClr val="tx2"/>
                </a:solidFill>
              </a:rPr>
              <a:t>up to October 2021, many at single sites</a:t>
            </a:r>
            <a:endParaRPr lang="en-US" sz="1400" dirty="0"/>
          </a:p>
        </p:txBody>
      </p:sp>
      <p:sp>
        <p:nvSpPr>
          <p:cNvPr id="18" name="consort"/>
          <p:cNvSpPr/>
          <p:nvPr/>
        </p:nvSpPr>
        <p:spPr>
          <a:xfrm>
            <a:off x="4297680" y="4069080"/>
            <a:ext cx="7315200" cy="1188720"/>
          </a:xfrm>
          <a:prstGeom prst="roundRect">
            <a:avLst>
              <a:gd name="adj" fmla="val 9231"/>
            </a:avLst>
          </a:prstGeom>
          <a:solidFill>
            <a:schemeClr val="bg2"/>
          </a:solidFill>
          <a:ln w="12700">
            <a:solidFill>
              <a:schemeClr val="bg2"/>
            </a:solidFill>
            <a:prstDash val="solid"/>
          </a:ln>
        </p:spPr>
      </p:sp>
      <p:sp>
        <p:nvSpPr>
          <p:cNvPr id="19" name="Text 16"/>
          <p:cNvSpPr txBox="1"/>
          <p:nvPr/>
        </p:nvSpPr>
        <p:spPr>
          <a:xfrm>
            <a:off x="4526280" y="4069080"/>
            <a:ext cx="6858000" cy="1188720"/>
          </a:xfrm>
          <a:prstGeom prst="rect">
            <a:avLst/>
          </a:prstGeom>
          <a:noFill/>
          <a:ln/>
        </p:spPr>
        <p:txBody>
          <a:bodyPr wrap="square" lIns="0" tIns="0" rIns="0" bIns="0" rtlCol="0" anchor="ctr"/>
          <a:lstStyle/>
          <a:p>
            <a:pPr indent="0" marL="0">
              <a:buNone/>
            </a:pPr>
            <a:r>
              <a:rPr lang="en-US" sz="1800" b="1" dirty="0">
                <a:solidFill>
                  <a:schemeClr val="tx1"/>
                </a:solidFill>
              </a:rPr>
              <a:t>None</a:t>
            </a:r>
            <a:r>
              <a:rPr lang="en-US" sz="1800" dirty="0">
                <a:solidFill>
                  <a:schemeClr val="tx1"/>
                </a:solidFill>
              </a:rPr>
              <a:t> fully followed the CONSORT-AI reporting guideline</a:t>
            </a:r>
            <a:endParaRPr lang="en-US" sz="1800" dirty="0"/>
          </a:p>
        </p:txBody>
      </p:sp>
      <p:sp>
        <p:nvSpPr>
          <p:cNvPr id="20" name="lesson"/>
          <p:cNvSpPr/>
          <p:nvPr/>
        </p:nvSpPr>
        <p:spPr>
          <a:xfrm>
            <a:off x="548640" y="5486400"/>
            <a:ext cx="11064240" cy="685800"/>
          </a:xfrm>
          <a:prstGeom prst="roundRect">
            <a:avLst>
              <a:gd name="adj" fmla="val 16000"/>
            </a:avLst>
          </a:prstGeom>
          <a:solidFill>
            <a:schemeClr val="accent5"/>
          </a:solidFill>
          <a:ln w="12700">
            <a:solidFill>
              <a:schemeClr val="accent5"/>
            </a:solidFill>
            <a:prstDash val="solid"/>
          </a:ln>
        </p:spPr>
      </p:sp>
      <p:sp>
        <p:nvSpPr>
          <p:cNvPr id="21" name="Text 18"/>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700" b="1" dirty="0">
                <a:solidFill>
                  <a:schemeClr val="accent1"/>
                </a:solidFill>
              </a:rPr>
              <a:t>Rule of thumb  </a:t>
            </a:r>
            <a:r>
              <a:rPr lang="en-US" sz="1700" dirty="0">
                <a:solidFill>
                  <a:schemeClr val="tx1"/>
                </a:solidFill>
              </a:rPr>
              <a:t>the higher the stakes of the decision, the higher the rung the evidence should reach.</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Sepsis: wide use, weak results</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CASE 1  </a:t>
            </a:r>
            <a:r>
              <a:rPr lang="en-US" sz="1400" dirty="0">
                <a:solidFill>
                  <a:schemeClr val="tx1"/>
                </a:solidFill>
              </a:rPr>
              <a:t>rung 2</a:t>
            </a:r>
            <a:endParaRPr lang="en-US" sz="1400" dirty="0"/>
          </a:p>
        </p:txBody>
      </p:sp>
      <p:sp>
        <p:nvSpPr>
          <p:cNvPr id="6" name="Text 3"/>
          <p:cNvSpPr txBox="1"/>
          <p:nvPr/>
        </p:nvSpPr>
        <p:spPr>
          <a:xfrm>
            <a:off x="548640" y="1234440"/>
            <a:ext cx="11064240" cy="777240"/>
          </a:xfrm>
          <a:prstGeom prst="rect">
            <a:avLst/>
          </a:prstGeom>
          <a:noFill/>
          <a:ln/>
        </p:spPr>
        <p:txBody>
          <a:bodyPr wrap="square" lIns="0" tIns="0" rIns="0" bIns="0" rtlCol="0" anchor="t"/>
          <a:lstStyle/>
          <a:p>
            <a:pPr indent="0" marL="0">
              <a:buNone/>
            </a:pPr>
            <a:r>
              <a:rPr lang="en-US" sz="1600" b="1" dirty="0">
                <a:solidFill>
                  <a:schemeClr val="tx1"/>
                </a:solidFill>
              </a:rPr>
              <a:t>Sepsis: </a:t>
            </a:r>
            <a:r>
              <a:rPr lang="en-US" sz="1600" dirty="0">
                <a:solidFill>
                  <a:schemeClr val="tx1"/>
                </a:solidFill>
              </a:rPr>
              <a:t>a life-threatening response to infection, where early antibiotics matter. A vendor's proprietary model was used at hundreds of US hospitals; an independent team checked it on 38,455 hospitalisations.</a:t>
            </a:r>
            <a:endParaRPr lang="en-US" sz="1600" dirty="0"/>
          </a:p>
        </p:txBody>
      </p:sp>
      <p:sp>
        <p:nvSpPr>
          <p:cNvPr id="7" name="hospitalisation level (95% CI 0.62–0.64)"/>
          <p:cNvSpPr/>
          <p:nvPr/>
        </p:nvSpPr>
        <p:spPr>
          <a:xfrm>
            <a:off x="548640" y="2194560"/>
            <a:ext cx="3291840" cy="1463040"/>
          </a:xfrm>
          <a:prstGeom prst="roundRect">
            <a:avLst>
              <a:gd name="adj" fmla="val 7500"/>
            </a:avLst>
          </a:prstGeom>
          <a:solidFill>
            <a:schemeClr val="bg2"/>
          </a:solidFill>
          <a:ln w="12700">
            <a:solidFill>
              <a:schemeClr val="bg2"/>
            </a:solidFill>
            <a:prstDash val="solid"/>
          </a:ln>
        </p:spPr>
      </p:sp>
      <p:sp>
        <p:nvSpPr>
          <p:cNvPr id="8" name="Text 5"/>
          <p:cNvSpPr txBox="1"/>
          <p:nvPr/>
        </p:nvSpPr>
        <p:spPr>
          <a:xfrm>
            <a:off x="777240" y="2304288"/>
            <a:ext cx="2834640" cy="640080"/>
          </a:xfrm>
          <a:prstGeom prst="rect">
            <a:avLst/>
          </a:prstGeom>
          <a:noFill/>
          <a:ln/>
        </p:spPr>
        <p:txBody>
          <a:bodyPr wrap="square" lIns="0" tIns="0" rIns="0" bIns="0" rtlCol="0" anchor="b"/>
          <a:lstStyle/>
          <a:p>
            <a:pPr indent="0" marL="0">
              <a:buNone/>
            </a:pPr>
            <a:r>
              <a:rPr lang="en-US" sz="3200" b="1" dirty="0">
                <a:solidFill>
                  <a:schemeClr val="tx1"/>
                </a:solidFill>
                <a:latin typeface="Cambria" pitchFamily="34" charset="0"/>
                <a:ea typeface="Cambria" pitchFamily="34" charset="-122"/>
                <a:cs typeface="Cambria" pitchFamily="34" charset="-120"/>
              </a:rPr>
              <a:t>AUC 0.63</a:t>
            </a:r>
            <a:endParaRPr lang="en-US" sz="3200" dirty="0"/>
          </a:p>
        </p:txBody>
      </p:sp>
      <p:sp>
        <p:nvSpPr>
          <p:cNvPr id="9" name="Text 6"/>
          <p:cNvSpPr txBox="1"/>
          <p:nvPr/>
        </p:nvSpPr>
        <p:spPr>
          <a:xfrm>
            <a:off x="777240" y="2999232"/>
            <a:ext cx="2834640" cy="566928"/>
          </a:xfrm>
          <a:prstGeom prst="rect">
            <a:avLst/>
          </a:prstGeom>
          <a:noFill/>
          <a:ln/>
        </p:spPr>
        <p:txBody>
          <a:bodyPr wrap="square" lIns="0" tIns="0" rIns="0" bIns="0" rtlCol="0" anchor="t"/>
          <a:lstStyle/>
          <a:p>
            <a:pPr indent="0" marL="0">
              <a:buNone/>
            </a:pPr>
            <a:r>
              <a:rPr lang="en-US" sz="1400" dirty="0">
                <a:solidFill>
                  <a:schemeClr val="tx2"/>
                </a:solidFill>
              </a:rPr>
              <a:t>hospitalisation level (95% CI 0.62–0.64)</a:t>
            </a:r>
            <a:endParaRPr lang="en-US" sz="1400" dirty="0"/>
          </a:p>
        </p:txBody>
      </p:sp>
      <p:sp>
        <p:nvSpPr>
          <p:cNvPr id="10" name="of hospitalisations triggered an alert (6,971)"/>
          <p:cNvSpPr/>
          <p:nvPr/>
        </p:nvSpPr>
        <p:spPr>
          <a:xfrm>
            <a:off x="548640" y="3794760"/>
            <a:ext cx="3291840" cy="1463040"/>
          </a:xfrm>
          <a:prstGeom prst="roundRect">
            <a:avLst>
              <a:gd name="adj" fmla="val 7500"/>
            </a:avLst>
          </a:prstGeom>
          <a:solidFill>
            <a:schemeClr val="accent6"/>
          </a:solidFill>
          <a:ln w="12700">
            <a:solidFill>
              <a:schemeClr val="accent6"/>
            </a:solidFill>
            <a:prstDash val="solid"/>
          </a:ln>
        </p:spPr>
      </p:sp>
      <p:sp>
        <p:nvSpPr>
          <p:cNvPr id="11" name="Text 8"/>
          <p:cNvSpPr txBox="1"/>
          <p:nvPr/>
        </p:nvSpPr>
        <p:spPr>
          <a:xfrm>
            <a:off x="777240" y="3904488"/>
            <a:ext cx="2834640" cy="640080"/>
          </a:xfrm>
          <a:prstGeom prst="rect">
            <a:avLst/>
          </a:prstGeom>
          <a:noFill/>
          <a:ln/>
        </p:spPr>
        <p:txBody>
          <a:bodyPr wrap="square" lIns="0" tIns="0" rIns="0" bIns="0" rtlCol="0" anchor="b"/>
          <a:lstStyle/>
          <a:p>
            <a:pPr indent="0" marL="0">
              <a:buNone/>
            </a:pPr>
            <a:r>
              <a:rPr lang="en-US" sz="3200" b="1" dirty="0">
                <a:solidFill>
                  <a:schemeClr val="accent3"/>
                </a:solidFill>
                <a:latin typeface="Cambria" pitchFamily="34" charset="0"/>
                <a:ea typeface="Cambria" pitchFamily="34" charset="-122"/>
                <a:cs typeface="Cambria" pitchFamily="34" charset="-120"/>
              </a:rPr>
              <a:t>18%</a:t>
            </a:r>
            <a:endParaRPr lang="en-US" sz="3200" dirty="0"/>
          </a:p>
        </p:txBody>
      </p:sp>
      <p:sp>
        <p:nvSpPr>
          <p:cNvPr id="12" name="Text 9"/>
          <p:cNvSpPr txBox="1"/>
          <p:nvPr/>
        </p:nvSpPr>
        <p:spPr>
          <a:xfrm>
            <a:off x="777240" y="4599432"/>
            <a:ext cx="2834640" cy="566928"/>
          </a:xfrm>
          <a:prstGeom prst="rect">
            <a:avLst/>
          </a:prstGeom>
          <a:noFill/>
          <a:ln/>
        </p:spPr>
        <p:txBody>
          <a:bodyPr wrap="square" lIns="0" tIns="0" rIns="0" bIns="0" rtlCol="0" anchor="t"/>
          <a:lstStyle/>
          <a:p>
            <a:pPr indent="0" marL="0">
              <a:buNone/>
            </a:pPr>
            <a:r>
              <a:rPr lang="en-US" sz="1400" dirty="0">
                <a:solidFill>
                  <a:schemeClr val="tx2"/>
                </a:solidFill>
              </a:rPr>
              <a:t>of hospitalisations triggered an alert (6,971)</a:t>
            </a:r>
            <a:endParaRPr lang="en-US" sz="1400" dirty="0"/>
          </a:p>
        </p:txBody>
      </p:sp>
      <p:graphicFrame>
        <p:nvGraphicFramePr>
          <p:cNvPr id="13" name="Chart 0" descr=""/>
          <p:cNvGraphicFramePr/>
          <p:nvPr/>
        </p:nvGraphicFramePr>
        <p:xfrm>
          <a:off x="4114800" y="2103120"/>
          <a:ext cx="7498080" cy="3200400"/>
        </p:xfrm>
        <a:graphic xmlns:a="http://schemas.openxmlformats.org/drawingml/2006/main">
          <a:graphicData uri="http://schemas.openxmlformats.org/drawingml/2006/chart">
            <c:chart xmlns:c="http://schemas.openxmlformats.org/drawingml/2006/chart" r:id="rId1"/>
          </a:graphicData>
        </a:graphic>
      </p:graphicFrame>
      <p:sp>
        <p:nvSpPr>
          <p:cNvPr id="14" name="lesson"/>
          <p:cNvSpPr/>
          <p:nvPr/>
        </p:nvSpPr>
        <p:spPr>
          <a:xfrm>
            <a:off x="548640" y="5486400"/>
            <a:ext cx="11064240" cy="685800"/>
          </a:xfrm>
          <a:prstGeom prst="roundRect">
            <a:avLst>
              <a:gd name="adj" fmla="val 16000"/>
            </a:avLst>
          </a:prstGeom>
          <a:solidFill>
            <a:schemeClr val="accent6"/>
          </a:solidFill>
          <a:ln w="12700">
            <a:solidFill>
              <a:schemeClr val="accent6"/>
            </a:solidFill>
            <a:prstDash val="solid"/>
          </a:ln>
        </p:spPr>
      </p:sp>
      <p:sp>
        <p:nvSpPr>
          <p:cNvPr id="15" name="Text 11"/>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700" b="1" dirty="0">
                <a:solidFill>
                  <a:schemeClr val="accent3"/>
                </a:solidFill>
              </a:rPr>
              <a:t>Lesson  </a:t>
            </a:r>
            <a:r>
              <a:rPr lang="en-US" sz="1700" dirty="0">
                <a:solidFill>
                  <a:schemeClr val="tx1"/>
                </a:solidFill>
              </a:rPr>
              <a:t>wide adoption is not evidence. It was in use before rung 2 was reached at this site.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IDx-DR: hope done properly</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CASE 2  </a:t>
            </a:r>
            <a:r>
              <a:rPr lang="en-US" sz="1400" dirty="0">
                <a:solidFill>
                  <a:schemeClr val="tx1"/>
                </a:solidFill>
              </a:rPr>
              <a:t>rung 3</a:t>
            </a:r>
            <a:endParaRPr lang="en-US" sz="1400" dirty="0"/>
          </a:p>
        </p:txBody>
      </p:sp>
      <p:sp>
        <p:nvSpPr>
          <p:cNvPr id="6" name="Text 3"/>
          <p:cNvSpPr txBox="1"/>
          <p:nvPr/>
        </p:nvSpPr>
        <p:spPr>
          <a:xfrm>
            <a:off x="548640" y="1234440"/>
            <a:ext cx="11064240" cy="777240"/>
          </a:xfrm>
          <a:prstGeom prst="rect">
            <a:avLst/>
          </a:prstGeom>
          <a:noFill/>
          <a:ln/>
        </p:spPr>
        <p:txBody>
          <a:bodyPr wrap="square" lIns="0" tIns="0" rIns="0" bIns="0" rtlCol="0" anchor="t"/>
          <a:lstStyle/>
          <a:p>
            <a:pPr indent="0" marL="0">
              <a:buNone/>
            </a:pPr>
            <a:r>
              <a:rPr lang="en-US" sz="1600" b="1" dirty="0">
                <a:solidFill>
                  <a:schemeClr val="tx1"/>
                </a:solidFill>
              </a:rPr>
              <a:t>Diabetic retinopathy: </a:t>
            </a:r>
            <a:r>
              <a:rPr lang="en-US" sz="1600" dirty="0">
                <a:solidFill>
                  <a:schemeClr val="tx1"/>
                </a:solidFill>
              </a:rPr>
              <a:t>retinal damage from diabetes, a leading cause of preventable vision loss. Screening needs a specialist to read retinal photographs, and many patients miss yearly checks.</a:t>
            </a:r>
            <a:endParaRPr lang="en-US" sz="1600" dirty="0"/>
          </a:p>
        </p:txBody>
      </p:sp>
      <p:sp>
        <p:nvSpPr>
          <p:cNvPr id="7" name="key Pre-registered targets"/>
          <p:cNvSpPr/>
          <p:nvPr/>
        </p:nvSpPr>
        <p:spPr>
          <a:xfrm>
            <a:off x="548640" y="2194560"/>
            <a:ext cx="2423160" cy="914400"/>
          </a:xfrm>
          <a:prstGeom prst="rect">
            <a:avLst/>
          </a:prstGeom>
          <a:solidFill>
            <a:schemeClr val="accent5"/>
          </a:solidFill>
          <a:ln w="15875">
            <a:solidFill>
              <a:schemeClr val="accent1"/>
            </a:solidFill>
            <a:prstDash val="solid"/>
          </a:ln>
        </p:spPr>
      </p:sp>
      <p:sp>
        <p:nvSpPr>
          <p:cNvPr id="8" name="Text 5"/>
          <p:cNvSpPr txBox="1"/>
          <p:nvPr/>
        </p:nvSpPr>
        <p:spPr>
          <a:xfrm>
            <a:off x="548640" y="2194560"/>
            <a:ext cx="2423160" cy="914400"/>
          </a:xfrm>
          <a:prstGeom prst="rect">
            <a:avLst/>
          </a:prstGeom>
          <a:noFill/>
          <a:ln/>
        </p:spPr>
        <p:txBody>
          <a:bodyPr wrap="square" lIns="0" tIns="0" rIns="0" bIns="0" rtlCol="0" anchor="ctr"/>
          <a:lstStyle/>
          <a:p>
            <a:pPr algn="ctr" indent="0" marL="0">
              <a:buNone/>
            </a:pPr>
            <a:r>
              <a:rPr lang="en-US" sz="1500" dirty="0">
                <a:solidFill>
                  <a:schemeClr val="tx1"/>
                </a:solidFill>
              </a:rPr>
              <a:t>Pre-registered</a:t>
            </a:r>
            <a:endParaRPr lang="en-US" sz="1500" dirty="0"/>
          </a:p>
          <a:p>
            <a:pPr algn="ctr" indent="0" marL="0">
              <a:buNone/>
            </a:pPr>
            <a:r>
              <a:rPr lang="en-US" sz="1500" dirty="0">
                <a:solidFill>
                  <a:schemeClr val="tx1"/>
                </a:solidFill>
              </a:rPr>
              <a:t>targets</a:t>
            </a:r>
            <a:endParaRPr lang="en-US" sz="1500" dirty="0"/>
          </a:p>
        </p:txBody>
      </p:sp>
      <p:sp>
        <p:nvSpPr>
          <p:cNvPr id="9" name="Shape 6"/>
          <p:cNvSpPr/>
          <p:nvPr/>
        </p:nvSpPr>
        <p:spPr>
          <a:xfrm>
            <a:off x="2971800" y="2651760"/>
            <a:ext cx="411480" cy="0"/>
          </a:xfrm>
          <a:prstGeom prst="line">
            <a:avLst/>
          </a:prstGeom>
          <a:noFill/>
          <a:ln w="22225">
            <a:solidFill>
              <a:schemeClr val="tx2"/>
            </a:solidFill>
            <a:prstDash val="solid"/>
            <a:tailEnd type="triangle"/>
          </a:ln>
        </p:spPr>
      </p:sp>
      <p:sp>
        <p:nvSpPr>
          <p:cNvPr id="10" name="neutral 900 enrolled 10 primary care sites"/>
          <p:cNvSpPr/>
          <p:nvPr/>
        </p:nvSpPr>
        <p:spPr>
          <a:xfrm>
            <a:off x="3383280" y="2194560"/>
            <a:ext cx="2423160" cy="914400"/>
          </a:xfrm>
          <a:prstGeom prst="rect">
            <a:avLst/>
          </a:prstGeom>
          <a:solidFill>
            <a:schemeClr val="bg2"/>
          </a:solidFill>
          <a:ln w="15875">
            <a:solidFill>
              <a:schemeClr val="tx2"/>
            </a:solidFill>
            <a:prstDash val="solid"/>
          </a:ln>
        </p:spPr>
      </p:sp>
      <p:sp>
        <p:nvSpPr>
          <p:cNvPr id="11" name="Text 8"/>
          <p:cNvSpPr txBox="1"/>
          <p:nvPr/>
        </p:nvSpPr>
        <p:spPr>
          <a:xfrm>
            <a:off x="3383280" y="2194560"/>
            <a:ext cx="2423160" cy="914400"/>
          </a:xfrm>
          <a:prstGeom prst="rect">
            <a:avLst/>
          </a:prstGeom>
          <a:noFill/>
          <a:ln/>
        </p:spPr>
        <p:txBody>
          <a:bodyPr wrap="square" lIns="0" tIns="0" rIns="0" bIns="0" rtlCol="0" anchor="ctr"/>
          <a:lstStyle/>
          <a:p>
            <a:pPr algn="ctr" indent="0" marL="0">
              <a:buNone/>
            </a:pPr>
            <a:r>
              <a:rPr lang="en-US" sz="1500" dirty="0">
                <a:solidFill>
                  <a:schemeClr val="tx1"/>
                </a:solidFill>
              </a:rPr>
              <a:t>900 enrolled</a:t>
            </a:r>
            <a:endParaRPr lang="en-US" sz="1500" dirty="0"/>
          </a:p>
          <a:p>
            <a:pPr algn="ctr" indent="0" marL="0">
              <a:buNone/>
            </a:pPr>
            <a:r>
              <a:rPr lang="en-US" sz="1500" dirty="0">
                <a:solidFill>
                  <a:schemeClr val="tx1"/>
                </a:solidFill>
              </a:rPr>
              <a:t>10 primary care sites</a:t>
            </a:r>
            <a:endParaRPr lang="en-US" sz="1500" dirty="0"/>
          </a:p>
        </p:txBody>
      </p:sp>
      <p:sp>
        <p:nvSpPr>
          <p:cNvPr id="12" name="Shape 9"/>
          <p:cNvSpPr/>
          <p:nvPr/>
        </p:nvSpPr>
        <p:spPr>
          <a:xfrm>
            <a:off x="5806440" y="2651760"/>
            <a:ext cx="411480" cy="0"/>
          </a:xfrm>
          <a:prstGeom prst="line">
            <a:avLst/>
          </a:prstGeom>
          <a:noFill/>
          <a:ln w="22225">
            <a:solidFill>
              <a:schemeClr val="tx2"/>
            </a:solidFill>
            <a:prstDash val="solid"/>
            <a:tailEnd type="triangle"/>
          </a:ln>
        </p:spPr>
      </p:sp>
      <p:sp>
        <p:nvSpPr>
          <p:cNvPr id="13" name="neutral 819 fully analysed"/>
          <p:cNvSpPr/>
          <p:nvPr/>
        </p:nvSpPr>
        <p:spPr>
          <a:xfrm>
            <a:off x="6217920" y="2194560"/>
            <a:ext cx="2423160" cy="914400"/>
          </a:xfrm>
          <a:prstGeom prst="rect">
            <a:avLst/>
          </a:prstGeom>
          <a:solidFill>
            <a:schemeClr val="bg2"/>
          </a:solidFill>
          <a:ln w="15875">
            <a:solidFill>
              <a:schemeClr val="tx2"/>
            </a:solidFill>
            <a:prstDash val="solid"/>
          </a:ln>
        </p:spPr>
      </p:sp>
      <p:sp>
        <p:nvSpPr>
          <p:cNvPr id="14" name="Text 11"/>
          <p:cNvSpPr txBox="1"/>
          <p:nvPr/>
        </p:nvSpPr>
        <p:spPr>
          <a:xfrm>
            <a:off x="6217920" y="2194560"/>
            <a:ext cx="2423160" cy="914400"/>
          </a:xfrm>
          <a:prstGeom prst="rect">
            <a:avLst/>
          </a:prstGeom>
          <a:noFill/>
          <a:ln/>
        </p:spPr>
        <p:txBody>
          <a:bodyPr wrap="square" lIns="0" tIns="0" rIns="0" bIns="0" rtlCol="0" anchor="ctr"/>
          <a:lstStyle/>
          <a:p>
            <a:pPr algn="ctr" indent="0" marL="0">
              <a:buNone/>
            </a:pPr>
            <a:r>
              <a:rPr lang="en-US" sz="1500" dirty="0">
                <a:solidFill>
                  <a:schemeClr val="tx1"/>
                </a:solidFill>
              </a:rPr>
              <a:t>819 fully</a:t>
            </a:r>
            <a:endParaRPr lang="en-US" sz="1500" dirty="0"/>
          </a:p>
          <a:p>
            <a:pPr algn="ctr" indent="0" marL="0">
              <a:buNone/>
            </a:pPr>
            <a:r>
              <a:rPr lang="en-US" sz="1500" dirty="0">
                <a:solidFill>
                  <a:schemeClr val="tx1"/>
                </a:solidFill>
              </a:rPr>
              <a:t>analysed</a:t>
            </a:r>
            <a:endParaRPr lang="en-US" sz="1500" dirty="0"/>
          </a:p>
        </p:txBody>
      </p:sp>
      <p:sp>
        <p:nvSpPr>
          <p:cNvPr id="15" name="Shape 12"/>
          <p:cNvSpPr/>
          <p:nvPr/>
        </p:nvSpPr>
        <p:spPr>
          <a:xfrm>
            <a:off x="8641080" y="2651760"/>
            <a:ext cx="411480" cy="0"/>
          </a:xfrm>
          <a:prstGeom prst="line">
            <a:avLst/>
          </a:prstGeom>
          <a:noFill/>
          <a:ln w="22225">
            <a:solidFill>
              <a:schemeClr val="tx2"/>
            </a:solidFill>
            <a:prstDash val="solid"/>
            <a:tailEnd type="triangle"/>
          </a:ln>
        </p:spPr>
      </p:sp>
      <p:sp>
        <p:nvSpPr>
          <p:cNvPr id="16" name="neutral Reading-centre reference standard"/>
          <p:cNvSpPr/>
          <p:nvPr/>
        </p:nvSpPr>
        <p:spPr>
          <a:xfrm>
            <a:off x="9052560" y="2194560"/>
            <a:ext cx="2423160" cy="914400"/>
          </a:xfrm>
          <a:prstGeom prst="rect">
            <a:avLst/>
          </a:prstGeom>
          <a:solidFill>
            <a:schemeClr val="bg2"/>
          </a:solidFill>
          <a:ln w="15875">
            <a:solidFill>
              <a:schemeClr val="tx2"/>
            </a:solidFill>
            <a:prstDash val="solid"/>
          </a:ln>
        </p:spPr>
      </p:sp>
      <p:sp>
        <p:nvSpPr>
          <p:cNvPr id="17" name="Text 14"/>
          <p:cNvSpPr txBox="1"/>
          <p:nvPr/>
        </p:nvSpPr>
        <p:spPr>
          <a:xfrm>
            <a:off x="9052560" y="2194560"/>
            <a:ext cx="2423160" cy="914400"/>
          </a:xfrm>
          <a:prstGeom prst="rect">
            <a:avLst/>
          </a:prstGeom>
          <a:noFill/>
          <a:ln/>
        </p:spPr>
        <p:txBody>
          <a:bodyPr wrap="square" lIns="0" tIns="0" rIns="0" bIns="0" rtlCol="0" anchor="ctr"/>
          <a:lstStyle/>
          <a:p>
            <a:pPr algn="ctr" indent="0" marL="0">
              <a:buNone/>
            </a:pPr>
            <a:r>
              <a:rPr lang="en-US" sz="1500" dirty="0">
                <a:solidFill>
                  <a:schemeClr val="tx1"/>
                </a:solidFill>
              </a:rPr>
              <a:t>Reading-centre</a:t>
            </a:r>
            <a:endParaRPr lang="en-US" sz="1500" dirty="0"/>
          </a:p>
          <a:p>
            <a:pPr algn="ctr" indent="0" marL="0">
              <a:buNone/>
            </a:pPr>
            <a:r>
              <a:rPr lang="en-US" sz="1500" dirty="0">
                <a:solidFill>
                  <a:schemeClr val="tx1"/>
                </a:solidFill>
              </a:rPr>
              <a:t>reference standard</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383280"/>
          <a:ext cx="6675120" cy="914400"/>
        </p:xfrm>
        <a:graphic>
          <a:graphicData uri="http://schemas.openxmlformats.org/drawingml/2006/table">
            <a:tbl>
              <a:tblPr/>
              <a:tblGrid>
                <a:gridCol w="1828800"/>
                <a:gridCol w="2926080"/>
                <a:gridCol w="1920240"/>
              </a:tblGrid>
              <a:tr h="457200">
                <a:tc>
                  <a:txBody>
                    <a:bodyPr/>
                    <a:lstStyle/>
                    <a:p>
                      <a:pPr indent="0" marL="0">
                        <a:buNone/>
                      </a:pPr>
                      <a:r>
                        <a:rPr lang="en-US" sz="1500" b="1" dirty="0">
                          <a:solidFill>
                            <a:schemeClr val="bg1"/>
                          </a:solidFill>
                        </a:rPr>
                        <a:t>Measure</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Result (95% CI)</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Pre-set target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r>
              <a:tr h="457200">
                <a:tc>
                  <a:txBody>
                    <a:bodyPr/>
                    <a:lstStyle/>
                    <a:p>
                      <a:pPr indent="0" marL="0">
                        <a:buNone/>
                      </a:pPr>
                      <a:r>
                        <a:rPr lang="en-US" sz="1500" dirty="0">
                          <a:solidFill>
                            <a:schemeClr val="tx1"/>
                          </a:solidFill>
                        </a:rPr>
                        <a:t>Sensitivity</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rPr>
                        <a:t>87.2%  (81.8–91.2)</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&gt; 85%</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457200">
                <a:tc>
                  <a:txBody>
                    <a:bodyPr/>
                    <a:lstStyle/>
                    <a:p>
                      <a:pPr indent="0" marL="0">
                        <a:buNone/>
                      </a:pPr>
                      <a:r>
                        <a:rPr lang="en-US" sz="1500" dirty="0">
                          <a:solidFill>
                            <a:schemeClr val="tx1"/>
                          </a:solidFill>
                        </a:rPr>
                        <a:t>Specificity</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90.7%  (88.3–92.7)</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&gt; 82.5%</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bl>
          </a:graphicData>
        </a:graphic>
      </p:graphicFrame>
      <p:sp>
        <p:nvSpPr>
          <p:cNvPr id="19" name="fda"/>
          <p:cNvSpPr/>
          <p:nvPr/>
        </p:nvSpPr>
        <p:spPr>
          <a:xfrm>
            <a:off x="7498080" y="3383280"/>
            <a:ext cx="4114800" cy="1371600"/>
          </a:xfrm>
          <a:prstGeom prst="roundRect">
            <a:avLst>
              <a:gd name="adj" fmla="val 8000"/>
            </a:avLst>
          </a:prstGeom>
          <a:solidFill>
            <a:schemeClr val="bg2"/>
          </a:solidFill>
          <a:ln w="12700">
            <a:solidFill>
              <a:schemeClr val="bg2"/>
            </a:solidFill>
            <a:prstDash val="solid"/>
          </a:ln>
        </p:spPr>
      </p:sp>
      <p:sp>
        <p:nvSpPr>
          <p:cNvPr id="20" name="Text 16"/>
          <p:cNvSpPr txBox="1"/>
          <p:nvPr/>
        </p:nvSpPr>
        <p:spPr>
          <a:xfrm>
            <a:off x="7680960" y="3429000"/>
            <a:ext cx="3749040" cy="1280160"/>
          </a:xfrm>
          <a:prstGeom prst="rect">
            <a:avLst/>
          </a:prstGeom>
          <a:noFill/>
          <a:ln/>
        </p:spPr>
        <p:txBody>
          <a:bodyPr wrap="square" lIns="0" tIns="0" rIns="0" bIns="0" rtlCol="0" anchor="ctr"/>
          <a:lstStyle/>
          <a:p>
            <a:pPr indent="0" marL="0">
              <a:buNone/>
            </a:pPr>
            <a:r>
              <a:rPr lang="en-US" sz="1400" b="1" dirty="0">
                <a:solidFill>
                  <a:schemeClr val="tx1"/>
                </a:solidFill>
              </a:rPr>
              <a:t>April 2018: </a:t>
            </a:r>
            <a:r>
              <a:rPr lang="en-US" sz="1400" dirty="0">
                <a:solidFill>
                  <a:schemeClr val="tx1"/>
                </a:solidFill>
              </a:rPr>
              <a:t>FDA De Novo authorisation as the first autonomous AI diagnostic system — no clinician reads the image</a:t>
            </a:r>
            <a:endParaRPr lang="en-US" sz="1400" dirty="0"/>
          </a:p>
        </p:txBody>
      </p:sp>
      <p:sp>
        <p:nvSpPr>
          <p:cNvPr id="21" name="lesson"/>
          <p:cNvSpPr/>
          <p:nvPr/>
        </p:nvSpPr>
        <p:spPr>
          <a:xfrm>
            <a:off x="548640" y="5596128"/>
            <a:ext cx="11064240" cy="685800"/>
          </a:xfrm>
          <a:prstGeom prst="roundRect">
            <a:avLst>
              <a:gd name="adj" fmla="val 16000"/>
            </a:avLst>
          </a:prstGeom>
          <a:solidFill>
            <a:schemeClr val="bg2"/>
          </a:solidFill>
          <a:ln w="12700">
            <a:solidFill>
              <a:schemeClr val="bg2"/>
            </a:solidFill>
            <a:prstDash val="solid"/>
          </a:ln>
        </p:spPr>
      </p:sp>
      <p:sp>
        <p:nvSpPr>
          <p:cNvPr id="22" name="Text 18"/>
          <p:cNvSpPr txBox="1"/>
          <p:nvPr/>
        </p:nvSpPr>
        <p:spPr>
          <a:xfrm>
            <a:off x="777240" y="5596128"/>
            <a:ext cx="10607040" cy="685800"/>
          </a:xfrm>
          <a:prstGeom prst="rect">
            <a:avLst/>
          </a:prstGeom>
          <a:noFill/>
          <a:ln/>
        </p:spPr>
        <p:txBody>
          <a:bodyPr wrap="square" lIns="0" tIns="0" rIns="0" bIns="0" rtlCol="0" anchor="ctr"/>
          <a:lstStyle/>
          <a:p>
            <a:pPr indent="0" marL="0">
              <a:buNone/>
            </a:pPr>
            <a:r>
              <a:rPr lang="en-US" sz="1700" b="1" dirty="0">
                <a:solidFill>
                  <a:schemeClr val="accent1"/>
                </a:solidFill>
              </a:rPr>
              <a:t>Not shown  </a:t>
            </a:r>
            <a:r>
              <a:rPr lang="en-US" sz="1700" dirty="0">
                <a:solidFill>
                  <a:schemeClr val="tx1"/>
                </a:solidFill>
              </a:rPr>
              <a:t>whether patients' vision was better protected over time (rung 4).</a:t>
            </a:r>
            <a:endParaRPr lang="en-US" sz="1700" dirty="0"/>
          </a:p>
        </p:txBody>
      </p:sp>
      <p:sp>
        <p:nvSpPr>
          <p:cNvPr id="23" name="lesson"/>
          <p:cNvSpPr/>
          <p:nvPr/>
        </p:nvSpPr>
        <p:spPr>
          <a:xfrm>
            <a:off x="548640" y="4846320"/>
            <a:ext cx="11064240" cy="685800"/>
          </a:xfrm>
          <a:prstGeom prst="roundRect">
            <a:avLst>
              <a:gd name="adj" fmla="val 16000"/>
            </a:avLst>
          </a:prstGeom>
          <a:solidFill>
            <a:schemeClr val="accent5"/>
          </a:solidFill>
          <a:ln w="12700">
            <a:solidFill>
              <a:schemeClr val="accent5"/>
            </a:solidFill>
            <a:prstDash val="solid"/>
          </a:ln>
        </p:spPr>
      </p:sp>
      <p:sp>
        <p:nvSpPr>
          <p:cNvPr id="24" name="Text 20"/>
          <p:cNvSpPr txBox="1"/>
          <p:nvPr/>
        </p:nvSpPr>
        <p:spPr>
          <a:xfrm>
            <a:off x="777240" y="4846320"/>
            <a:ext cx="10607040" cy="685800"/>
          </a:xfrm>
          <a:prstGeom prst="rect">
            <a:avLst/>
          </a:prstGeom>
          <a:noFill/>
          <a:ln/>
        </p:spPr>
        <p:txBody>
          <a:bodyPr wrap="square" lIns="0" tIns="0" rIns="0" bIns="0" rtlCol="0" anchor="ctr"/>
          <a:lstStyle/>
          <a:p>
            <a:pPr indent="0" marL="0">
              <a:buNone/>
            </a:pPr>
            <a:r>
              <a:rPr lang="en-US" sz="1700" b="1" dirty="0">
                <a:solidFill>
                  <a:schemeClr val="accent1"/>
                </a:solidFill>
              </a:rPr>
              <a:t>Why it works  </a:t>
            </a:r>
            <a:r>
              <a:rPr lang="en-US" sz="1700" dirty="0">
                <a:solidFill>
                  <a:schemeClr val="tx1"/>
                </a:solidFill>
              </a:rPr>
              <a:t>a narrow task, a defined user and setting, targets fixed in advance, a prospective trial.</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Thai clinics: accurate is not useful</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CASE 3  </a:t>
            </a:r>
            <a:r>
              <a:rPr lang="en-US" sz="1400" dirty="0">
                <a:solidFill>
                  <a:schemeClr val="tx1"/>
                </a:solidFill>
              </a:rPr>
              <a:t>rung 5</a:t>
            </a:r>
            <a:endParaRPr lang="en-US" sz="1400" dirty="0"/>
          </a:p>
        </p:txBody>
      </p:sp>
      <p:sp>
        <p:nvSpPr>
          <p:cNvPr id="6" name="Text 3"/>
          <p:cNvSpPr txBox="1"/>
          <p:nvPr/>
        </p:nvSpPr>
        <p:spPr>
          <a:xfrm>
            <a:off x="548640" y="1234440"/>
            <a:ext cx="11064240" cy="777240"/>
          </a:xfrm>
          <a:prstGeom prst="rect">
            <a:avLst/>
          </a:prstGeom>
          <a:noFill/>
          <a:ln/>
        </p:spPr>
        <p:txBody>
          <a:bodyPr wrap="square" lIns="0" tIns="0" rIns="0" bIns="0" rtlCol="0" anchor="t"/>
          <a:lstStyle/>
          <a:p>
            <a:pPr indent="0" marL="0">
              <a:buNone/>
            </a:pPr>
            <a:r>
              <a:rPr lang="en-US" sz="1600" dirty="0">
                <a:solidFill>
                  <a:schemeClr val="tx1"/>
                </a:solidFill>
              </a:rPr>
              <a:t>A deep-learning retinopathy system, accurate in testing, deployed in </a:t>
            </a:r>
            <a:r>
              <a:rPr lang="en-US" sz="1600" b="1" dirty="0">
                <a:solidFill>
                  <a:schemeClr val="tx1"/>
                </a:solidFill>
              </a:rPr>
              <a:t>11 clinics in Thailand</a:t>
            </a:r>
            <a:r>
              <a:rPr lang="en-US" sz="1600" dirty="0">
                <a:solidFill>
                  <a:schemeClr val="tx1"/>
                </a:solidFill>
              </a:rPr>
              <a:t>; researchers observed nurses and patients for eight months.</a:t>
            </a:r>
            <a:endParaRPr lang="en-US" sz="1600" dirty="0"/>
          </a:p>
        </p:txBody>
      </p:sp>
      <p:sp>
        <p:nvSpPr>
          <p:cNvPr id="7" name="Image quality"/>
          <p:cNvSpPr/>
          <p:nvPr/>
        </p:nvSpPr>
        <p:spPr>
          <a:xfrm>
            <a:off x="548640" y="2148840"/>
            <a:ext cx="3566160" cy="2148840"/>
          </a:xfrm>
          <a:prstGeom prst="roundRect">
            <a:avLst>
              <a:gd name="adj" fmla="val 5106"/>
            </a:avLst>
          </a:prstGeom>
          <a:solidFill>
            <a:schemeClr val="accent6"/>
          </a:solidFill>
          <a:ln w="12700">
            <a:solidFill>
              <a:schemeClr val="accent6"/>
            </a:solidFill>
            <a:prstDash val="solid"/>
          </a:ln>
        </p:spPr>
      </p:sp>
      <p:sp>
        <p:nvSpPr>
          <p:cNvPr id="8" name="Text 5"/>
          <p:cNvSpPr txBox="1"/>
          <p:nvPr/>
        </p:nvSpPr>
        <p:spPr>
          <a:xfrm>
            <a:off x="777240" y="2286000"/>
            <a:ext cx="3108960" cy="457200"/>
          </a:xfrm>
          <a:prstGeom prst="rect">
            <a:avLst/>
          </a:prstGeom>
          <a:noFill/>
          <a:ln/>
        </p:spPr>
        <p:txBody>
          <a:bodyPr wrap="square" lIns="0" tIns="0" rIns="0" bIns="0" rtlCol="0" anchor="t"/>
          <a:lstStyle/>
          <a:p>
            <a:pPr indent="0" marL="0">
              <a:buNone/>
            </a:pPr>
            <a:r>
              <a:rPr lang="en-US" sz="1900" b="1" dirty="0">
                <a:solidFill>
                  <a:schemeClr val="accent3"/>
                </a:solidFill>
              </a:rPr>
              <a:t>Image quality</a:t>
            </a:r>
            <a:endParaRPr lang="en-US" sz="1900" dirty="0"/>
          </a:p>
        </p:txBody>
      </p:sp>
      <p:sp>
        <p:nvSpPr>
          <p:cNvPr id="9" name="Text 6"/>
          <p:cNvSpPr txBox="1"/>
          <p:nvPr/>
        </p:nvSpPr>
        <p:spPr>
          <a:xfrm>
            <a:off x="777240" y="2788920"/>
            <a:ext cx="3108960" cy="1417320"/>
          </a:xfrm>
          <a:prstGeom prst="rect">
            <a:avLst/>
          </a:prstGeom>
          <a:noFill/>
          <a:ln/>
        </p:spPr>
        <p:txBody>
          <a:bodyPr wrap="square" lIns="0" tIns="0" rIns="0" bIns="0" rtlCol="0" anchor="t"/>
          <a:lstStyle/>
          <a:p>
            <a:pPr indent="0" marL="0">
              <a:buNone/>
            </a:pPr>
            <a:r>
              <a:rPr lang="en-US" sz="1500" dirty="0">
                <a:solidFill>
                  <a:schemeClr val="tx1"/>
                </a:solidFill>
              </a:rPr>
              <a:t>Photos from imperfect rooms and lighting failed the model's quality threshold — no result for the patient</a:t>
            </a:r>
            <a:endParaRPr lang="en-US" sz="1500" dirty="0"/>
          </a:p>
        </p:txBody>
      </p:sp>
      <p:sp>
        <p:nvSpPr>
          <p:cNvPr id="10" name="Internet"/>
          <p:cNvSpPr/>
          <p:nvPr/>
        </p:nvSpPr>
        <p:spPr>
          <a:xfrm>
            <a:off x="4297680" y="2148840"/>
            <a:ext cx="3566160" cy="2148840"/>
          </a:xfrm>
          <a:prstGeom prst="roundRect">
            <a:avLst>
              <a:gd name="adj" fmla="val 5106"/>
            </a:avLst>
          </a:prstGeom>
          <a:solidFill>
            <a:schemeClr val="accent6"/>
          </a:solidFill>
          <a:ln w="12700">
            <a:solidFill>
              <a:schemeClr val="accent6"/>
            </a:solidFill>
            <a:prstDash val="solid"/>
          </a:ln>
        </p:spPr>
      </p:sp>
      <p:sp>
        <p:nvSpPr>
          <p:cNvPr id="11" name="Text 8"/>
          <p:cNvSpPr txBox="1"/>
          <p:nvPr/>
        </p:nvSpPr>
        <p:spPr>
          <a:xfrm>
            <a:off x="4526280" y="2286000"/>
            <a:ext cx="3108960" cy="457200"/>
          </a:xfrm>
          <a:prstGeom prst="rect">
            <a:avLst/>
          </a:prstGeom>
          <a:noFill/>
          <a:ln/>
        </p:spPr>
        <p:txBody>
          <a:bodyPr wrap="square" lIns="0" tIns="0" rIns="0" bIns="0" rtlCol="0" anchor="t"/>
          <a:lstStyle/>
          <a:p>
            <a:pPr indent="0" marL="0">
              <a:buNone/>
            </a:pPr>
            <a:r>
              <a:rPr lang="en-US" sz="1900" b="1" dirty="0">
                <a:solidFill>
                  <a:schemeClr val="accent3"/>
                </a:solidFill>
              </a:rPr>
              <a:t>Internet</a:t>
            </a:r>
            <a:endParaRPr lang="en-US" sz="1900" dirty="0"/>
          </a:p>
        </p:txBody>
      </p:sp>
      <p:sp>
        <p:nvSpPr>
          <p:cNvPr id="12" name="Text 9"/>
          <p:cNvSpPr txBox="1"/>
          <p:nvPr/>
        </p:nvSpPr>
        <p:spPr>
          <a:xfrm>
            <a:off x="4526280" y="2788920"/>
            <a:ext cx="3108960" cy="1417320"/>
          </a:xfrm>
          <a:prstGeom prst="rect">
            <a:avLst/>
          </a:prstGeom>
          <a:noFill/>
          <a:ln/>
        </p:spPr>
        <p:txBody>
          <a:bodyPr wrap="square" lIns="0" tIns="0" rIns="0" bIns="0" rtlCol="0" anchor="t"/>
          <a:lstStyle/>
          <a:p>
            <a:pPr indent="0" marL="0">
              <a:buNone/>
            </a:pPr>
            <a:r>
              <a:rPr lang="en-US" sz="1500" dirty="0">
                <a:solidFill>
                  <a:schemeClr val="tx1"/>
                </a:solidFill>
              </a:rPr>
              <a:t>Slow or unreliable connections delayed results meant to be immediate</a:t>
            </a:r>
            <a:endParaRPr lang="en-US" sz="1500" dirty="0"/>
          </a:p>
        </p:txBody>
      </p:sp>
      <p:sp>
        <p:nvSpPr>
          <p:cNvPr id="13" name="Workflow"/>
          <p:cNvSpPr/>
          <p:nvPr/>
        </p:nvSpPr>
        <p:spPr>
          <a:xfrm>
            <a:off x="8046720" y="2148840"/>
            <a:ext cx="3566160" cy="2148840"/>
          </a:xfrm>
          <a:prstGeom prst="roundRect">
            <a:avLst>
              <a:gd name="adj" fmla="val 5106"/>
            </a:avLst>
          </a:prstGeom>
          <a:solidFill>
            <a:schemeClr val="accent6"/>
          </a:solidFill>
          <a:ln w="12700">
            <a:solidFill>
              <a:schemeClr val="accent6"/>
            </a:solidFill>
            <a:prstDash val="solid"/>
          </a:ln>
        </p:spPr>
      </p:sp>
      <p:sp>
        <p:nvSpPr>
          <p:cNvPr id="14" name="Text 11"/>
          <p:cNvSpPr txBox="1"/>
          <p:nvPr/>
        </p:nvSpPr>
        <p:spPr>
          <a:xfrm>
            <a:off x="8275320" y="2286000"/>
            <a:ext cx="3108960" cy="457200"/>
          </a:xfrm>
          <a:prstGeom prst="rect">
            <a:avLst/>
          </a:prstGeom>
          <a:noFill/>
          <a:ln/>
        </p:spPr>
        <p:txBody>
          <a:bodyPr wrap="square" lIns="0" tIns="0" rIns="0" bIns="0" rtlCol="0" anchor="t"/>
          <a:lstStyle/>
          <a:p>
            <a:pPr indent="0" marL="0">
              <a:buNone/>
            </a:pPr>
            <a:r>
              <a:rPr lang="en-US" sz="1900" b="1" dirty="0">
                <a:solidFill>
                  <a:schemeClr val="accent3"/>
                </a:solidFill>
              </a:rPr>
              <a:t>Workflow</a:t>
            </a:r>
            <a:endParaRPr lang="en-US" sz="1900" dirty="0"/>
          </a:p>
        </p:txBody>
      </p:sp>
      <p:sp>
        <p:nvSpPr>
          <p:cNvPr id="15" name="Text 12"/>
          <p:cNvSpPr txBox="1"/>
          <p:nvPr/>
        </p:nvSpPr>
        <p:spPr>
          <a:xfrm>
            <a:off x="8275320" y="2788920"/>
            <a:ext cx="3108960" cy="1417320"/>
          </a:xfrm>
          <a:prstGeom prst="rect">
            <a:avLst/>
          </a:prstGeom>
          <a:noFill/>
          <a:ln/>
        </p:spPr>
        <p:txBody>
          <a:bodyPr wrap="square" lIns="0" tIns="0" rIns="0" bIns="0" rtlCol="0" anchor="t"/>
          <a:lstStyle/>
          <a:p>
            <a:pPr indent="0" marL="0">
              <a:buNone/>
            </a:pPr>
            <a:r>
              <a:rPr lang="en-US" sz="1500" dirty="0">
                <a:solidFill>
                  <a:schemeClr val="tx1"/>
                </a:solidFill>
              </a:rPr>
              <a:t>An ungradable image could mean a referral: time off work and travel to a distant clinic</a:t>
            </a:r>
            <a:endParaRPr lang="en-US" sz="1500" dirty="0"/>
          </a:p>
        </p:txBody>
      </p:sp>
      <p:sp>
        <p:nvSpPr>
          <p:cNvPr id="16" name="fix"/>
          <p:cNvSpPr/>
          <p:nvPr/>
        </p:nvSpPr>
        <p:spPr>
          <a:xfrm>
            <a:off x="548640" y="4480560"/>
            <a:ext cx="11064240" cy="731520"/>
          </a:xfrm>
          <a:prstGeom prst="roundRect">
            <a:avLst>
              <a:gd name="adj" fmla="val 15000"/>
            </a:avLst>
          </a:prstGeom>
          <a:solidFill>
            <a:schemeClr val="bg2"/>
          </a:solidFill>
          <a:ln w="12700">
            <a:solidFill>
              <a:schemeClr val="bg2"/>
            </a:solidFill>
            <a:prstDash val="solid"/>
          </a:ln>
        </p:spPr>
      </p:sp>
      <p:sp>
        <p:nvSpPr>
          <p:cNvPr id="17" name="Text 14"/>
          <p:cNvSpPr txBox="1"/>
          <p:nvPr/>
        </p:nvSpPr>
        <p:spPr>
          <a:xfrm>
            <a:off x="777240" y="4480560"/>
            <a:ext cx="10607040" cy="731520"/>
          </a:xfrm>
          <a:prstGeom prst="rect">
            <a:avLst/>
          </a:prstGeom>
          <a:noFill/>
          <a:ln/>
        </p:spPr>
        <p:txBody>
          <a:bodyPr wrap="square" lIns="0" tIns="0" rIns="0" bIns="0" rtlCol="0" anchor="ctr"/>
          <a:lstStyle/>
          <a:p>
            <a:pPr indent="0" marL="0">
              <a:buNone/>
            </a:pPr>
            <a:r>
              <a:rPr lang="en-US" sz="1600" b="1" dirty="0">
                <a:solidFill>
                  <a:schemeClr val="tx1"/>
                </a:solidFill>
              </a:rPr>
              <a:t>The fix was a process change: </a:t>
            </a:r>
            <a:r>
              <a:rPr lang="en-US" sz="1600" dirty="0">
                <a:solidFill>
                  <a:schemeClr val="tx1"/>
                </a:solidFill>
              </a:rPr>
              <a:t>specialists reviewed ungradable images before a patient was referred.</a:t>
            </a:r>
            <a:endParaRPr lang="en-US" sz="1600" dirty="0"/>
          </a:p>
        </p:txBody>
      </p:sp>
      <p:sp>
        <p:nvSpPr>
          <p:cNvPr id="18" name="lesson"/>
          <p:cNvSpPr/>
          <p:nvPr/>
        </p:nvSpPr>
        <p:spPr>
          <a:xfrm>
            <a:off x="548640" y="5486400"/>
            <a:ext cx="11064240" cy="685800"/>
          </a:xfrm>
          <a:prstGeom prst="roundRect">
            <a:avLst>
              <a:gd name="adj" fmla="val 16000"/>
            </a:avLst>
          </a:prstGeom>
          <a:solidFill>
            <a:schemeClr val="accent5"/>
          </a:solidFill>
          <a:ln w="12700">
            <a:solidFill>
              <a:schemeClr val="accent5"/>
            </a:solidFill>
            <a:prstDash val="solid"/>
          </a:ln>
        </p:spPr>
      </p:sp>
      <p:sp>
        <p:nvSpPr>
          <p:cNvPr id="19" name="Text 16"/>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700" b="1" dirty="0">
                <a:solidFill>
                  <a:schemeClr val="accent1"/>
                </a:solidFill>
              </a:rPr>
              <a:t>Lesson  </a:t>
            </a:r>
            <a:r>
              <a:rPr lang="en-US" sz="1700" dirty="0">
                <a:solidFill>
                  <a:schemeClr val="tx1"/>
                </a:solidFill>
              </a:rPr>
              <a:t>accuracy belongs to the model and its test data; usefulness belongs to the whole service.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Watson: scope ran ahead</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CASE 4  </a:t>
            </a:r>
            <a:r>
              <a:rPr lang="en-US" sz="1400" dirty="0">
                <a:solidFill>
                  <a:schemeClr val="tx1"/>
                </a:solidFill>
              </a:rPr>
              <a:t>rung unclear</a:t>
            </a:r>
            <a:endParaRPr lang="en-US" sz="1400" dirty="0"/>
          </a:p>
        </p:txBody>
      </p:sp>
      <p:sp>
        <p:nvSpPr>
          <p:cNvPr id="6" name="promise"/>
          <p:cNvSpPr/>
          <p:nvPr/>
        </p:nvSpPr>
        <p:spPr>
          <a:xfrm>
            <a:off x="548640" y="1325880"/>
            <a:ext cx="5394960" cy="1280160"/>
          </a:xfrm>
          <a:prstGeom prst="roundRect">
            <a:avLst>
              <a:gd name="adj" fmla="val 8571"/>
            </a:avLst>
          </a:prstGeom>
          <a:solidFill>
            <a:schemeClr val="tx1"/>
          </a:solidFill>
          <a:ln w="12700">
            <a:solidFill>
              <a:schemeClr val="tx1"/>
            </a:solidFill>
            <a:prstDash val="solid"/>
          </a:ln>
        </p:spPr>
      </p:sp>
      <p:sp>
        <p:nvSpPr>
          <p:cNvPr id="7" name="Text 4"/>
          <p:cNvSpPr txBox="1"/>
          <p:nvPr/>
        </p:nvSpPr>
        <p:spPr>
          <a:xfrm>
            <a:off x="822960" y="1325880"/>
            <a:ext cx="4937760" cy="1280160"/>
          </a:xfrm>
          <a:prstGeom prst="rect">
            <a:avLst/>
          </a:prstGeom>
          <a:noFill/>
          <a:ln/>
        </p:spPr>
        <p:txBody>
          <a:bodyPr wrap="square" lIns="0" tIns="0" rIns="0" bIns="0" rtlCol="0" anchor="ctr"/>
          <a:lstStyle/>
          <a:p>
            <a:pPr indent="0" marL="0">
              <a:buNone/>
            </a:pPr>
            <a:r>
              <a:rPr lang="en-US" sz="1800" b="1" dirty="0">
                <a:solidFill>
                  <a:schemeClr val="accent2"/>
                </a:solidFill>
              </a:rPr>
              <a:t>The promise</a:t>
            </a:r>
            <a:endParaRPr lang="en-US" sz="1800" dirty="0"/>
          </a:p>
          <a:p>
            <a:pPr indent="0" marL="0">
              <a:buNone/>
            </a:pPr>
            <a:r>
              <a:rPr lang="en-US" sz="1800" dirty="0">
                <a:solidFill>
                  <a:schemeClr val="bg1"/>
                </a:solidFill>
              </a:rPr>
              <a:t>“Recommend cancer treatment” for hospitals worldwide</a:t>
            </a:r>
            <a:endParaRPr lang="en-US" sz="1800" dirty="0"/>
          </a:p>
        </p:txBody>
      </p:sp>
      <p:sp>
        <p:nvSpPr>
          <p:cNvPr id="8" name="Shape 5"/>
          <p:cNvSpPr/>
          <p:nvPr/>
        </p:nvSpPr>
        <p:spPr>
          <a:xfrm>
            <a:off x="5989320" y="1965960"/>
            <a:ext cx="548640" cy="0"/>
          </a:xfrm>
          <a:prstGeom prst="line">
            <a:avLst/>
          </a:prstGeom>
          <a:noFill/>
          <a:ln w="22225">
            <a:solidFill>
              <a:schemeClr val="tx2"/>
            </a:solidFill>
            <a:prstDash val="solid"/>
            <a:tailEnd type="triangle"/>
          </a:ln>
        </p:spPr>
      </p:sp>
      <p:sp>
        <p:nvSpPr>
          <p:cNvPr id="9" name="2022"/>
          <p:cNvSpPr/>
          <p:nvPr/>
        </p:nvSpPr>
        <p:spPr>
          <a:xfrm>
            <a:off x="6583680" y="1325880"/>
            <a:ext cx="5029200" cy="1280160"/>
          </a:xfrm>
          <a:prstGeom prst="roundRect">
            <a:avLst>
              <a:gd name="adj" fmla="val 8571"/>
            </a:avLst>
          </a:prstGeom>
          <a:solidFill>
            <a:schemeClr val="bg2"/>
          </a:solidFill>
          <a:ln w="12700">
            <a:solidFill>
              <a:schemeClr val="bg2"/>
            </a:solidFill>
            <a:prstDash val="solid"/>
          </a:ln>
        </p:spPr>
      </p:sp>
      <p:sp>
        <p:nvSpPr>
          <p:cNvPr id="10" name="Text 7"/>
          <p:cNvSpPr txBox="1"/>
          <p:nvPr/>
        </p:nvSpPr>
        <p:spPr>
          <a:xfrm>
            <a:off x="6812280" y="1325880"/>
            <a:ext cx="4572000" cy="1280160"/>
          </a:xfrm>
          <a:prstGeom prst="rect">
            <a:avLst/>
          </a:prstGeom>
          <a:noFill/>
          <a:ln/>
        </p:spPr>
        <p:txBody>
          <a:bodyPr wrap="square" lIns="0" tIns="0" rIns="0" bIns="0" rtlCol="0" anchor="ctr"/>
          <a:lstStyle/>
          <a:p>
            <a:pPr indent="0" marL="0">
              <a:buNone/>
            </a:pPr>
            <a:r>
              <a:rPr lang="en-US" sz="1600" b="1" dirty="0">
                <a:solidFill>
                  <a:schemeClr val="tx1"/>
                </a:solidFill>
              </a:rPr>
              <a:t>2022</a:t>
            </a:r>
            <a:endParaRPr lang="en-US" sz="1600" dirty="0"/>
          </a:p>
          <a:p>
            <a:pPr indent="0" marL="0">
              <a:buNone/>
            </a:pPr>
            <a:r>
              <a:rPr lang="en-US" sz="1600" dirty="0">
                <a:solidFill>
                  <a:schemeClr val="tx1"/>
                </a:solidFill>
              </a:rPr>
              <a:t>IBM sold its Watson Health data and analytics assets to an investment firm</a:t>
            </a:r>
            <a:endParaRPr lang="en-US" sz="1600" dirty="0"/>
          </a:p>
        </p:txBody>
      </p:sp>
      <p:sp>
        <p:nvSpPr>
          <p:cNvPr id="11" name="Text 8"/>
          <p:cNvSpPr txBox="1"/>
          <p:nvPr/>
        </p:nvSpPr>
        <p:spPr>
          <a:xfrm>
            <a:off x="548640" y="2834640"/>
            <a:ext cx="11064240" cy="365760"/>
          </a:xfrm>
          <a:prstGeom prst="rect">
            <a:avLst/>
          </a:prstGeom>
          <a:noFill/>
          <a:ln/>
        </p:spPr>
        <p:txBody>
          <a:bodyPr wrap="square" lIns="0" tIns="0" rIns="0" bIns="0" rtlCol="0" anchor="t"/>
          <a:lstStyle/>
          <a:p>
            <a:pPr indent="0" marL="0">
              <a:buNone/>
            </a:pPr>
            <a:r>
              <a:rPr lang="en-US" sz="1500" dirty="0">
                <a:solidFill>
                  <a:schemeClr val="tx2"/>
                </a:solidFill>
              </a:rPr>
              <a:t>STAT News, 2018, reporting internal IBM documents:</a:t>
            </a:r>
            <a:endParaRPr lang="en-US" sz="1500" dirty="0"/>
          </a:p>
        </p:txBody>
      </p:sp>
      <p:sp>
        <p:nvSpPr>
          <p:cNvPr id="12" name="Text 9"/>
          <p:cNvSpPr txBox="1"/>
          <p:nvPr/>
        </p:nvSpPr>
        <p:spPr>
          <a:xfrm>
            <a:off x="548640" y="3246120"/>
            <a:ext cx="11064240" cy="10058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“Multiple examples of </a:t>
            </a:r>
            <a:r>
              <a:rPr lang="en-US" sz="1700" b="1" dirty="0">
                <a:solidFill>
                  <a:schemeClr val="tx1"/>
                </a:solidFill>
              </a:rPr>
              <a:t>unsafe and incorrect treatment recommendations</a:t>
            </a:r>
            <a:r>
              <a:rPr lang="en-US" sz="1700" dirty="0">
                <a:solidFill>
                  <a:schemeClr val="tx1"/>
                </a:solidFill>
              </a:rPr>
              <a:t>”</a:t>
            </a:r>
            <a:endParaRPr lang="en-US" sz="1700" dirty="0"/>
          </a:p>
          <a:p>
            <a:pPr marL="228600" indent="-228600">
              <a:spcAft>
                <a:spcPts val="800"/>
              </a:spcAft>
              <a:buSzPct val="100000"/>
              <a:buChar char="•"/>
            </a:pPr>
            <a:r>
              <a:rPr lang="en-US" sz="1700" dirty="0">
                <a:solidFill>
                  <a:schemeClr val="tx1"/>
                </a:solidFill>
              </a:rPr>
              <a:t>Trained largely on </a:t>
            </a:r>
            <a:r>
              <a:rPr lang="en-US" sz="1700" b="1" dirty="0">
                <a:solidFill>
                  <a:schemeClr val="tx1"/>
                </a:solidFill>
              </a:rPr>
              <a:t>hypothetical cases</a:t>
            </a:r>
            <a:r>
              <a:rPr lang="en-US" sz="1700" dirty="0">
                <a:solidFill>
                  <a:schemeClr val="tx1"/>
                </a:solidFill>
              </a:rPr>
              <a:t> and a few specialists' preferences, not on guidelines or outcome evidence</a:t>
            </a:r>
            <a:endParaRPr lang="en-US" sz="1700" dirty="0"/>
          </a:p>
        </p:txBody>
      </p:sp>
      <p:sp>
        <p:nvSpPr>
          <p:cNvPr id="13" name="Text 10"/>
          <p:cNvSpPr txBox="1"/>
          <p:nvPr/>
        </p:nvSpPr>
        <p:spPr>
          <a:xfrm>
            <a:off x="548640" y="4526280"/>
            <a:ext cx="11064240" cy="640080"/>
          </a:xfrm>
          <a:prstGeom prst="rect">
            <a:avLst/>
          </a:prstGeom>
          <a:noFill/>
          <a:ln/>
        </p:spPr>
        <p:txBody>
          <a:bodyPr wrap="square" lIns="0" tIns="0" rIns="0" bIns="0" rtlCol="0" anchor="t"/>
          <a:lstStyle/>
          <a:p>
            <a:pPr indent="0" marL="0">
              <a:buNone/>
            </a:pPr>
            <a:r>
              <a:rPr lang="en-US" sz="1400" i="1" dirty="0">
                <a:solidFill>
                  <a:schemeClr val="tx2"/>
                </a:solidFill>
              </a:rPr>
              <a:t>Source caveat: investigative journalism and company documents, not a peer-reviewed evaluation — a cautionary example.</a:t>
            </a:r>
            <a:endParaRPr lang="en-US" sz="1400" dirty="0"/>
          </a:p>
        </p:txBody>
      </p:sp>
      <p:sp>
        <p:nvSpPr>
          <p:cNvPr id="14" name="lesson"/>
          <p:cNvSpPr/>
          <p:nvPr/>
        </p:nvSpPr>
        <p:spPr>
          <a:xfrm>
            <a:off x="548640" y="5486400"/>
            <a:ext cx="11064240" cy="685800"/>
          </a:xfrm>
          <a:prstGeom prst="roundRect">
            <a:avLst>
              <a:gd name="adj" fmla="val 16000"/>
            </a:avLst>
          </a:prstGeom>
          <a:solidFill>
            <a:schemeClr val="accent6"/>
          </a:solidFill>
          <a:ln w="12700">
            <a:solidFill>
              <a:schemeClr val="accent6"/>
            </a:solidFill>
            <a:prstDash val="solid"/>
          </a:ln>
        </p:spPr>
      </p:sp>
      <p:sp>
        <p:nvSpPr>
          <p:cNvPr id="15" name="Text 12"/>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700" b="1" dirty="0">
                <a:solidFill>
                  <a:schemeClr val="accent3"/>
                </a:solidFill>
              </a:rPr>
              <a:t>Lesson  </a:t>
            </a:r>
            <a:r>
              <a:rPr lang="en-US" sz="1700" dirty="0">
                <a:solidFill>
                  <a:schemeClr val="tx1"/>
                </a:solidFill>
              </a:rPr>
              <a:t>the broader the task, the harder the evidence — and the wider the gap between marketing and rungs 2–4.</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Four cases on one ladder</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1737360"/>
                <a:gridCol w="4023360"/>
                <a:gridCol w="2651760"/>
              </a:tblGrid>
              <a:tr h="685800">
                <a:tc>
                  <a:txBody>
                    <a:bodyPr/>
                    <a:lstStyle/>
                    <a:p>
                      <a:pPr indent="0" marL="0">
                        <a:buNone/>
                      </a:pPr>
                      <a:r>
                        <a:rPr lang="en-US" sz="1700" b="1" dirty="0">
                          <a:solidFill>
                            <a:schemeClr val="bg1"/>
                          </a:solidFill>
                        </a:rPr>
                        <a:t>Case</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700" b="1" dirty="0">
                          <a:solidFill>
                            <a:schemeClr val="bg1"/>
                          </a:solidFill>
                        </a:rPr>
                        <a:t>Task breadth</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700" b="1" dirty="0">
                          <a:solidFill>
                            <a:schemeClr val="bg1"/>
                          </a:solidFill>
                        </a:rPr>
                        <a:t>Highest rung (in the source cited)</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700" b="1" dirty="0">
                          <a:solidFill>
                            <a:schemeClr val="bg1"/>
                          </a:solidFill>
                        </a:rPr>
                        <a:t>Main lesson</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r>
              <a:tr h="685800">
                <a:tc>
                  <a:txBody>
                    <a:bodyPr/>
                    <a:lstStyle/>
                    <a:p>
                      <a:pPr indent="0" marL="0">
                        <a:buNone/>
                      </a:pPr>
                      <a:r>
                        <a:rPr lang="en-US" sz="1700" b="1" dirty="0">
                          <a:solidFill>
                            <a:schemeClr val="tx1"/>
                          </a:solidFill>
                        </a:rPr>
                        <a:t>Sepsis model</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Narrow</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2 — independent validation, which went poorly</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700" b="1" dirty="0">
                          <a:solidFill>
                            <a:schemeClr val="accent3"/>
                          </a:solidFill>
                        </a:rPr>
                        <a:t>Adoption ≠ evidence</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685800">
                <a:tc>
                  <a:txBody>
                    <a:bodyPr/>
                    <a:lstStyle/>
                    <a:p>
                      <a:pPr indent="0" marL="0">
                        <a:buNone/>
                      </a:pPr>
                      <a:r>
                        <a:rPr lang="en-US" sz="1700" b="1" dirty="0">
                          <a:solidFill>
                            <a:schemeClr val="tx1"/>
                          </a:solidFill>
                        </a:rPr>
                        <a:t>IDx-DR</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Narrow</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3 — prospective pivotal trial</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700" b="1" dirty="0">
                          <a:solidFill>
                            <a:schemeClr val="accent1"/>
                          </a:solidFill>
                        </a:rPr>
                        <a:t>Hope done properly</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685800">
                <a:tc>
                  <a:txBody>
                    <a:bodyPr/>
                    <a:lstStyle/>
                    <a:p>
                      <a:pPr indent="0" marL="0">
                        <a:buNone/>
                      </a:pPr>
                      <a:r>
                        <a:rPr lang="en-US" sz="1700" b="1" dirty="0">
                          <a:solidFill>
                            <a:schemeClr val="tx1"/>
                          </a:solidFill>
                        </a:rPr>
                        <a:t>Thai clinics</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Narrow</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5 — implementation study</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700" b="1" dirty="0">
                          <a:solidFill>
                            <a:schemeClr val="accent3"/>
                          </a:solidFill>
                        </a:rPr>
                        <a:t>Accuracy ≠ usefulness</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685800">
                <a:tc>
                  <a:txBody>
                    <a:bodyPr/>
                    <a:lstStyle/>
                    <a:p>
                      <a:pPr indent="0" marL="0">
                        <a:buNone/>
                      </a:pPr>
                      <a:r>
                        <a:rPr lang="en-US" sz="1700" b="1" dirty="0">
                          <a:solidFill>
                            <a:schemeClr val="tx1"/>
                          </a:solidFill>
                        </a:rPr>
                        <a:t>Watson for Oncology</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Very broad</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Unclear</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700" b="1" dirty="0">
                          <a:solidFill>
                            <a:schemeClr val="accent3"/>
                          </a:solidFill>
                        </a:rPr>
                        <a:t>Scope ran ahead of evidence</a:t>
                      </a:r>
                      <a:endParaRPr lang="en-US" sz="17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bl>
          </a:graphicData>
        </a:graphic>
      </p:graphicFrame>
      <p:sp>
        <p:nvSpPr>
          <p:cNvPr id="5" name="lesson"/>
          <p:cNvSpPr/>
          <p:nvPr/>
        </p:nvSpPr>
        <p:spPr>
          <a:xfrm>
            <a:off x="548640" y="5120640"/>
            <a:ext cx="11064240" cy="685800"/>
          </a:xfrm>
          <a:prstGeom prst="roundRect">
            <a:avLst>
              <a:gd name="adj" fmla="val 16000"/>
            </a:avLst>
          </a:prstGeom>
          <a:solidFill>
            <a:schemeClr val="accent5"/>
          </a:solidFill>
          <a:ln w="12700">
            <a:solidFill>
              <a:schemeClr val="accent5"/>
            </a:solidFill>
            <a:prstDash val="solid"/>
          </a:ln>
        </p:spPr>
      </p:sp>
      <p:sp>
        <p:nvSpPr>
          <p:cNvPr id="6" name="Text 2"/>
          <p:cNvSpPr txBox="1"/>
          <p:nvPr/>
        </p:nvSpPr>
        <p:spPr>
          <a:xfrm>
            <a:off x="777240" y="5120640"/>
            <a:ext cx="10607040" cy="685800"/>
          </a:xfrm>
          <a:prstGeom prst="rect">
            <a:avLst/>
          </a:prstGeom>
          <a:noFill/>
          <a:ln/>
        </p:spPr>
        <p:txBody>
          <a:bodyPr wrap="square" lIns="0" tIns="0" rIns="0" bIns="0" rtlCol="0" anchor="ctr"/>
          <a:lstStyle/>
          <a:p>
            <a:pPr indent="0" marL="0">
              <a:buNone/>
            </a:pPr>
            <a:r>
              <a:rPr lang="en-US" sz="1700" b="1" dirty="0">
                <a:solidFill>
                  <a:schemeClr val="accent1"/>
                </a:solidFill>
              </a:rPr>
              <a:t>Pattern  </a:t>
            </a:r>
            <a:r>
              <a:rPr lang="en-US" sz="1700" dirty="0">
                <a:solidFill>
                  <a:schemeClr val="tx1"/>
                </a:solidFill>
              </a:rPr>
              <a:t>the narrow, pre-specified task is the one with the strongest evidence trail.</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One table, four metrics</a:t>
            </a:r>
            <a:endParaRPr lang="en-US" sz="3200" dirty="0"/>
          </a:p>
        </p:txBody>
      </p:sp>
      <p:sp>
        <p:nvSpPr>
          <p:cNvPr id="4" name="Text 1"/>
          <p:cNvSpPr txBox="1"/>
          <p:nvPr/>
        </p:nvSpPr>
        <p:spPr>
          <a:xfrm>
            <a:off x="1691640" y="1325880"/>
            <a:ext cx="2148840" cy="411480"/>
          </a:xfrm>
          <a:prstGeom prst="rect">
            <a:avLst/>
          </a:prstGeom>
          <a:noFill/>
          <a:ln/>
        </p:spPr>
        <p:txBody>
          <a:bodyPr wrap="square" lIns="0" tIns="0" rIns="0" bIns="0" rtlCol="0" anchor="b"/>
          <a:lstStyle/>
          <a:p>
            <a:pPr algn="ctr" indent="0" marL="0">
              <a:buNone/>
            </a:pPr>
            <a:r>
              <a:rPr lang="en-US" sz="1400" b="1" dirty="0">
                <a:solidFill>
                  <a:schemeClr val="tx1"/>
                </a:solidFill>
              </a:rPr>
              <a:t>Has the condition</a:t>
            </a:r>
            <a:endParaRPr lang="en-US" sz="1400" dirty="0"/>
          </a:p>
        </p:txBody>
      </p:sp>
      <p:sp>
        <p:nvSpPr>
          <p:cNvPr id="5" name="Text 2"/>
          <p:cNvSpPr txBox="1"/>
          <p:nvPr/>
        </p:nvSpPr>
        <p:spPr>
          <a:xfrm>
            <a:off x="3840480" y="1325880"/>
            <a:ext cx="2148840" cy="411480"/>
          </a:xfrm>
          <a:prstGeom prst="rect">
            <a:avLst/>
          </a:prstGeom>
          <a:noFill/>
          <a:ln/>
        </p:spPr>
        <p:txBody>
          <a:bodyPr wrap="square" lIns="0" tIns="0" rIns="0" bIns="0" rtlCol="0" anchor="b"/>
          <a:lstStyle/>
          <a:p>
            <a:pPr algn="ctr" indent="0" marL="0">
              <a:buNone/>
            </a:pPr>
            <a:r>
              <a:rPr lang="en-US" sz="1400" b="1" dirty="0">
                <a:solidFill>
                  <a:schemeClr val="tx1"/>
                </a:solidFill>
              </a:rPr>
              <a:t>Does not</a:t>
            </a:r>
            <a:endParaRPr lang="en-US" sz="1400" dirty="0"/>
          </a:p>
        </p:txBody>
      </p:sp>
      <p:sp>
        <p:nvSpPr>
          <p:cNvPr id="6" name="Text 3"/>
          <p:cNvSpPr txBox="1"/>
          <p:nvPr/>
        </p:nvSpPr>
        <p:spPr>
          <a:xfrm>
            <a:off x="548640" y="1783080"/>
            <a:ext cx="1051560" cy="1051560"/>
          </a:xfrm>
          <a:prstGeom prst="rect">
            <a:avLst/>
          </a:prstGeom>
          <a:noFill/>
          <a:ln/>
        </p:spPr>
        <p:txBody>
          <a:bodyPr wrap="square" lIns="0" tIns="0" rIns="0" bIns="0" rtlCol="0" anchor="ctr"/>
          <a:lstStyle/>
          <a:p>
            <a:pPr algn="r" indent="0" marL="0">
              <a:buNone/>
            </a:pPr>
            <a:r>
              <a:rPr lang="en-US" sz="1500" b="1" dirty="0">
                <a:solidFill>
                  <a:schemeClr val="tx1"/>
                </a:solidFill>
              </a:rPr>
              <a:t>Test +</a:t>
            </a:r>
            <a:endParaRPr lang="en-US" sz="1500" dirty="0"/>
          </a:p>
        </p:txBody>
      </p:sp>
      <p:sp>
        <p:nvSpPr>
          <p:cNvPr id="7" name="Text 4"/>
          <p:cNvSpPr txBox="1"/>
          <p:nvPr/>
        </p:nvSpPr>
        <p:spPr>
          <a:xfrm>
            <a:off x="548640" y="2834640"/>
            <a:ext cx="1051560" cy="1051560"/>
          </a:xfrm>
          <a:prstGeom prst="rect">
            <a:avLst/>
          </a:prstGeom>
          <a:noFill/>
          <a:ln/>
        </p:spPr>
        <p:txBody>
          <a:bodyPr wrap="square" lIns="0" tIns="0" rIns="0" bIns="0" rtlCol="0" anchor="ctr"/>
          <a:lstStyle/>
          <a:p>
            <a:pPr algn="r" indent="0" marL="0">
              <a:buNone/>
            </a:pPr>
            <a:r>
              <a:rPr lang="en-US" sz="1500" b="1" dirty="0">
                <a:solidFill>
                  <a:schemeClr val="tx1"/>
                </a:solidFill>
              </a:rPr>
              <a:t>Test −</a:t>
            </a:r>
            <a:endParaRPr lang="en-US" sz="1500" dirty="0"/>
          </a:p>
        </p:txBody>
      </p:sp>
      <p:sp>
        <p:nvSpPr>
          <p:cNvPr id="8" name="key tile"/>
          <p:cNvSpPr/>
          <p:nvPr/>
        </p:nvSpPr>
        <p:spPr>
          <a:xfrm>
            <a:off x="1691640" y="1783080"/>
            <a:ext cx="2148840" cy="1051560"/>
          </a:xfrm>
          <a:prstGeom prst="rect">
            <a:avLst/>
          </a:prstGeom>
          <a:solidFill>
            <a:schemeClr val="accent5"/>
          </a:solidFill>
          <a:ln w="15875">
            <a:solidFill>
              <a:schemeClr val="accent1"/>
            </a:solidFill>
            <a:prstDash val="solid"/>
          </a:ln>
        </p:spPr>
      </p:sp>
      <p:sp>
        <p:nvSpPr>
          <p:cNvPr id="9" name="Text 6"/>
          <p:cNvSpPr txBox="1"/>
          <p:nvPr/>
        </p:nvSpPr>
        <p:spPr>
          <a:xfrm>
            <a:off x="1691640" y="1783080"/>
            <a:ext cx="2148840" cy="1051560"/>
          </a:xfrm>
          <a:prstGeom prst="rect">
            <a:avLst/>
          </a:prstGeom>
          <a:noFill/>
          <a:ln/>
        </p:spPr>
        <p:txBody>
          <a:bodyPr wrap="square" lIns="0" tIns="0" rIns="0" bIns="0" rtlCol="0" anchor="ctr"/>
          <a:lstStyle/>
          <a:p>
            <a:pPr algn="ctr" indent="0" marL="0">
              <a:buNone/>
            </a:pPr>
            <a:r>
              <a:rPr lang="en-US" sz="2200" b="1" dirty="0">
                <a:solidFill>
                  <a:schemeClr val="tx1"/>
                </a:solidFill>
              </a:rPr>
              <a:t>TP</a:t>
            </a:r>
            <a:endParaRPr lang="en-US" sz="1500" dirty="0"/>
          </a:p>
          <a:p>
            <a:pPr algn="ctr" indent="0" marL="0">
              <a:buNone/>
            </a:pPr>
            <a:r>
              <a:rPr lang="en-US" sz="1300" dirty="0">
                <a:solidFill>
                  <a:schemeClr val="tx1"/>
                </a:solidFill>
              </a:rPr>
              <a:t>true positive</a:t>
            </a:r>
            <a:endParaRPr lang="en-US" sz="1500" dirty="0"/>
          </a:p>
        </p:txBody>
      </p:sp>
      <p:sp>
        <p:nvSpPr>
          <p:cNvPr id="10" name="warn tile"/>
          <p:cNvSpPr/>
          <p:nvPr/>
        </p:nvSpPr>
        <p:spPr>
          <a:xfrm>
            <a:off x="3840480" y="1783080"/>
            <a:ext cx="2148840" cy="1051560"/>
          </a:xfrm>
          <a:prstGeom prst="rect">
            <a:avLst/>
          </a:prstGeom>
          <a:solidFill>
            <a:schemeClr val="accent6"/>
          </a:solidFill>
          <a:ln w="15875">
            <a:solidFill>
              <a:schemeClr val="accent3"/>
            </a:solidFill>
            <a:prstDash val="solid"/>
          </a:ln>
        </p:spPr>
      </p:sp>
      <p:sp>
        <p:nvSpPr>
          <p:cNvPr id="11" name="Text 8"/>
          <p:cNvSpPr txBox="1"/>
          <p:nvPr/>
        </p:nvSpPr>
        <p:spPr>
          <a:xfrm>
            <a:off x="3840480" y="1783080"/>
            <a:ext cx="2148840" cy="1051560"/>
          </a:xfrm>
          <a:prstGeom prst="rect">
            <a:avLst/>
          </a:prstGeom>
          <a:noFill/>
          <a:ln/>
        </p:spPr>
        <p:txBody>
          <a:bodyPr wrap="square" lIns="0" tIns="0" rIns="0" bIns="0" rtlCol="0" anchor="ctr"/>
          <a:lstStyle/>
          <a:p>
            <a:pPr algn="ctr" indent="0" marL="0">
              <a:buNone/>
            </a:pPr>
            <a:r>
              <a:rPr lang="en-US" sz="2200" b="1" dirty="0">
                <a:solidFill>
                  <a:schemeClr val="accent3"/>
                </a:solidFill>
              </a:rPr>
              <a:t>FP</a:t>
            </a:r>
            <a:endParaRPr lang="en-US" sz="1500" dirty="0"/>
          </a:p>
          <a:p>
            <a:pPr algn="ctr" indent="0" marL="0">
              <a:buNone/>
            </a:pPr>
            <a:r>
              <a:rPr lang="en-US" sz="1300" dirty="0">
                <a:solidFill>
                  <a:schemeClr val="tx1"/>
                </a:solidFill>
              </a:rPr>
              <a:t>false alarm</a:t>
            </a:r>
            <a:endParaRPr lang="en-US" sz="1500" dirty="0"/>
          </a:p>
        </p:txBody>
      </p:sp>
      <p:sp>
        <p:nvSpPr>
          <p:cNvPr id="12" name="warn tile"/>
          <p:cNvSpPr/>
          <p:nvPr/>
        </p:nvSpPr>
        <p:spPr>
          <a:xfrm>
            <a:off x="1691640" y="2834640"/>
            <a:ext cx="2148840" cy="1051560"/>
          </a:xfrm>
          <a:prstGeom prst="rect">
            <a:avLst/>
          </a:prstGeom>
          <a:solidFill>
            <a:schemeClr val="accent6"/>
          </a:solidFill>
          <a:ln w="15875">
            <a:solidFill>
              <a:schemeClr val="accent3"/>
            </a:solidFill>
            <a:prstDash val="solid"/>
          </a:ln>
        </p:spPr>
      </p:sp>
      <p:sp>
        <p:nvSpPr>
          <p:cNvPr id="13" name="Text 10"/>
          <p:cNvSpPr txBox="1"/>
          <p:nvPr/>
        </p:nvSpPr>
        <p:spPr>
          <a:xfrm>
            <a:off x="1691640" y="2834640"/>
            <a:ext cx="2148840" cy="1051560"/>
          </a:xfrm>
          <a:prstGeom prst="rect">
            <a:avLst/>
          </a:prstGeom>
          <a:noFill/>
          <a:ln/>
        </p:spPr>
        <p:txBody>
          <a:bodyPr wrap="square" lIns="0" tIns="0" rIns="0" bIns="0" rtlCol="0" anchor="ctr"/>
          <a:lstStyle/>
          <a:p>
            <a:pPr algn="ctr" indent="0" marL="0">
              <a:buNone/>
            </a:pPr>
            <a:r>
              <a:rPr lang="en-US" sz="2200" b="1" dirty="0">
                <a:solidFill>
                  <a:schemeClr val="accent3"/>
                </a:solidFill>
              </a:rPr>
              <a:t>FN</a:t>
            </a:r>
            <a:endParaRPr lang="en-US" sz="1500" dirty="0"/>
          </a:p>
          <a:p>
            <a:pPr algn="ctr" indent="0" marL="0">
              <a:buNone/>
            </a:pPr>
            <a:r>
              <a:rPr lang="en-US" sz="1300" dirty="0">
                <a:solidFill>
                  <a:schemeClr val="tx1"/>
                </a:solidFill>
              </a:rPr>
              <a:t>missed case</a:t>
            </a:r>
            <a:endParaRPr lang="en-US" sz="1500" dirty="0"/>
          </a:p>
        </p:txBody>
      </p:sp>
      <p:sp>
        <p:nvSpPr>
          <p:cNvPr id="14" name="key tile"/>
          <p:cNvSpPr/>
          <p:nvPr/>
        </p:nvSpPr>
        <p:spPr>
          <a:xfrm>
            <a:off x="3840480" y="2834640"/>
            <a:ext cx="2148840" cy="1051560"/>
          </a:xfrm>
          <a:prstGeom prst="rect">
            <a:avLst/>
          </a:prstGeom>
          <a:solidFill>
            <a:schemeClr val="accent5"/>
          </a:solidFill>
          <a:ln w="15875">
            <a:solidFill>
              <a:schemeClr val="accent1"/>
            </a:solidFill>
            <a:prstDash val="solid"/>
          </a:ln>
        </p:spPr>
      </p:sp>
      <p:sp>
        <p:nvSpPr>
          <p:cNvPr id="15" name="Text 12"/>
          <p:cNvSpPr txBox="1"/>
          <p:nvPr/>
        </p:nvSpPr>
        <p:spPr>
          <a:xfrm>
            <a:off x="3840480" y="2834640"/>
            <a:ext cx="2148840" cy="1051560"/>
          </a:xfrm>
          <a:prstGeom prst="rect">
            <a:avLst/>
          </a:prstGeom>
          <a:noFill/>
          <a:ln/>
        </p:spPr>
        <p:txBody>
          <a:bodyPr wrap="square" lIns="0" tIns="0" rIns="0" bIns="0" rtlCol="0" anchor="ctr"/>
          <a:lstStyle/>
          <a:p>
            <a:pPr algn="ctr" indent="0" marL="0">
              <a:buNone/>
            </a:pPr>
            <a:r>
              <a:rPr lang="en-US" sz="2200" b="1" dirty="0">
                <a:solidFill>
                  <a:schemeClr val="tx1"/>
                </a:solidFill>
              </a:rPr>
              <a:t>TN</a:t>
            </a:r>
            <a:endParaRPr lang="en-US" sz="1500" dirty="0"/>
          </a:p>
          <a:p>
            <a:pPr algn="ctr" indent="0" marL="0">
              <a:buNone/>
            </a:pPr>
            <a:r>
              <a:rPr lang="en-US" sz="1300" dirty="0">
                <a:solidFill>
                  <a:schemeClr val="tx1"/>
                </a:solidFill>
              </a:rPr>
              <a:t>true negative</a:t>
            </a:r>
            <a:endParaRPr lang="en-US" sz="1500" dirty="0"/>
          </a:p>
        </p:txBody>
      </p:sp>
      <p:sp>
        <p:nvSpPr>
          <p:cNvPr id="16" name="Text 13"/>
          <p:cNvSpPr txBox="1"/>
          <p:nvPr/>
        </p:nvSpPr>
        <p:spPr>
          <a:xfrm>
            <a:off x="548640" y="4023360"/>
            <a:ext cx="5440680" cy="548640"/>
          </a:xfrm>
          <a:prstGeom prst="rect">
            <a:avLst/>
          </a:prstGeom>
          <a:noFill/>
          <a:ln/>
        </p:spPr>
        <p:txBody>
          <a:bodyPr wrap="square" lIns="0" tIns="0" rIns="0" bIns="0" rtlCol="0" anchor="t"/>
          <a:lstStyle/>
          <a:p>
            <a:pPr indent="0" marL="0">
              <a:buNone/>
            </a:pPr>
            <a:r>
              <a:rPr lang="en-US" sz="1300" i="1" dirty="0">
                <a:solidFill>
                  <a:schemeClr val="tx2"/>
                </a:solidFill>
              </a:rPr>
              <a:t>Sensitivity and specificity read down a column · PPV and NPV read across a row</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80760" y="1371600"/>
          <a:ext cx="5532120" cy="914400"/>
        </p:xfrm>
        <a:graphic>
          <a:graphicData uri="http://schemas.openxmlformats.org/drawingml/2006/table">
            <a:tbl>
              <a:tblPr/>
              <a:tblGrid>
                <a:gridCol w="1325880"/>
                <a:gridCol w="1600200"/>
                <a:gridCol w="2606040"/>
              </a:tblGrid>
              <a:tr h="457200">
                <a:tc>
                  <a:txBody>
                    <a:bodyPr/>
                    <a:lstStyle/>
                    <a:p>
                      <a:pPr indent="0" marL="0">
                        <a:buNone/>
                      </a:pPr>
                      <a:r>
                        <a:rPr lang="en-US" sz="1400" b="1" dirty="0">
                          <a:solidFill>
                            <a:schemeClr val="bg1"/>
                          </a:solidFill>
                        </a:rPr>
                        <a:t>Metric</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Formula</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Question it answers</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r>
              <a:tr h="713232">
                <a:tc>
                  <a:txBody>
                    <a:bodyPr/>
                    <a:lstStyle/>
                    <a:p>
                      <a:pPr indent="0" marL="0">
                        <a:buNone/>
                      </a:pPr>
                      <a:r>
                        <a:rPr lang="en-US" sz="1400" b="1" dirty="0">
                          <a:solidFill>
                            <a:schemeClr val="tx1"/>
                          </a:solidFill>
                        </a:rPr>
                        <a:t>Sensitivity</a:t>
                      </a:r>
                      <a:endParaRPr lang="en-US" sz="1400" dirty="0"/>
                    </a:p>
                    <a:p>
                      <a:pPr indent="0" marL="0">
                        <a:buNone/>
                      </a:pPr>
                      <a:r>
                        <a:rPr lang="en-US" sz="1300" dirty="0">
                          <a:solidFill>
                            <a:schemeClr val="tx2"/>
                          </a:solidFill>
                        </a:rPr>
                        <a:t>recall</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TP / (TP + FN)</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Of the sick, how many test +?</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713232">
                <a:tc>
                  <a:txBody>
                    <a:bodyPr/>
                    <a:lstStyle/>
                    <a:p>
                      <a:pPr indent="0" marL="0">
                        <a:buNone/>
                      </a:pPr>
                      <a:r>
                        <a:rPr lang="en-US" sz="1400" b="1" dirty="0">
                          <a:solidFill>
                            <a:schemeClr val="tx1"/>
                          </a:solidFill>
                        </a:rPr>
                        <a:t>Specificity</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TN / (TN + FP)</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Of the healthy, how many test −?</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713232">
                <a:tc>
                  <a:txBody>
                    <a:bodyPr/>
                    <a:lstStyle/>
                    <a:p>
                      <a:pPr indent="0" marL="0">
                        <a:buNone/>
                      </a:pPr>
                      <a:r>
                        <a:rPr lang="en-US" sz="1400" b="1" dirty="0">
                          <a:solidFill>
                            <a:schemeClr val="accent1"/>
                          </a:solidFill>
                        </a:rPr>
                        <a:t>PPV</a:t>
                      </a:r>
                      <a:endParaRPr lang="en-US" sz="1400" dirty="0"/>
                    </a:p>
                    <a:p>
                      <a:pPr indent="0" marL="0">
                        <a:buNone/>
                      </a:pPr>
                      <a:r>
                        <a:rPr lang="en-US" sz="1300" dirty="0">
                          <a:solidFill>
                            <a:schemeClr val="tx2"/>
                          </a:solidFill>
                        </a:rPr>
                        <a:t>precision</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TP / (TP + FP)</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Of the positives, how many are sick?</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713232">
                <a:tc>
                  <a:txBody>
                    <a:bodyPr/>
                    <a:lstStyle/>
                    <a:p>
                      <a:pPr indent="0" marL="0">
                        <a:buNone/>
                      </a:pPr>
                      <a:r>
                        <a:rPr lang="en-US" sz="1400" b="1" dirty="0">
                          <a:solidFill>
                            <a:schemeClr val="accent1"/>
                          </a:solidFill>
                        </a:rPr>
                        <a:t>NPV</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TN / (TN + FN)</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Of the negatives, how many are healthy?</a:t>
                      </a:r>
                      <a:endParaRPr lang="en-US" sz="14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bl>
          </a:graphicData>
        </a:graphic>
      </p:graphicFrame>
      <p:sp>
        <p:nvSpPr>
          <p:cNvPr id="18" name="lesson"/>
          <p:cNvSpPr/>
          <p:nvPr/>
        </p:nvSpPr>
        <p:spPr>
          <a:xfrm>
            <a:off x="548640" y="5257800"/>
            <a:ext cx="11064240" cy="685800"/>
          </a:xfrm>
          <a:prstGeom prst="roundRect">
            <a:avLst>
              <a:gd name="adj" fmla="val 16000"/>
            </a:avLst>
          </a:prstGeom>
          <a:solidFill>
            <a:schemeClr val="accent5"/>
          </a:solidFill>
          <a:ln w="12700">
            <a:solidFill>
              <a:schemeClr val="accent5"/>
            </a:solidFill>
            <a:prstDash val="solid"/>
          </a:ln>
        </p:spPr>
      </p:sp>
      <p:sp>
        <p:nvSpPr>
          <p:cNvPr id="19" name="Text 15"/>
          <p:cNvSpPr txBox="1"/>
          <p:nvPr/>
        </p:nvSpPr>
        <p:spPr>
          <a:xfrm>
            <a:off x="777240" y="5257800"/>
            <a:ext cx="10607040" cy="685800"/>
          </a:xfrm>
          <a:prstGeom prst="rect">
            <a:avLst/>
          </a:prstGeom>
          <a:noFill/>
          <a:ln/>
        </p:spPr>
        <p:txBody>
          <a:bodyPr wrap="square" lIns="0" tIns="0" rIns="0" bIns="0" rtlCol="0" anchor="ctr"/>
          <a:lstStyle/>
          <a:p>
            <a:pPr indent="0" marL="0">
              <a:buNone/>
            </a:pPr>
            <a:r>
              <a:rPr lang="en-US" sz="1700" b="1" dirty="0">
                <a:solidFill>
                  <a:schemeClr val="accent1"/>
                </a:solidFill>
              </a:rPr>
              <a:t>Key idea  </a:t>
            </a:r>
            <a:r>
              <a:rPr lang="en-US" sz="1700" dirty="0">
                <a:solidFill>
                  <a:schemeClr val="tx1"/>
                </a:solidFill>
              </a:rPr>
              <a:t>sensitivity and specificity describe the test; PPV and NPV depend on prevalence.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Same model, very different PPV</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WORKED  </a:t>
            </a:r>
            <a:r>
              <a:rPr lang="en-US" sz="1400" dirty="0">
                <a:solidFill>
                  <a:schemeClr val="tx1"/>
                </a:solidFill>
              </a:rPr>
              <a:t>example</a:t>
            </a:r>
            <a:endParaRPr lang="en-US" sz="1400" dirty="0"/>
          </a:p>
        </p:txBody>
      </p:sp>
      <p:sp>
        <p:nvSpPr>
          <p:cNvPr id="6" name="Text 3"/>
          <p:cNvSpPr txBox="1"/>
          <p:nvPr/>
        </p:nvSpPr>
        <p:spPr>
          <a:xfrm>
            <a:off x="548640" y="1234440"/>
            <a:ext cx="8046720" cy="365760"/>
          </a:xfrm>
          <a:prstGeom prst="rect">
            <a:avLst/>
          </a:prstGeom>
          <a:noFill/>
          <a:ln/>
        </p:spPr>
        <p:txBody>
          <a:bodyPr wrap="square" lIns="0" tIns="0" rIns="0" bIns="0" rtlCol="0" anchor="t"/>
          <a:lstStyle/>
          <a:p>
            <a:pPr indent="0" marL="0">
              <a:buNone/>
            </a:pPr>
            <a:r>
              <a:rPr lang="en-US" sz="1600" dirty="0">
                <a:solidFill>
                  <a:schemeClr val="tx2"/>
                </a:solidFill>
              </a:rPr>
              <a:t>A hypothetical test: 90% sensitivity, 90% specificity, used on 10,000 people</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914400"/>
        </p:xfrm>
        <a:graphic>
          <a:graphicData uri="http://schemas.openxmlformats.org/drawingml/2006/table">
            <a:tbl>
              <a:tblPr/>
              <a:tblGrid>
                <a:gridCol w="1920240"/>
                <a:gridCol w="731520"/>
                <a:gridCol w="777240"/>
                <a:gridCol w="685800"/>
                <a:gridCol w="822960"/>
                <a:gridCol w="914400"/>
              </a:tblGrid>
              <a:tr h="502920">
                <a:tc>
                  <a:txBody>
                    <a:bodyPr/>
                    <a:lstStyle/>
                    <a:p>
                      <a:pPr indent="0" marL="0">
                        <a:buNone/>
                      </a:pPr>
                      <a:r>
                        <a:rPr lang="en-US" sz="1500" b="1" dirty="0">
                          <a:solidFill>
                            <a:schemeClr val="bg1"/>
                          </a:solidFill>
                        </a:rPr>
                        <a:t>Setting</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Prev.</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TP</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FP</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PPV</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NPV</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r>
              <a:tr h="502920">
                <a:tc>
                  <a:txBody>
                    <a:bodyPr/>
                    <a:lstStyle/>
                    <a:p>
                      <a:pPr indent="0" marL="0">
                        <a:buNone/>
                      </a:pPr>
                      <a:r>
                        <a:rPr lang="en-US" sz="1500" dirty="0">
                          <a:solidFill>
                            <a:schemeClr val="tx1"/>
                          </a:solidFill>
                        </a:rPr>
                        <a:t>Specialist clinic</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20%</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1,800</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800</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rPr>
                        <a:t>69%</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97.3%</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502920">
                <a:tc>
                  <a:txBody>
                    <a:bodyPr/>
                    <a:lstStyle/>
                    <a:p>
                      <a:pPr indent="0" marL="0">
                        <a:buNone/>
                      </a:pPr>
                      <a:r>
                        <a:rPr lang="en-US" sz="1500" dirty="0">
                          <a:solidFill>
                            <a:schemeClr val="tx1"/>
                          </a:solidFill>
                        </a:rPr>
                        <a:t>General population</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1%</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90</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990</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3"/>
                          </a:solidFill>
                        </a:rPr>
                        <a:t>8%</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99.9%</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bl>
          </a:graphicData>
        </a:graphic>
      </p:graphicFrame>
      <p:graphicFrame>
        <p:nvGraphicFramePr>
          <p:cNvPr id="8" name="Chart 0" descr=""/>
          <p:cNvGraphicFramePr/>
          <p:nvPr/>
        </p:nvGraphicFramePr>
        <p:xfrm>
          <a:off x="6583680" y="1691640"/>
          <a:ext cx="5029200" cy="3566160"/>
        </p:xfrm>
        <a:graphic xmlns:a="http://schemas.openxmlformats.org/drawingml/2006/main">
          <a:graphicData uri="http://schemas.openxmlformats.org/drawingml/2006/chart">
            <c:chart xmlns:c="http://schemas.openxmlformats.org/drawingml/2006/chart" r:id="rId1"/>
          </a:graphicData>
        </a:graphic>
      </p:graphicFrame>
      <p:sp>
        <p:nvSpPr>
          <p:cNvPr id="9" name="false alarms"/>
          <p:cNvSpPr/>
          <p:nvPr/>
        </p:nvSpPr>
        <p:spPr>
          <a:xfrm>
            <a:off x="548640" y="3520440"/>
            <a:ext cx="5852160" cy="1737360"/>
          </a:xfrm>
          <a:prstGeom prst="roundRect">
            <a:avLst>
              <a:gd name="adj" fmla="val 6316"/>
            </a:avLst>
          </a:prstGeom>
          <a:solidFill>
            <a:schemeClr val="accent6"/>
          </a:solidFill>
          <a:ln w="12700">
            <a:solidFill>
              <a:schemeClr val="accent6"/>
            </a:solidFill>
            <a:prstDash val="solid"/>
          </a:ln>
        </p:spPr>
      </p:sp>
      <p:sp>
        <p:nvSpPr>
          <p:cNvPr id="10" name="Text 5"/>
          <p:cNvSpPr txBox="1"/>
          <p:nvPr/>
        </p:nvSpPr>
        <p:spPr>
          <a:xfrm>
            <a:off x="777240" y="3566160"/>
            <a:ext cx="5394960" cy="1645920"/>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990 of 1,080</a:t>
            </a:r>
            <a:endParaRPr lang="en-US" sz="1600" dirty="0"/>
          </a:p>
          <a:p>
            <a:pPr indent="0" marL="0">
              <a:buNone/>
            </a:pPr>
            <a:r>
              <a:rPr lang="en-US" sz="1600" dirty="0">
                <a:solidFill>
                  <a:schemeClr val="tx1"/>
                </a:solidFill>
              </a:rPr>
              <a:t>alerts in the general population are false alarms — more than 9 in 10, because healthy people vastly outnumber sick ones.</a:t>
            </a:r>
            <a:endParaRPr lang="en-US" sz="1600" dirty="0"/>
          </a:p>
        </p:txBody>
      </p:sp>
      <p:sp>
        <p:nvSpPr>
          <p:cNvPr id="11" name="lesson"/>
          <p:cNvSpPr/>
          <p:nvPr/>
        </p:nvSpPr>
        <p:spPr>
          <a:xfrm>
            <a:off x="548640" y="5486400"/>
            <a:ext cx="11064240" cy="685800"/>
          </a:xfrm>
          <a:prstGeom prst="roundRect">
            <a:avLst>
              <a:gd name="adj" fmla="val 16000"/>
            </a:avLst>
          </a:prstGeom>
          <a:solidFill>
            <a:schemeClr val="accent5"/>
          </a:solidFill>
          <a:ln w="12700">
            <a:solidFill>
              <a:schemeClr val="accent5"/>
            </a:solidFill>
            <a:prstDash val="solid"/>
          </a:ln>
        </p:spPr>
      </p:sp>
      <p:sp>
        <p:nvSpPr>
          <p:cNvPr id="12" name="Text 7"/>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700" b="1" dirty="0">
                <a:solidFill>
                  <a:schemeClr val="accent1"/>
                </a:solidFill>
              </a:rPr>
              <a:t>Lesson  </a:t>
            </a:r>
            <a:r>
              <a:rPr lang="en-US" sz="1700" dirty="0">
                <a:solidFill>
                  <a:schemeClr val="tx1"/>
                </a:solidFill>
              </a:rPr>
              <a:t>validated in a specialist clinic, moved to general screening: accurate on paper, overwhelming in practice.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Why PPV falls with prevalence</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FORMULA  </a:t>
            </a:r>
            <a:r>
              <a:rPr lang="en-US" sz="1400" dirty="0">
                <a:solidFill>
                  <a:schemeClr val="tx1"/>
                </a:solidFill>
              </a:rPr>
              <a:t>p = prevalence</a:t>
            </a:r>
            <a:endParaRPr lang="en-US" sz="1400" dirty="0"/>
          </a:p>
        </p:txBody>
      </p:sp>
      <p:sp>
        <p:nvSpPr>
          <p:cNvPr id="6" name="ppv formula"/>
          <p:cNvSpPr/>
          <p:nvPr/>
        </p:nvSpPr>
        <p:spPr>
          <a:xfrm>
            <a:off x="548640" y="1325880"/>
            <a:ext cx="5760720" cy="1508760"/>
          </a:xfrm>
          <a:prstGeom prst="roundRect">
            <a:avLst>
              <a:gd name="adj" fmla="val 7273"/>
            </a:avLst>
          </a:prstGeom>
          <a:solidFill>
            <a:schemeClr val="bg2"/>
          </a:solidFill>
          <a:ln w="12700">
            <a:solidFill>
              <a:schemeClr val="bg2"/>
            </a:solidFill>
            <a:prstDash val="solid"/>
          </a:ln>
        </p:spPr>
      </p:sp>
      <p:sp>
        <p:nvSpPr>
          <p:cNvPr id="7" name="Text 4"/>
          <p:cNvSpPr txBox="1"/>
          <p:nvPr/>
        </p:nvSpPr>
        <p:spPr>
          <a:xfrm>
            <a:off x="685800" y="1783080"/>
            <a:ext cx="109728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PPV  =</a:t>
            </a:r>
            <a:endParaRPr lang="en-US" sz="2000" dirty="0"/>
          </a:p>
        </p:txBody>
      </p:sp>
      <p:sp>
        <p:nvSpPr>
          <p:cNvPr id="8" name="Text 5"/>
          <p:cNvSpPr txBox="1"/>
          <p:nvPr/>
        </p:nvSpPr>
        <p:spPr>
          <a:xfrm>
            <a:off x="1783080" y="1463040"/>
            <a:ext cx="4389120" cy="502920"/>
          </a:xfrm>
          <a:prstGeom prst="rect">
            <a:avLst/>
          </a:prstGeom>
          <a:noFill/>
          <a:ln/>
        </p:spPr>
        <p:txBody>
          <a:bodyPr wrap="square" lIns="0" tIns="0" rIns="0" bIns="0" rtlCol="0" anchor="ctr"/>
          <a:lstStyle/>
          <a:p>
            <a:pPr algn="ctr" indent="0" marL="0">
              <a:buNone/>
            </a:pPr>
            <a:r>
              <a:rPr lang="en-US" sz="2000" dirty="0">
                <a:solidFill>
                  <a:schemeClr val="tx1"/>
                </a:solidFill>
                <a:latin typeface="Cambria" pitchFamily="34" charset="0"/>
                <a:ea typeface="Cambria" pitchFamily="34" charset="-122"/>
                <a:cs typeface="Cambria" pitchFamily="34" charset="-120"/>
              </a:rPr>
              <a:t>sens × p</a:t>
            </a:r>
            <a:endParaRPr lang="en-US" sz="2000" dirty="0"/>
          </a:p>
        </p:txBody>
      </p:sp>
      <p:sp>
        <p:nvSpPr>
          <p:cNvPr id="9" name="Shape 6"/>
          <p:cNvSpPr/>
          <p:nvPr/>
        </p:nvSpPr>
        <p:spPr>
          <a:xfrm>
            <a:off x="1874520" y="2057400"/>
            <a:ext cx="4206240" cy="0"/>
          </a:xfrm>
          <a:prstGeom prst="line">
            <a:avLst/>
          </a:prstGeom>
          <a:noFill/>
          <a:ln w="19050">
            <a:solidFill>
              <a:schemeClr val="tx1"/>
            </a:solidFill>
            <a:prstDash val="solid"/>
          </a:ln>
        </p:spPr>
      </p:sp>
      <p:sp>
        <p:nvSpPr>
          <p:cNvPr id="10" name="Text 7"/>
          <p:cNvSpPr txBox="1"/>
          <p:nvPr/>
        </p:nvSpPr>
        <p:spPr>
          <a:xfrm>
            <a:off x="1783080" y="2148840"/>
            <a:ext cx="4389120" cy="502920"/>
          </a:xfrm>
          <a:prstGeom prst="rect">
            <a:avLst/>
          </a:prstGeom>
          <a:noFill/>
          <a:ln/>
        </p:spPr>
        <p:txBody>
          <a:bodyPr wrap="square" lIns="0" tIns="0" rIns="0" bIns="0" rtlCol="0" anchor="ctr"/>
          <a:lstStyle/>
          <a:p>
            <a:pPr algn="ctr" indent="0" marL="0">
              <a:buNone/>
            </a:pPr>
            <a:r>
              <a:rPr lang="en-US" sz="2000" dirty="0">
                <a:solidFill>
                  <a:schemeClr val="tx1"/>
                </a:solidFill>
                <a:latin typeface="Cambria" pitchFamily="34" charset="0"/>
                <a:ea typeface="Cambria" pitchFamily="34" charset="-122"/>
                <a:cs typeface="Cambria" pitchFamily="34" charset="-120"/>
              </a:rPr>
              <a:t>sens × p  +  (1 − spec) × (1 − p)</a:t>
            </a:r>
            <a:endParaRPr lang="en-US" sz="2000" dirty="0"/>
          </a:p>
        </p:txBody>
      </p:sp>
      <p:sp>
        <p:nvSpPr>
          <p:cNvPr id="11" name="Text 8"/>
          <p:cNvSpPr txBox="1"/>
          <p:nvPr/>
        </p:nvSpPr>
        <p:spPr>
          <a:xfrm>
            <a:off x="548640" y="3017520"/>
            <a:ext cx="5760720" cy="210312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accent1"/>
                </a:solidFill>
              </a:rPr>
              <a:t>Top: true positives</a:t>
            </a:r>
            <a:r>
              <a:rPr lang="en-US" sz="1600" dirty="0">
                <a:solidFill>
                  <a:schemeClr val="tx1"/>
                </a:solidFill>
              </a:rPr>
              <a:t> scale with p, the small sick group</a:t>
            </a:r>
            <a:endParaRPr lang="en-US" sz="1600" dirty="0"/>
          </a:p>
          <a:p>
            <a:pPr marL="228600" indent="-228600">
              <a:spcAft>
                <a:spcPts val="800"/>
              </a:spcAft>
              <a:buSzPct val="100000"/>
              <a:buChar char="•"/>
            </a:pPr>
            <a:r>
              <a:rPr lang="en-US" sz="1600" b="1" dirty="0">
                <a:solidFill>
                  <a:schemeClr val="accent3"/>
                </a:solidFill>
              </a:rPr>
              <a:t>Bottom adds false positives</a:t>
            </a:r>
            <a:r>
              <a:rPr lang="en-US" sz="1600" dirty="0">
                <a:solidFill>
                  <a:schemeClr val="tx1"/>
                </a:solidFill>
              </a:rPr>
              <a:t> from the large healthy group, 1 − p</a:t>
            </a:r>
            <a:endParaRPr lang="en-US" sz="1600" dirty="0"/>
          </a:p>
          <a:p>
            <a:pPr marL="228600" indent="-228600">
              <a:spcAft>
                <a:spcPts val="800"/>
              </a:spcAft>
              <a:buSzPct val="100000"/>
              <a:buChar char="•"/>
            </a:pPr>
            <a:r>
              <a:rPr lang="en-US" sz="1600" dirty="0">
                <a:solidFill>
                  <a:schemeClr val="tx1"/>
                </a:solidFill>
              </a:rPr>
              <a:t>Rare condition: false positives outnumber true ones</a:t>
            </a:r>
            <a:endParaRPr lang="en-US" sz="1600" dirty="0"/>
          </a:p>
          <a:p>
            <a:pPr marL="228600" indent="-228600">
              <a:spcAft>
                <a:spcPts val="800"/>
              </a:spcAft>
              <a:buSzPct val="100000"/>
              <a:buChar char="•"/>
            </a:pPr>
            <a:r>
              <a:rPr lang="en-US" sz="1600" dirty="0">
                <a:solidFill>
                  <a:schemeClr val="tx1"/>
                </a:solidFill>
              </a:rPr>
              <a:t>NPV does the opposite: it </a:t>
            </a:r>
            <a:r>
              <a:rPr lang="en-US" sz="1600" b="1" dirty="0">
                <a:solidFill>
                  <a:schemeClr val="tx1"/>
                </a:solidFill>
              </a:rPr>
              <a:t>rises</a:t>
            </a:r>
            <a:r>
              <a:rPr lang="en-US" sz="1600" dirty="0">
                <a:solidFill>
                  <a:schemeClr val="tx1"/>
                </a:solidFill>
              </a:rPr>
              <a:t> as p falls</a:t>
            </a:r>
            <a:endParaRPr lang="en-US" sz="1600" dirty="0"/>
          </a:p>
        </p:txBody>
      </p:sp>
      <p:graphicFrame>
        <p:nvGraphicFramePr>
          <p:cNvPr id="12" name="Chart 0" descr=""/>
          <p:cNvGraphicFramePr/>
          <p:nvPr/>
        </p:nvGraphicFramePr>
        <p:xfrm>
          <a:off x="6583680" y="1280160"/>
          <a:ext cx="5029200" cy="3886200"/>
        </p:xfrm>
        <a:graphic xmlns:a="http://schemas.openxmlformats.org/drawingml/2006/main">
          <a:graphicData uri="http://schemas.openxmlformats.org/drawingml/2006/chart">
            <c:chart xmlns:c="http://schemas.openxmlformats.org/drawingml/2006/chart" r:id="rId1"/>
          </a:graphicData>
        </a:graphic>
      </p:graphicFrame>
      <p:sp>
        <p:nvSpPr>
          <p:cNvPr id="13" name="lesson"/>
          <p:cNvSpPr/>
          <p:nvPr/>
        </p:nvSpPr>
        <p:spPr>
          <a:xfrm>
            <a:off x="548640" y="5349240"/>
            <a:ext cx="11064240" cy="685800"/>
          </a:xfrm>
          <a:prstGeom prst="roundRect">
            <a:avLst>
              <a:gd name="adj" fmla="val 16000"/>
            </a:avLst>
          </a:prstGeom>
          <a:solidFill>
            <a:schemeClr val="accent5"/>
          </a:solidFill>
          <a:ln w="12700">
            <a:solidFill>
              <a:schemeClr val="accent5"/>
            </a:solidFill>
            <a:prstDash val="solid"/>
          </a:ln>
        </p:spPr>
      </p:sp>
      <p:sp>
        <p:nvSpPr>
          <p:cNvPr id="14" name="Text 10"/>
          <p:cNvSpPr txBox="1"/>
          <p:nvPr/>
        </p:nvSpPr>
        <p:spPr>
          <a:xfrm>
            <a:off x="777240" y="5349240"/>
            <a:ext cx="10607040" cy="685800"/>
          </a:xfrm>
          <a:prstGeom prst="rect">
            <a:avLst/>
          </a:prstGeom>
          <a:noFill/>
          <a:ln/>
        </p:spPr>
        <p:txBody>
          <a:bodyPr wrap="square" lIns="0" tIns="0" rIns="0" bIns="0" rtlCol="0" anchor="ctr"/>
          <a:lstStyle/>
          <a:p>
            <a:pPr indent="0" marL="0">
              <a:buNone/>
            </a:pPr>
            <a:r>
              <a:rPr lang="en-US" sz="1700" b="1" dirty="0">
                <a:solidFill>
                  <a:schemeClr val="accent1"/>
                </a:solidFill>
              </a:rPr>
              <a:t>Lesson  </a:t>
            </a:r>
            <a:r>
              <a:rPr lang="en-US" sz="1700" dirty="0">
                <a:solidFill>
                  <a:schemeClr val="tx1"/>
                </a:solidFill>
              </a:rPr>
              <a:t>a PPV measured where the condition is common does not carry over to screening.</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Your turn: PPV and NPV</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EXERCISE  </a:t>
            </a:r>
            <a:r>
              <a:rPr lang="en-US" sz="1400" dirty="0">
                <a:solidFill>
                  <a:schemeClr val="tx1"/>
                </a:solidFill>
              </a:rPr>
              <a:t>4–5 min</a:t>
            </a:r>
            <a:endParaRPr lang="en-US" sz="1400" dirty="0"/>
          </a:p>
        </p:txBody>
      </p:sp>
      <p:sp>
        <p:nvSpPr>
          <p:cNvPr id="6" name="question"/>
          <p:cNvSpPr/>
          <p:nvPr/>
        </p:nvSpPr>
        <p:spPr>
          <a:xfrm>
            <a:off x="548640" y="1371600"/>
            <a:ext cx="11064240" cy="1188720"/>
          </a:xfrm>
          <a:prstGeom prst="roundRect">
            <a:avLst>
              <a:gd name="adj" fmla="val 9231"/>
            </a:avLst>
          </a:prstGeom>
          <a:solidFill>
            <a:schemeClr val="accent5"/>
          </a:solidFill>
          <a:ln w="12700">
            <a:solidFill>
              <a:schemeClr val="accent5"/>
            </a:solidFill>
            <a:prstDash val="solid"/>
          </a:ln>
        </p:spPr>
      </p:sp>
      <p:sp>
        <p:nvSpPr>
          <p:cNvPr id="7" name="Text 4"/>
          <p:cNvSpPr txBox="1"/>
          <p:nvPr/>
        </p:nvSpPr>
        <p:spPr>
          <a:xfrm>
            <a:off x="822960" y="1371600"/>
            <a:ext cx="10515600" cy="1188720"/>
          </a:xfrm>
          <a:prstGeom prst="rect">
            <a:avLst/>
          </a:prstGeom>
          <a:noFill/>
          <a:ln/>
        </p:spPr>
        <p:txBody>
          <a:bodyPr wrap="square" lIns="0" tIns="0" rIns="0" bIns="0" rtlCol="0" anchor="ctr"/>
          <a:lstStyle/>
          <a:p>
            <a:pPr indent="0" marL="0">
              <a:buNone/>
            </a:pPr>
            <a:r>
              <a:rPr lang="en-US" sz="1900" dirty="0">
                <a:solidFill>
                  <a:schemeClr val="tx1"/>
                </a:solidFill>
              </a:rPr>
              <a:t>A screening test has 95% sensitivity and 95% specificity. It is used on 10,000 people, and the prevalence is 2%. What are its PPV and NPV? What do the results mean?</a:t>
            </a:r>
            <a:endParaRPr lang="en-US" sz="1900" dirty="0"/>
          </a:p>
        </p:txBody>
      </p:sp>
      <p:sp>
        <p:nvSpPr>
          <p:cNvPr id="8" name="Shape 5"/>
          <p:cNvSpPr/>
          <p:nvPr/>
        </p:nvSpPr>
        <p:spPr>
          <a:xfrm>
            <a:off x="731520" y="278892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731520" y="27889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0" name="Text 7"/>
          <p:cNvSpPr txBox="1"/>
          <p:nvPr/>
        </p:nvSpPr>
        <p:spPr>
          <a:xfrm>
            <a:off x="1417320" y="2743200"/>
            <a:ext cx="9144000" cy="548640"/>
          </a:xfrm>
          <a:prstGeom prst="rect">
            <a:avLst/>
          </a:prstGeom>
          <a:noFill/>
          <a:ln/>
        </p:spPr>
        <p:txBody>
          <a:bodyPr wrap="square" lIns="0" tIns="0" rIns="0" bIns="0" rtlCol="0" anchor="ctr"/>
          <a:lstStyle/>
          <a:p>
            <a:pPr indent="0" marL="0">
              <a:buNone/>
            </a:pPr>
            <a:r>
              <a:rPr lang="en-US" sz="1800" dirty="0">
                <a:solidFill>
                  <a:schemeClr val="tx1"/>
                </a:solidFill>
              </a:rPr>
              <a:t>How many have the condition?</a:t>
            </a:r>
            <a:endParaRPr lang="en-US" sz="1800" dirty="0"/>
          </a:p>
        </p:txBody>
      </p:sp>
      <p:sp>
        <p:nvSpPr>
          <p:cNvPr id="11" name="Shape 8"/>
          <p:cNvSpPr/>
          <p:nvPr/>
        </p:nvSpPr>
        <p:spPr>
          <a:xfrm>
            <a:off x="731520" y="3355848"/>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731520" y="335584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1417320" y="3310128"/>
            <a:ext cx="9144000" cy="548640"/>
          </a:xfrm>
          <a:prstGeom prst="rect">
            <a:avLst/>
          </a:prstGeom>
          <a:noFill/>
          <a:ln/>
        </p:spPr>
        <p:txBody>
          <a:bodyPr wrap="square" lIns="0" tIns="0" rIns="0" bIns="0" rtlCol="0" anchor="ctr"/>
          <a:lstStyle/>
          <a:p>
            <a:pPr indent="0" marL="0">
              <a:buNone/>
            </a:pPr>
            <a:r>
              <a:rPr lang="en-US" sz="1800" dirty="0">
                <a:solidFill>
                  <a:schemeClr val="tx1"/>
                </a:solidFill>
              </a:rPr>
              <a:t>How many of them test positive (TP) or negative (FN)?</a:t>
            </a:r>
            <a:endParaRPr lang="en-US" sz="1800" dirty="0"/>
          </a:p>
        </p:txBody>
      </p:sp>
      <p:sp>
        <p:nvSpPr>
          <p:cNvPr id="14" name="Shape 11"/>
          <p:cNvSpPr/>
          <p:nvPr/>
        </p:nvSpPr>
        <p:spPr>
          <a:xfrm>
            <a:off x="731520" y="3922776"/>
            <a:ext cx="457200" cy="457200"/>
          </a:xfrm>
          <a:prstGeom prst="ellipse">
            <a:avLst/>
          </a:prstGeom>
          <a:solidFill>
            <a:schemeClr val="accent1"/>
          </a:solidFill>
          <a:ln w="12700">
            <a:solidFill>
              <a:schemeClr val="accent1"/>
            </a:solidFill>
            <a:prstDash val="solid"/>
          </a:ln>
        </p:spPr>
      </p:sp>
      <p:sp>
        <p:nvSpPr>
          <p:cNvPr id="15" name="Text 12"/>
          <p:cNvSpPr txBox="1"/>
          <p:nvPr/>
        </p:nvSpPr>
        <p:spPr>
          <a:xfrm>
            <a:off x="731520" y="392277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417320" y="3877056"/>
            <a:ext cx="9144000" cy="548640"/>
          </a:xfrm>
          <a:prstGeom prst="rect">
            <a:avLst/>
          </a:prstGeom>
          <a:noFill/>
          <a:ln/>
        </p:spPr>
        <p:txBody>
          <a:bodyPr wrap="square" lIns="0" tIns="0" rIns="0" bIns="0" rtlCol="0" anchor="ctr"/>
          <a:lstStyle/>
          <a:p>
            <a:pPr indent="0" marL="0">
              <a:buNone/>
            </a:pPr>
            <a:r>
              <a:rPr lang="en-US" sz="1800" dirty="0">
                <a:solidFill>
                  <a:schemeClr val="tx1"/>
                </a:solidFill>
              </a:rPr>
              <a:t>How many healthy people test positive (FP) or negative (TN)?</a:t>
            </a:r>
            <a:endParaRPr lang="en-US" sz="1800" dirty="0"/>
          </a:p>
        </p:txBody>
      </p:sp>
      <p:sp>
        <p:nvSpPr>
          <p:cNvPr id="17" name="Shape 14"/>
          <p:cNvSpPr/>
          <p:nvPr/>
        </p:nvSpPr>
        <p:spPr>
          <a:xfrm>
            <a:off x="731520" y="4489704"/>
            <a:ext cx="457200" cy="457200"/>
          </a:xfrm>
          <a:prstGeom prst="ellipse">
            <a:avLst/>
          </a:prstGeom>
          <a:solidFill>
            <a:schemeClr val="accent1"/>
          </a:solidFill>
          <a:ln w="12700">
            <a:solidFill>
              <a:schemeClr val="accent1"/>
            </a:solidFill>
            <a:prstDash val="solid"/>
          </a:ln>
        </p:spPr>
      </p:sp>
      <p:sp>
        <p:nvSpPr>
          <p:cNvPr id="18" name="Text 15"/>
          <p:cNvSpPr txBox="1"/>
          <p:nvPr/>
        </p:nvSpPr>
        <p:spPr>
          <a:xfrm>
            <a:off x="731520" y="448970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1417320" y="4443984"/>
            <a:ext cx="9144000" cy="548640"/>
          </a:xfrm>
          <a:prstGeom prst="rect">
            <a:avLst/>
          </a:prstGeom>
          <a:noFill/>
          <a:ln/>
        </p:spPr>
        <p:txBody>
          <a:bodyPr wrap="square" lIns="0" tIns="0" rIns="0" bIns="0" rtlCol="0" anchor="ctr"/>
          <a:lstStyle/>
          <a:p>
            <a:pPr indent="0" marL="0">
              <a:buNone/>
            </a:pPr>
            <a:r>
              <a:rPr lang="en-US" sz="1800" dirty="0">
                <a:solidFill>
                  <a:schemeClr val="tx1"/>
                </a:solidFill>
              </a:rPr>
              <a:t>PPV = TP / (TP + FP)</a:t>
            </a:r>
            <a:endParaRPr lang="en-US" sz="1800" dirty="0"/>
          </a:p>
        </p:txBody>
      </p:sp>
      <p:sp>
        <p:nvSpPr>
          <p:cNvPr id="20" name="Shape 17"/>
          <p:cNvSpPr/>
          <p:nvPr/>
        </p:nvSpPr>
        <p:spPr>
          <a:xfrm>
            <a:off x="731520" y="5056632"/>
            <a:ext cx="457200" cy="457200"/>
          </a:xfrm>
          <a:prstGeom prst="ellipse">
            <a:avLst/>
          </a:prstGeom>
          <a:solidFill>
            <a:schemeClr val="accent1"/>
          </a:solidFill>
          <a:ln w="12700">
            <a:solidFill>
              <a:schemeClr val="accent1"/>
            </a:solidFill>
            <a:prstDash val="solid"/>
          </a:ln>
        </p:spPr>
      </p:sp>
      <p:sp>
        <p:nvSpPr>
          <p:cNvPr id="21" name="Text 18"/>
          <p:cNvSpPr txBox="1"/>
          <p:nvPr/>
        </p:nvSpPr>
        <p:spPr>
          <a:xfrm>
            <a:off x="731520" y="505663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19"/>
          <p:cNvSpPr txBox="1"/>
          <p:nvPr/>
        </p:nvSpPr>
        <p:spPr>
          <a:xfrm>
            <a:off x="1417320" y="5010912"/>
            <a:ext cx="9144000" cy="548640"/>
          </a:xfrm>
          <a:prstGeom prst="rect">
            <a:avLst/>
          </a:prstGeom>
          <a:noFill/>
          <a:ln/>
        </p:spPr>
        <p:txBody>
          <a:bodyPr wrap="square" lIns="0" tIns="0" rIns="0" bIns="0" rtlCol="0" anchor="ctr"/>
          <a:lstStyle/>
          <a:p>
            <a:pPr indent="0" marL="0">
              <a:buNone/>
            </a:pPr>
            <a:r>
              <a:rPr lang="en-US" sz="1800" dirty="0">
                <a:solidFill>
                  <a:schemeClr val="tx1"/>
                </a:solidFill>
              </a:rPr>
              <a:t>NPV = TN / (TN + FN)</a:t>
            </a:r>
            <a:endParaRPr lang="en-US" sz="1800" dirty="0"/>
          </a:p>
        </p:txBody>
      </p:sp>
      <p:sp>
        <p:nvSpPr>
          <p:cNvPr id="23" name="Text 20"/>
          <p:cNvSpPr txBox="1"/>
          <p:nvPr/>
        </p:nvSpPr>
        <p:spPr>
          <a:xfrm>
            <a:off x="548640" y="5669280"/>
            <a:ext cx="11064240" cy="411480"/>
          </a:xfrm>
          <a:prstGeom prst="rect">
            <a:avLst/>
          </a:prstGeom>
          <a:noFill/>
          <a:ln/>
        </p:spPr>
        <p:txBody>
          <a:bodyPr wrap="square" lIns="0" tIns="0" rIns="0" bIns="0" rtlCol="0" anchor="t"/>
          <a:lstStyle/>
          <a:p>
            <a:pPr indent="0" marL="0">
              <a:buNone/>
            </a:pPr>
            <a:r>
              <a:rPr lang="en-US" sz="1600" i="1" dirty="0">
                <a:solidFill>
                  <a:schemeClr val="tx2"/>
                </a:solidFill>
              </a:rPr>
              <a:t>Then interpret: what does a positive result mean? And a negative one?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When AI helps, and when it fails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5532120"/>
                <a:gridCol w="5532120"/>
              </a:tblGrid>
              <a:tr h="566928">
                <a:tc>
                  <a:txBody>
                    <a:bodyPr/>
                    <a:lstStyle/>
                    <a:p>
                      <a:pPr indent="0" marL="0">
                        <a:buNone/>
                      </a:pPr>
                      <a:r>
                        <a:rPr lang="en-US" sz="1600" b="1" dirty="0">
                          <a:solidFill>
                            <a:schemeClr val="bg1"/>
                          </a:solidFill>
                        </a:rPr>
                        <a:t>AI tends to help when…</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AI tends to fail when…</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r>
              <a:tr h="566928">
                <a:tc>
                  <a:txBody>
                    <a:bodyPr/>
                    <a:lstStyle/>
                    <a:p>
                      <a:pPr indent="0" marL="0">
                        <a:buNone/>
                      </a:pPr>
                      <a:r>
                        <a:rPr lang="en-US" sz="1600" dirty="0">
                          <a:solidFill>
                            <a:schemeClr val="tx1"/>
                          </a:solidFill>
                        </a:rPr>
                        <a:t>The task is narrow and well defined</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The task is broad or poorly specified</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566928">
                <a:tc>
                  <a:txBody>
                    <a:bodyPr/>
                    <a:lstStyle/>
                    <a:p>
                      <a:pPr indent="0" marL="0">
                        <a:buNone/>
                      </a:pPr>
                      <a:r>
                        <a:rPr lang="en-US" sz="1600" dirty="0">
                          <a:solidFill>
                            <a:schemeClr val="tx1"/>
                          </a:solidFill>
                        </a:rPr>
                        <a:t>Labels are reliable (a reading-centre grade)</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Labels are proxies (billing codes, cost)</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566928">
                <a:tc>
                  <a:txBody>
                    <a:bodyPr/>
                    <a:lstStyle/>
                    <a:p>
                      <a:pPr indent="0" marL="0">
                        <a:buNone/>
                      </a:pPr>
                      <a:r>
                        <a:rPr lang="en-US" sz="1600" dirty="0">
                          <a:solidFill>
                            <a:schemeClr val="tx1"/>
                          </a:solidFill>
                        </a:rPr>
                        <a:t>Deployment data resemble training data</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Patients, devices or practice differ (</a:t>
                      </a:r>
                      <a:r>
                        <a:rPr lang="en-US" sz="1600" b="1" dirty="0">
                          <a:solidFill>
                            <a:schemeClr val="tx1"/>
                          </a:solidFill>
                        </a:rPr>
                        <a:t>dataset shift</a:t>
                      </a:r>
                      <a:r>
                        <a:rPr lang="en-US" sz="1600" dirty="0">
                          <a:solidFill>
                            <a:schemeClr val="tx1"/>
                          </a:solidFill>
                        </a:rPr>
                        <a:t>)</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566928">
                <a:tc>
                  <a:txBody>
                    <a:bodyPr/>
                    <a:lstStyle/>
                    <a:p>
                      <a:pPr indent="0" marL="0">
                        <a:buNone/>
                      </a:pPr>
                      <a:r>
                        <a:rPr lang="en-US" sz="1600" dirty="0">
                          <a:solidFill>
                            <a:schemeClr val="tx1"/>
                          </a:solidFill>
                        </a:rPr>
                        <a:t>Volume is high and specialists are scarce</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The condition is rare in the tested population (low PPV)</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566928">
                <a:tc>
                  <a:txBody>
                    <a:bodyPr/>
                    <a:lstStyle/>
                    <a:p>
                      <a:pPr indent="0" marL="0">
                        <a:buNone/>
                      </a:pPr>
                      <a:r>
                        <a:rPr lang="en-US" sz="1600" dirty="0">
                          <a:solidFill>
                            <a:schemeClr val="tx1"/>
                          </a:solidFill>
                        </a:rPr>
                        <a:t>A person checks the output and can act on it</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Staff over-trust it (</a:t>
                      </a:r>
                      <a:r>
                        <a:rPr lang="en-US" sz="1600" b="1" dirty="0">
                          <a:solidFill>
                            <a:schemeClr val="tx1"/>
                          </a:solidFill>
                        </a:rPr>
                        <a:t>automation bias</a:t>
                      </a:r>
                      <a:r>
                        <a:rPr lang="en-US" sz="1600" dirty="0">
                          <a:solidFill>
                            <a:schemeClr val="tx1"/>
                          </a:solidFill>
                        </a:rPr>
                        <a:t>) or ignore it (</a:t>
                      </a:r>
                      <a:r>
                        <a:rPr lang="en-US" sz="1600" b="1" dirty="0">
                          <a:solidFill>
                            <a:schemeClr val="tx1"/>
                          </a:solidFill>
                        </a:rPr>
                        <a:t>alert fatigue</a:t>
                      </a:r>
                      <a:r>
                        <a:rPr lang="en-US" sz="1600" dirty="0">
                          <a:solidFill>
                            <a:schemeClr val="tx1"/>
                          </a:solidFill>
                        </a:rPr>
                        <a:t>)</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566928">
                <a:tc>
                  <a:txBody>
                    <a:bodyPr/>
                    <a:lstStyle/>
                    <a:p>
                      <a:pPr indent="0" marL="0">
                        <a:buNone/>
                      </a:pPr>
                      <a:r>
                        <a:rPr lang="en-US" sz="1600" dirty="0">
                          <a:solidFill>
                            <a:schemeClr val="tx1"/>
                          </a:solidFill>
                        </a:rPr>
                        <a:t>Performance is monitored after deployment</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It is “installed and forgotten”</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577840"/>
            <a:ext cx="11064240" cy="411480"/>
          </a:xfrm>
          <a:prstGeom prst="rect">
            <a:avLst/>
          </a:prstGeom>
          <a:noFill/>
          <a:ln/>
        </p:spPr>
        <p:txBody>
          <a:bodyPr wrap="square" lIns="0" tIns="0" rIns="0" bIns="0" rtlCol="0" anchor="t"/>
          <a:lstStyle/>
          <a:p>
            <a:pPr indent="0" marL="0">
              <a:buNone/>
            </a:pPr>
            <a:r>
              <a:rPr lang="en-US" sz="1500" dirty="0">
                <a:solidFill>
                  <a:schemeClr val="tx2"/>
                </a:solidFill>
              </a:rPr>
              <a:t>Session 2 applies these to medical imaging; sessions 4–6 examine the failure modes in depth.</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Hope with an evidence trail</a:t>
            </a:r>
            <a:endParaRPr lang="en-US" sz="3200" dirty="0"/>
          </a:p>
        </p:txBody>
      </p:sp>
      <p:sp>
        <p:nvSpPr>
          <p:cNvPr id="4" name="who"/>
          <p:cNvSpPr/>
          <p:nvPr/>
        </p:nvSpPr>
        <p:spPr>
          <a:xfrm>
            <a:off x="548640" y="1371600"/>
            <a:ext cx="11064240" cy="1737360"/>
          </a:xfrm>
          <a:prstGeom prst="roundRect">
            <a:avLst>
              <a:gd name="adj" fmla="val 6316"/>
            </a:avLst>
          </a:prstGeom>
          <a:solidFill>
            <a:schemeClr val="accent5"/>
          </a:solidFill>
          <a:ln w="12700">
            <a:solidFill>
              <a:schemeClr val="accent5"/>
            </a:solidFill>
            <a:prstDash val="solid"/>
          </a:ln>
        </p:spPr>
      </p:sp>
      <p:sp>
        <p:nvSpPr>
          <p:cNvPr id="5" name="Text 2"/>
          <p:cNvSpPr txBox="1"/>
          <p:nvPr/>
        </p:nvSpPr>
        <p:spPr>
          <a:xfrm>
            <a:off x="822960" y="1417320"/>
            <a:ext cx="10515600" cy="1645920"/>
          </a:xfrm>
          <a:prstGeom prst="rect">
            <a:avLst/>
          </a:prstGeom>
          <a:noFill/>
          <a:ln/>
        </p:spPr>
        <p:txBody>
          <a:bodyPr wrap="square" lIns="0" tIns="0" rIns="0" bIns="0" rtlCol="0" anchor="ctr"/>
          <a:lstStyle/>
          <a:p>
            <a:pPr indent="0" marL="0">
              <a:buNone/>
            </a:pPr>
            <a:r>
              <a:rPr lang="en-US" sz="1900" b="1" dirty="0">
                <a:solidFill>
                  <a:schemeClr val="accent1"/>
                </a:solidFill>
              </a:rPr>
              <a:t>WHO tuberculosis screening guideline, 2021</a:t>
            </a:r>
            <a:endParaRPr lang="en-US" sz="1900" dirty="0"/>
          </a:p>
          <a:p>
            <a:pPr indent="0" marL="0">
              <a:buNone/>
            </a:pPr>
            <a:r>
              <a:rPr lang="en-US" sz="1900" dirty="0">
                <a:solidFill>
                  <a:schemeClr val="tx1"/>
                </a:solidFill>
              </a:rPr>
              <a:t>Computer-aided detection (CAD) software may replace human readers in interpreting chest X-rays for TB screening and triage, in people aged 15 and over.</a:t>
            </a:r>
            <a:endParaRPr lang="en-US" sz="1900" dirty="0"/>
          </a:p>
        </p:txBody>
      </p:sp>
      <p:sp>
        <p:nvSpPr>
          <p:cNvPr id="6" name="Conditional"/>
          <p:cNvSpPr/>
          <p:nvPr/>
        </p:nvSpPr>
        <p:spPr>
          <a:xfrm>
            <a:off x="548640" y="3429000"/>
            <a:ext cx="3566160" cy="1463040"/>
          </a:xfrm>
          <a:prstGeom prst="roundRect">
            <a:avLst>
              <a:gd name="adj" fmla="val 7500"/>
            </a:avLst>
          </a:prstGeom>
          <a:solidFill>
            <a:schemeClr val="bg2"/>
          </a:solidFill>
          <a:ln w="12700">
            <a:solidFill>
              <a:schemeClr val="bg2"/>
            </a:solidFill>
            <a:prstDash val="solid"/>
          </a:ln>
        </p:spPr>
      </p:sp>
      <p:sp>
        <p:nvSpPr>
          <p:cNvPr id="7" name="Text 4"/>
          <p:cNvSpPr txBox="1"/>
          <p:nvPr/>
        </p:nvSpPr>
        <p:spPr>
          <a:xfrm>
            <a:off x="777240" y="3520440"/>
            <a:ext cx="3108960" cy="54864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Conditional</a:t>
            </a:r>
            <a:endParaRPr lang="en-US" sz="2200" dirty="0"/>
          </a:p>
        </p:txBody>
      </p:sp>
      <p:sp>
        <p:nvSpPr>
          <p:cNvPr id="8" name="Text 5"/>
          <p:cNvSpPr txBox="1"/>
          <p:nvPr/>
        </p:nvSpPr>
        <p:spPr>
          <a:xfrm>
            <a:off x="777240" y="4114800"/>
            <a:ext cx="3108960" cy="640080"/>
          </a:xfrm>
          <a:prstGeom prst="rect">
            <a:avLst/>
          </a:prstGeom>
          <a:noFill/>
          <a:ln/>
        </p:spPr>
        <p:txBody>
          <a:bodyPr wrap="square" lIns="0" tIns="0" rIns="0" bIns="0" rtlCol="0" anchor="t"/>
          <a:lstStyle/>
          <a:p>
            <a:pPr indent="0" marL="0">
              <a:buNone/>
            </a:pPr>
            <a:r>
              <a:rPr lang="en-US" sz="1600" dirty="0">
                <a:solidFill>
                  <a:schemeClr val="tx2"/>
                </a:solidFill>
              </a:rPr>
              <a:t>recommendation, not a strong one</a:t>
            </a:r>
            <a:endParaRPr lang="en-US" sz="1600" dirty="0"/>
          </a:p>
        </p:txBody>
      </p:sp>
      <p:sp>
        <p:nvSpPr>
          <p:cNvPr id="9" name="Low-certainty"/>
          <p:cNvSpPr/>
          <p:nvPr/>
        </p:nvSpPr>
        <p:spPr>
          <a:xfrm>
            <a:off x="4297680" y="3429000"/>
            <a:ext cx="3566160" cy="1463040"/>
          </a:xfrm>
          <a:prstGeom prst="roundRect">
            <a:avLst>
              <a:gd name="adj" fmla="val 7500"/>
            </a:avLst>
          </a:prstGeom>
          <a:solidFill>
            <a:schemeClr val="bg2"/>
          </a:solidFill>
          <a:ln w="12700">
            <a:solidFill>
              <a:schemeClr val="bg2"/>
            </a:solidFill>
            <a:prstDash val="solid"/>
          </a:ln>
        </p:spPr>
      </p:sp>
      <p:sp>
        <p:nvSpPr>
          <p:cNvPr id="10" name="Text 7"/>
          <p:cNvSpPr txBox="1"/>
          <p:nvPr/>
        </p:nvSpPr>
        <p:spPr>
          <a:xfrm>
            <a:off x="4526280" y="3520440"/>
            <a:ext cx="3108960" cy="54864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Low-certainty</a:t>
            </a:r>
            <a:endParaRPr lang="en-US" sz="2200" dirty="0"/>
          </a:p>
        </p:txBody>
      </p:sp>
      <p:sp>
        <p:nvSpPr>
          <p:cNvPr id="11" name="Text 8"/>
          <p:cNvSpPr txBox="1"/>
          <p:nvPr/>
        </p:nvSpPr>
        <p:spPr>
          <a:xfrm>
            <a:off x="4526280" y="4114800"/>
            <a:ext cx="3108960" cy="640080"/>
          </a:xfrm>
          <a:prstGeom prst="rect">
            <a:avLst/>
          </a:prstGeom>
          <a:noFill/>
          <a:ln/>
        </p:spPr>
        <p:txBody>
          <a:bodyPr wrap="square" lIns="0" tIns="0" rIns="0" bIns="0" rtlCol="0" anchor="t"/>
          <a:lstStyle/>
          <a:p>
            <a:pPr indent="0" marL="0">
              <a:buNone/>
            </a:pPr>
            <a:r>
              <a:rPr lang="en-US" sz="1600" dirty="0">
                <a:solidFill>
                  <a:schemeClr val="tx2"/>
                </a:solidFill>
              </a:rPr>
              <a:t>evidence behind it</a:t>
            </a:r>
            <a:endParaRPr lang="en-US" sz="1600" dirty="0"/>
          </a:p>
        </p:txBody>
      </p:sp>
      <p:sp>
        <p:nvSpPr>
          <p:cNvPr id="12" name="Screening only"/>
          <p:cNvSpPr/>
          <p:nvPr/>
        </p:nvSpPr>
        <p:spPr>
          <a:xfrm>
            <a:off x="8046720" y="3429000"/>
            <a:ext cx="3566160" cy="1463040"/>
          </a:xfrm>
          <a:prstGeom prst="roundRect">
            <a:avLst>
              <a:gd name="adj" fmla="val 7500"/>
            </a:avLst>
          </a:prstGeom>
          <a:solidFill>
            <a:schemeClr val="bg2"/>
          </a:solidFill>
          <a:ln w="12700">
            <a:solidFill>
              <a:schemeClr val="bg2"/>
            </a:solidFill>
            <a:prstDash val="solid"/>
          </a:ln>
        </p:spPr>
      </p:sp>
      <p:sp>
        <p:nvSpPr>
          <p:cNvPr id="13" name="Text 10"/>
          <p:cNvSpPr txBox="1"/>
          <p:nvPr/>
        </p:nvSpPr>
        <p:spPr>
          <a:xfrm>
            <a:off x="8275320" y="3520440"/>
            <a:ext cx="3108960" cy="54864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Screening only</a:t>
            </a:r>
            <a:endParaRPr lang="en-US" sz="2200" dirty="0"/>
          </a:p>
        </p:txBody>
      </p:sp>
      <p:sp>
        <p:nvSpPr>
          <p:cNvPr id="14" name="Text 11"/>
          <p:cNvSpPr txBox="1"/>
          <p:nvPr/>
        </p:nvSpPr>
        <p:spPr>
          <a:xfrm>
            <a:off x="8275320" y="4114800"/>
            <a:ext cx="3108960" cy="640080"/>
          </a:xfrm>
          <a:prstGeom prst="rect">
            <a:avLst/>
          </a:prstGeom>
          <a:noFill/>
          <a:ln/>
        </p:spPr>
        <p:txBody>
          <a:bodyPr wrap="square" lIns="0" tIns="0" rIns="0" bIns="0" rtlCol="0" anchor="t"/>
          <a:lstStyle/>
          <a:p>
            <a:pPr indent="0" marL="0">
              <a:buNone/>
            </a:pPr>
            <a:r>
              <a:rPr lang="en-US" sz="1600" dirty="0">
                <a:solidFill>
                  <a:schemeClr val="tx2"/>
                </a:solidFill>
              </a:rPr>
              <a:t>not diagnosis</a:t>
            </a:r>
            <a:endParaRPr lang="en-US" sz="1600" dirty="0"/>
          </a:p>
        </p:txBody>
      </p:sp>
      <p:sp>
        <p:nvSpPr>
          <p:cNvPr id="15" name="lesson"/>
          <p:cNvSpPr/>
          <p:nvPr/>
        </p:nvSpPr>
        <p:spPr>
          <a:xfrm>
            <a:off x="548640" y="5257800"/>
            <a:ext cx="11064240" cy="685800"/>
          </a:xfrm>
          <a:prstGeom prst="roundRect">
            <a:avLst>
              <a:gd name="adj" fmla="val 16000"/>
            </a:avLst>
          </a:prstGeom>
          <a:solidFill>
            <a:schemeClr val="accent5"/>
          </a:solidFill>
          <a:ln w="12700">
            <a:solidFill>
              <a:schemeClr val="accent5"/>
            </a:solidFill>
            <a:prstDash val="solid"/>
          </a:ln>
        </p:spPr>
      </p:sp>
      <p:sp>
        <p:nvSpPr>
          <p:cNvPr id="16" name="Text 13"/>
          <p:cNvSpPr txBox="1"/>
          <p:nvPr/>
        </p:nvSpPr>
        <p:spPr>
          <a:xfrm>
            <a:off x="777240" y="5257800"/>
            <a:ext cx="10607040" cy="685800"/>
          </a:xfrm>
          <a:prstGeom prst="rect">
            <a:avLst/>
          </a:prstGeom>
          <a:noFill/>
          <a:ln/>
        </p:spPr>
        <p:txBody>
          <a:bodyPr wrap="square" lIns="0" tIns="0" rIns="0" bIns="0" rtlCol="0" anchor="ctr"/>
          <a:lstStyle/>
          <a:p>
            <a:pPr indent="0" marL="0">
              <a:buNone/>
            </a:pPr>
            <a:r>
              <a:rPr lang="en-US" sz="1700" b="1" dirty="0">
                <a:solidFill>
                  <a:schemeClr val="accent1"/>
                </a:solidFill>
              </a:rPr>
              <a:t>Lesson  </a:t>
            </a:r>
            <a:r>
              <a:rPr lang="en-US" sz="1700" dirty="0">
                <a:solidFill>
                  <a:schemeClr val="tx1"/>
                </a:solidFill>
              </a:rPr>
              <a:t>even a recommended tool comes with a defined scope.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From predicting to acting</a:t>
            </a:r>
            <a:endParaRPr lang="en-US" sz="3200" dirty="0"/>
          </a:p>
        </p:txBody>
      </p:sp>
      <p:sp>
        <p:nvSpPr>
          <p:cNvPr id="4" name="neutral AI informs score · result · suggestion"/>
          <p:cNvSpPr/>
          <p:nvPr/>
        </p:nvSpPr>
        <p:spPr>
          <a:xfrm>
            <a:off x="548640" y="1463040"/>
            <a:ext cx="3108960" cy="1188720"/>
          </a:xfrm>
          <a:prstGeom prst="rect">
            <a:avLst/>
          </a:prstGeom>
          <a:solidFill>
            <a:schemeClr val="bg2"/>
          </a:solidFill>
          <a:ln w="15875">
            <a:solidFill>
              <a:schemeClr val="tx2"/>
            </a:solidFill>
            <a:prstDash val="solid"/>
          </a:ln>
        </p:spPr>
      </p:sp>
      <p:sp>
        <p:nvSpPr>
          <p:cNvPr id="5" name="Text 2"/>
          <p:cNvSpPr txBox="1"/>
          <p:nvPr/>
        </p:nvSpPr>
        <p:spPr>
          <a:xfrm>
            <a:off x="548640" y="1463040"/>
            <a:ext cx="3108960" cy="1188720"/>
          </a:xfrm>
          <a:prstGeom prst="rect">
            <a:avLst/>
          </a:prstGeom>
          <a:noFill/>
          <a:ln/>
        </p:spPr>
        <p:txBody>
          <a:bodyPr wrap="square" lIns="0" tIns="0" rIns="0" bIns="0" rtlCol="0" anchor="ctr"/>
          <a:lstStyle/>
          <a:p>
            <a:pPr algn="ctr" indent="0" marL="0">
              <a:buNone/>
            </a:pPr>
            <a:r>
              <a:rPr lang="en-US" sz="1600" dirty="0">
                <a:solidFill>
                  <a:schemeClr val="tx1"/>
                </a:solidFill>
              </a:rPr>
              <a:t>AI informs</a:t>
            </a:r>
            <a:endParaRPr lang="en-US" sz="1600" dirty="0"/>
          </a:p>
          <a:p>
            <a:pPr algn="ctr" indent="0" marL="0">
              <a:buNone/>
            </a:pPr>
            <a:r>
              <a:rPr lang="en-US" sz="1600" dirty="0">
                <a:solidFill>
                  <a:schemeClr val="tx1"/>
                </a:solidFill>
              </a:rPr>
              <a:t>score · result · suggestion</a:t>
            </a:r>
            <a:endParaRPr lang="en-US" sz="1600" dirty="0"/>
          </a:p>
        </p:txBody>
      </p:sp>
      <p:sp>
        <p:nvSpPr>
          <p:cNvPr id="6" name="Shape 3"/>
          <p:cNvSpPr/>
          <p:nvPr/>
        </p:nvSpPr>
        <p:spPr>
          <a:xfrm>
            <a:off x="3657600" y="2057400"/>
            <a:ext cx="548640" cy="0"/>
          </a:xfrm>
          <a:prstGeom prst="line">
            <a:avLst/>
          </a:prstGeom>
          <a:noFill/>
          <a:ln w="22225">
            <a:solidFill>
              <a:schemeClr val="tx2"/>
            </a:solidFill>
            <a:prstDash val="solid"/>
            <a:tailEnd type="triangle"/>
          </a:ln>
        </p:spPr>
      </p:sp>
      <p:sp>
        <p:nvSpPr>
          <p:cNvPr id="7" name="plain A clinician decides and acts"/>
          <p:cNvSpPr/>
          <p:nvPr/>
        </p:nvSpPr>
        <p:spPr>
          <a:xfrm>
            <a:off x="4206240" y="1463040"/>
            <a:ext cx="3108960" cy="1188720"/>
          </a:xfrm>
          <a:prstGeom prst="rect">
            <a:avLst/>
          </a:prstGeom>
          <a:solidFill>
            <a:schemeClr val="bg1"/>
          </a:solidFill>
          <a:ln w="15875">
            <a:solidFill>
              <a:schemeClr val="tx2"/>
            </a:solidFill>
            <a:prstDash val="solid"/>
          </a:ln>
        </p:spPr>
      </p:sp>
      <p:sp>
        <p:nvSpPr>
          <p:cNvPr id="8" name="Text 5"/>
          <p:cNvSpPr txBox="1"/>
          <p:nvPr/>
        </p:nvSpPr>
        <p:spPr>
          <a:xfrm>
            <a:off x="4206240" y="1463040"/>
            <a:ext cx="3108960" cy="1188720"/>
          </a:xfrm>
          <a:prstGeom prst="rect">
            <a:avLst/>
          </a:prstGeom>
          <a:noFill/>
          <a:ln/>
        </p:spPr>
        <p:txBody>
          <a:bodyPr wrap="square" lIns="0" tIns="0" rIns="0" bIns="0" rtlCol="0" anchor="ctr"/>
          <a:lstStyle/>
          <a:p>
            <a:pPr algn="ctr" indent="0" marL="0">
              <a:buNone/>
            </a:pPr>
            <a:r>
              <a:rPr lang="en-US" sz="1600" dirty="0">
                <a:solidFill>
                  <a:schemeClr val="tx1"/>
                </a:solidFill>
              </a:rPr>
              <a:t>A clinician</a:t>
            </a:r>
            <a:endParaRPr lang="en-US" sz="1600" dirty="0"/>
          </a:p>
          <a:p>
            <a:pPr algn="ctr" indent="0" marL="0">
              <a:buNone/>
            </a:pPr>
            <a:r>
              <a:rPr lang="en-US" sz="1600" dirty="0">
                <a:solidFill>
                  <a:schemeClr val="tx1"/>
                </a:solidFill>
              </a:rPr>
              <a:t>decides and acts</a:t>
            </a:r>
            <a:endParaRPr lang="en-US" sz="1600" dirty="0"/>
          </a:p>
        </p:txBody>
      </p:sp>
      <p:sp>
        <p:nvSpPr>
          <p:cNvPr id="9" name="Text 6"/>
          <p:cNvSpPr txBox="1"/>
          <p:nvPr/>
        </p:nvSpPr>
        <p:spPr>
          <a:xfrm>
            <a:off x="548640" y="1097280"/>
            <a:ext cx="2743200" cy="320040"/>
          </a:xfrm>
          <a:prstGeom prst="rect">
            <a:avLst/>
          </a:prstGeom>
          <a:noFill/>
          <a:ln/>
        </p:spPr>
        <p:txBody>
          <a:bodyPr wrap="square" lIns="0" tIns="0" rIns="0" bIns="0" rtlCol="0" anchor="t"/>
          <a:lstStyle/>
          <a:p>
            <a:pPr indent="0" marL="0">
              <a:buNone/>
            </a:pPr>
            <a:r>
              <a:rPr lang="en-US" sz="1300" b="1" dirty="0">
                <a:solidFill>
                  <a:schemeClr val="tx2"/>
                </a:solidFill>
              </a:rPr>
              <a:t>Today</a:t>
            </a:r>
            <a:endParaRPr lang="en-US" sz="1300" dirty="0"/>
          </a:p>
        </p:txBody>
      </p:sp>
      <p:sp>
        <p:nvSpPr>
          <p:cNvPr id="10" name="Text 7"/>
          <p:cNvSpPr txBox="1"/>
          <p:nvPr/>
        </p:nvSpPr>
        <p:spPr>
          <a:xfrm>
            <a:off x="548640" y="2880360"/>
            <a:ext cx="3657600" cy="320040"/>
          </a:xfrm>
          <a:prstGeom prst="rect">
            <a:avLst/>
          </a:prstGeom>
          <a:noFill/>
          <a:ln/>
        </p:spPr>
        <p:txBody>
          <a:bodyPr wrap="square" lIns="0" tIns="0" rIns="0" bIns="0" rtlCol="0" anchor="t"/>
          <a:lstStyle/>
          <a:p>
            <a:pPr indent="0" marL="0">
              <a:buNone/>
            </a:pPr>
            <a:r>
              <a:rPr lang="en-US" sz="1300" b="1" dirty="0">
                <a:solidFill>
                  <a:schemeClr val="tx2"/>
                </a:solidFill>
              </a:rPr>
              <a:t>Session 3: agents</a:t>
            </a:r>
            <a:endParaRPr lang="en-US" sz="1300" dirty="0"/>
          </a:p>
        </p:txBody>
      </p:sp>
      <p:sp>
        <p:nvSpPr>
          <p:cNvPr id="11" name="key AI agent takes steps look up · book · draft · route"/>
          <p:cNvSpPr/>
          <p:nvPr/>
        </p:nvSpPr>
        <p:spPr>
          <a:xfrm>
            <a:off x="548640" y="3246120"/>
            <a:ext cx="3108960" cy="1188720"/>
          </a:xfrm>
          <a:prstGeom prst="rect">
            <a:avLst/>
          </a:prstGeom>
          <a:solidFill>
            <a:schemeClr val="accent5"/>
          </a:solidFill>
          <a:ln w="15875">
            <a:solidFill>
              <a:schemeClr val="accent1"/>
            </a:solidFill>
            <a:prstDash val="solid"/>
          </a:ln>
        </p:spPr>
      </p:sp>
      <p:sp>
        <p:nvSpPr>
          <p:cNvPr id="12" name="Text 9"/>
          <p:cNvSpPr txBox="1"/>
          <p:nvPr/>
        </p:nvSpPr>
        <p:spPr>
          <a:xfrm>
            <a:off x="548640" y="3246120"/>
            <a:ext cx="3108960" cy="1188720"/>
          </a:xfrm>
          <a:prstGeom prst="rect">
            <a:avLst/>
          </a:prstGeom>
          <a:noFill/>
          <a:ln/>
        </p:spPr>
        <p:txBody>
          <a:bodyPr wrap="square" lIns="0" tIns="0" rIns="0" bIns="0" rtlCol="0" anchor="ctr"/>
          <a:lstStyle/>
          <a:p>
            <a:pPr algn="ctr" indent="0" marL="0">
              <a:buNone/>
            </a:pPr>
            <a:r>
              <a:rPr lang="en-US" sz="1600" dirty="0">
                <a:solidFill>
                  <a:schemeClr val="tx1"/>
                </a:solidFill>
              </a:rPr>
              <a:t>AI agent takes steps</a:t>
            </a:r>
            <a:endParaRPr lang="en-US" sz="1600" dirty="0"/>
          </a:p>
          <a:p>
            <a:pPr algn="ctr" indent="0" marL="0">
              <a:buNone/>
            </a:pPr>
            <a:r>
              <a:rPr lang="en-US" sz="1600" dirty="0">
                <a:solidFill>
                  <a:schemeClr val="tx1"/>
                </a:solidFill>
              </a:rPr>
              <a:t>look up · book · draft · route</a:t>
            </a:r>
            <a:endParaRPr lang="en-US" sz="1600" dirty="0"/>
          </a:p>
        </p:txBody>
      </p:sp>
      <p:sp>
        <p:nvSpPr>
          <p:cNvPr id="13" name="Shape 10"/>
          <p:cNvSpPr/>
          <p:nvPr/>
        </p:nvSpPr>
        <p:spPr>
          <a:xfrm>
            <a:off x="3657600" y="3840480"/>
            <a:ext cx="548640" cy="0"/>
          </a:xfrm>
          <a:prstGeom prst="line">
            <a:avLst/>
          </a:prstGeom>
          <a:noFill/>
          <a:ln w="22225">
            <a:solidFill>
              <a:schemeClr val="tx2"/>
            </a:solidFill>
            <a:prstDash val="solid"/>
            <a:tailEnd type="triangle"/>
          </a:ln>
        </p:spPr>
      </p:sp>
      <p:sp>
        <p:nvSpPr>
          <p:cNvPr id="14" name="warn Actions happen in the real system"/>
          <p:cNvSpPr/>
          <p:nvPr/>
        </p:nvSpPr>
        <p:spPr>
          <a:xfrm>
            <a:off x="4206240" y="3246120"/>
            <a:ext cx="3108960" cy="1188720"/>
          </a:xfrm>
          <a:prstGeom prst="rect">
            <a:avLst/>
          </a:prstGeom>
          <a:solidFill>
            <a:schemeClr val="accent6"/>
          </a:solidFill>
          <a:ln w="15875">
            <a:solidFill>
              <a:schemeClr val="accent3"/>
            </a:solidFill>
            <a:prstDash val="solid"/>
          </a:ln>
        </p:spPr>
      </p:sp>
      <p:sp>
        <p:nvSpPr>
          <p:cNvPr id="15" name="Text 12"/>
          <p:cNvSpPr txBox="1"/>
          <p:nvPr/>
        </p:nvSpPr>
        <p:spPr>
          <a:xfrm>
            <a:off x="4206240" y="3246120"/>
            <a:ext cx="3108960" cy="1188720"/>
          </a:xfrm>
          <a:prstGeom prst="rect">
            <a:avLst/>
          </a:prstGeom>
          <a:noFill/>
          <a:ln/>
        </p:spPr>
        <p:txBody>
          <a:bodyPr wrap="square" lIns="0" tIns="0" rIns="0" bIns="0" rtlCol="0" anchor="ctr"/>
          <a:lstStyle/>
          <a:p>
            <a:pPr algn="ctr" indent="0" marL="0">
              <a:buNone/>
            </a:pPr>
            <a:r>
              <a:rPr lang="en-US" sz="1600" dirty="0">
                <a:solidFill>
                  <a:schemeClr val="tx1"/>
                </a:solidFill>
              </a:rPr>
              <a:t>Actions happen</a:t>
            </a:r>
            <a:endParaRPr lang="en-US" sz="1600" dirty="0"/>
          </a:p>
          <a:p>
            <a:pPr algn="ctr" indent="0" marL="0">
              <a:buNone/>
            </a:pPr>
            <a:r>
              <a:rPr lang="en-US" sz="1600" dirty="0">
                <a:solidFill>
                  <a:schemeClr val="tx1"/>
                </a:solidFill>
              </a:rPr>
              <a:t>in the real system</a:t>
            </a:r>
            <a:endParaRPr lang="en-US" sz="1600" dirty="0"/>
          </a:p>
        </p:txBody>
      </p:sp>
      <p:sp>
        <p:nvSpPr>
          <p:cNvPr id="16" name="what changes"/>
          <p:cNvSpPr/>
          <p:nvPr/>
        </p:nvSpPr>
        <p:spPr>
          <a:xfrm>
            <a:off x="7772400" y="1097280"/>
            <a:ext cx="3840480" cy="3337560"/>
          </a:xfrm>
          <a:prstGeom prst="roundRect">
            <a:avLst>
              <a:gd name="adj" fmla="val 3288"/>
            </a:avLst>
          </a:prstGeom>
          <a:solidFill>
            <a:schemeClr val="bg2"/>
          </a:solidFill>
          <a:ln w="12700">
            <a:solidFill>
              <a:schemeClr val="bg2"/>
            </a:solidFill>
            <a:prstDash val="solid"/>
          </a:ln>
        </p:spPr>
      </p:sp>
      <p:sp>
        <p:nvSpPr>
          <p:cNvPr id="17" name="Text 14"/>
          <p:cNvSpPr txBox="1"/>
          <p:nvPr/>
        </p:nvSpPr>
        <p:spPr>
          <a:xfrm>
            <a:off x="8001000" y="1234440"/>
            <a:ext cx="3383280" cy="411480"/>
          </a:xfrm>
          <a:prstGeom prst="rect">
            <a:avLst/>
          </a:prstGeom>
          <a:noFill/>
          <a:ln/>
        </p:spPr>
        <p:txBody>
          <a:bodyPr wrap="square" lIns="0" tIns="0" rIns="0" bIns="0" rtlCol="0" anchor="t"/>
          <a:lstStyle/>
          <a:p>
            <a:pPr indent="0" marL="0">
              <a:buNone/>
            </a:pPr>
            <a:r>
              <a:rPr lang="en-US" sz="1800" b="1" dirty="0">
                <a:solidFill>
                  <a:schemeClr val="tx1"/>
                </a:solidFill>
              </a:rPr>
              <a:t>What changes</a:t>
            </a:r>
            <a:endParaRPr lang="en-US" sz="1800" dirty="0"/>
          </a:p>
        </p:txBody>
      </p:sp>
      <p:sp>
        <p:nvSpPr>
          <p:cNvPr id="18" name="Text 15"/>
          <p:cNvSpPr txBox="1"/>
          <p:nvPr/>
        </p:nvSpPr>
        <p:spPr>
          <a:xfrm>
            <a:off x="8001000" y="1737360"/>
            <a:ext cx="3429000" cy="26060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An error can become a </a:t>
            </a:r>
            <a:r>
              <a:rPr lang="en-US" sz="1600" b="1" dirty="0">
                <a:solidFill>
                  <a:schemeClr val="accent3"/>
                </a:solidFill>
              </a:rPr>
              <a:t>wrong action</a:t>
            </a:r>
            <a:endParaRPr lang="en-US" sz="1600" dirty="0"/>
          </a:p>
          <a:p>
            <a:pPr marL="228600" indent="-228600">
              <a:spcAft>
                <a:spcPts val="800"/>
              </a:spcAft>
              <a:buSzPct val="100000"/>
              <a:buChar char="•"/>
            </a:pPr>
            <a:r>
              <a:rPr lang="en-US" sz="1600" dirty="0">
                <a:solidFill>
                  <a:schemeClr val="tx1"/>
                </a:solidFill>
              </a:rPr>
              <a:t>Test what it </a:t>
            </a:r>
            <a:r>
              <a:rPr lang="en-US" sz="1600" b="1" dirty="0">
                <a:solidFill>
                  <a:schemeClr val="tx1"/>
                </a:solidFill>
              </a:rPr>
              <a:t>does</a:t>
            </a:r>
            <a:r>
              <a:rPr lang="en-US" sz="1600" dirty="0">
                <a:solidFill>
                  <a:schemeClr val="tx1"/>
                </a:solidFill>
              </a:rPr>
              <a:t>, across many runs</a:t>
            </a:r>
            <a:endParaRPr lang="en-US" sz="1600" dirty="0"/>
          </a:p>
          <a:p>
            <a:pPr marL="228600" indent="-228600">
              <a:spcAft>
                <a:spcPts val="800"/>
              </a:spcAft>
              <a:buSzPct val="100000"/>
              <a:buChar char="•"/>
            </a:pPr>
            <a:r>
              <a:rPr lang="en-US" sz="1600" dirty="0">
                <a:solidFill>
                  <a:schemeClr val="tx1"/>
                </a:solidFill>
              </a:rPr>
              <a:t>Design in </a:t>
            </a:r>
            <a:r>
              <a:rPr lang="en-US" sz="1600" b="1" dirty="0">
                <a:solidFill>
                  <a:schemeClr val="tx1"/>
                </a:solidFill>
              </a:rPr>
              <a:t>human approval, limited permissions, audit trails</a:t>
            </a:r>
            <a:endParaRPr lang="en-US" sz="1600" dirty="0"/>
          </a:p>
        </p:txBody>
      </p:sp>
      <p:sp>
        <p:nvSpPr>
          <p:cNvPr id="19" name="lesson"/>
          <p:cNvSpPr/>
          <p:nvPr/>
        </p:nvSpPr>
        <p:spPr>
          <a:xfrm>
            <a:off x="548640" y="4937760"/>
            <a:ext cx="11064240" cy="685800"/>
          </a:xfrm>
          <a:prstGeom prst="roundRect">
            <a:avLst>
              <a:gd name="adj" fmla="val 16000"/>
            </a:avLst>
          </a:prstGeom>
          <a:solidFill>
            <a:schemeClr val="accent6"/>
          </a:solidFill>
          <a:ln w="12700">
            <a:solidFill>
              <a:schemeClr val="accent6"/>
            </a:solidFill>
            <a:prstDash val="solid"/>
          </a:ln>
        </p:spPr>
      </p:sp>
      <p:sp>
        <p:nvSpPr>
          <p:cNvPr id="20" name="Text 17"/>
          <p:cNvSpPr txBox="1"/>
          <p:nvPr/>
        </p:nvSpPr>
        <p:spPr>
          <a:xfrm>
            <a:off x="777240" y="4937760"/>
            <a:ext cx="10607040" cy="685800"/>
          </a:xfrm>
          <a:prstGeom prst="rect">
            <a:avLst/>
          </a:prstGeom>
          <a:noFill/>
          <a:ln/>
        </p:spPr>
        <p:txBody>
          <a:bodyPr wrap="square" lIns="0" tIns="0" rIns="0" bIns="0" rtlCol="0" anchor="ctr"/>
          <a:lstStyle/>
          <a:p>
            <a:pPr indent="0" marL="0">
              <a:buNone/>
            </a:pPr>
            <a:r>
              <a:rPr lang="en-US" sz="1700" b="1" dirty="0">
                <a:solidFill>
                  <a:schemeClr val="accent3"/>
                </a:solidFill>
              </a:rPr>
              <a:t>Remember  </a:t>
            </a:r>
            <a:r>
              <a:rPr lang="en-US" sz="1700" dirty="0">
                <a:solidFill>
                  <a:schemeClr val="tx1"/>
                </a:solidFill>
              </a:rPr>
              <a:t>an agent that performs well in a demo is still standing on rung 1.</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Summary</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926080"/>
                <a:gridCol w="8138160"/>
              </a:tblGrid>
              <a:tr h="548640">
                <a:tc>
                  <a:txBody>
                    <a:bodyPr/>
                    <a:lstStyle/>
                    <a:p>
                      <a:pPr indent="0" marL="0">
                        <a:buNone/>
                      </a:pPr>
                      <a:r>
                        <a:rPr lang="en-US" sz="1600" b="1" dirty="0">
                          <a:solidFill>
                            <a:schemeClr val="bg1"/>
                          </a:solidFill>
                        </a:rPr>
                        <a:t>Idea</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Key point</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r>
              <a:tr h="548640">
                <a:tc>
                  <a:txBody>
                    <a:bodyPr/>
                    <a:lstStyle/>
                    <a:p>
                      <a:pPr indent="0" marL="0">
                        <a:buNone/>
                      </a:pPr>
                      <a:r>
                        <a:rPr lang="en-US" sz="1600" b="1" dirty="0">
                          <a:solidFill>
                            <a:schemeClr val="tx1"/>
                          </a:solidFill>
                        </a:rPr>
                        <a:t>Hype vs hope</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The difference lies in the evidence, not the algorithm</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548640">
                <a:tc>
                  <a:txBody>
                    <a:bodyPr/>
                    <a:lstStyle/>
                    <a:p>
                      <a:pPr indent="0" marL="0">
                        <a:buNone/>
                      </a:pPr>
                      <a:r>
                        <a:rPr lang="en-US" sz="1600" b="1" dirty="0">
                          <a:solidFill>
                            <a:schemeClr val="tx1"/>
                          </a:solidFill>
                        </a:rPr>
                        <a:t>Evidence ladder</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Retrospective → external → prospective → outcome trial → implementation</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548640">
                <a:tc>
                  <a:txBody>
                    <a:bodyPr/>
                    <a:lstStyle/>
                    <a:p>
                      <a:pPr indent="0" marL="0">
                        <a:buNone/>
                      </a:pPr>
                      <a:r>
                        <a:rPr lang="en-US" sz="1600" b="1" dirty="0">
                          <a:solidFill>
                            <a:schemeClr val="tx1"/>
                          </a:solidFill>
                        </a:rPr>
                        <a:t>Sepsis model</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Independent validation: AUC 0.63, 67% of sepsis cases missed</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548640">
                <a:tc>
                  <a:txBody>
                    <a:bodyPr/>
                    <a:lstStyle/>
                    <a:p>
                      <a:pPr indent="0" marL="0">
                        <a:buNone/>
                      </a:pPr>
                      <a:r>
                        <a:rPr lang="en-US" sz="1600" b="1" dirty="0">
                          <a:solidFill>
                            <a:schemeClr val="tx1"/>
                          </a:solidFill>
                        </a:rPr>
                        <a:t>IDx-DR</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Narrow task + pre-registered prospective trial → regulatory authorisation</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548640">
                <a:tc>
                  <a:txBody>
                    <a:bodyPr/>
                    <a:lstStyle/>
                    <a:p>
                      <a:pPr indent="0" marL="0">
                        <a:buNone/>
                      </a:pPr>
                      <a:r>
                        <a:rPr lang="en-US" sz="1600" b="1" dirty="0">
                          <a:solidFill>
                            <a:schemeClr val="tx1"/>
                          </a:solidFill>
                        </a:rPr>
                        <a:t>Thai deployment</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An accurate model can still fail in a real clinic's conditions</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548640">
                <a:tc>
                  <a:txBody>
                    <a:bodyPr/>
                    <a:lstStyle/>
                    <a:p>
                      <a:pPr indent="0" marL="0">
                        <a:buNone/>
                      </a:pPr>
                      <a:r>
                        <a:rPr lang="en-US" sz="1600" b="1" dirty="0">
                          <a:solidFill>
                            <a:schemeClr val="tx1"/>
                          </a:solidFill>
                        </a:rPr>
                        <a:t>Test metrics</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Sensitivity (recall), specificity describe the test; PPV (precision), NPV describe a result</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548640">
                <a:tc>
                  <a:txBody>
                    <a:bodyPr/>
                    <a:lstStyle/>
                    <a:p>
                      <a:pPr indent="0" marL="0">
                        <a:buNone/>
                      </a:pPr>
                      <a:r>
                        <a:rPr lang="en-US" sz="1600" b="1" dirty="0">
                          <a:solidFill>
                            <a:schemeClr val="tx1"/>
                          </a:solidFill>
                        </a:rPr>
                        <a:t>Prevalence</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Same model, very different PPV: PPV falls and NPV rises as prevalence falls</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548640">
                <a:tc>
                  <a:txBody>
                    <a:bodyPr/>
                    <a:lstStyle/>
                    <a:p>
                      <a:pPr indent="0" marL="0">
                        <a:buNone/>
                      </a:pPr>
                      <a:r>
                        <a:rPr lang="en-US" sz="1600" b="1" dirty="0">
                          <a:solidFill>
                            <a:schemeClr val="tx1"/>
                          </a:solidFill>
                        </a:rPr>
                        <a:t>Predicting → acting</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Agents raise the stakes and the evidence bar</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Check your understanding</a:t>
            </a:r>
            <a:endParaRPr lang="en-US" sz="3200" dirty="0"/>
          </a:p>
        </p:txBody>
      </p:sp>
      <p:sp>
        <p:nvSpPr>
          <p:cNvPr id="4" name="Shape 1"/>
          <p:cNvSpPr/>
          <p:nvPr/>
        </p:nvSpPr>
        <p:spPr>
          <a:xfrm>
            <a:off x="640080" y="1417320"/>
            <a:ext cx="438912" cy="438912"/>
          </a:xfrm>
          <a:prstGeom prst="ellipse">
            <a:avLst/>
          </a:prstGeom>
          <a:solidFill>
            <a:schemeClr val="accent1"/>
          </a:solidFill>
          <a:ln w="12700">
            <a:solidFill>
              <a:schemeClr val="accent1"/>
            </a:solidFill>
            <a:prstDash val="solid"/>
          </a:ln>
        </p:spPr>
      </p:sp>
      <p:sp>
        <p:nvSpPr>
          <p:cNvPr id="5" name="Text 2"/>
          <p:cNvSpPr txBox="1"/>
          <p:nvPr/>
        </p:nvSpPr>
        <p:spPr>
          <a:xfrm>
            <a:off x="640080" y="141732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3"/>
          <p:cNvSpPr txBox="1"/>
          <p:nvPr/>
        </p:nvSpPr>
        <p:spPr>
          <a:xfrm>
            <a:off x="1280160" y="1325880"/>
            <a:ext cx="10332720" cy="658368"/>
          </a:xfrm>
          <a:prstGeom prst="rect">
            <a:avLst/>
          </a:prstGeom>
          <a:noFill/>
          <a:ln/>
        </p:spPr>
        <p:txBody>
          <a:bodyPr wrap="square" lIns="0" tIns="0" rIns="0" bIns="0" rtlCol="0" anchor="ctr"/>
          <a:lstStyle/>
          <a:p>
            <a:pPr indent="0" marL="0">
              <a:buNone/>
            </a:pPr>
            <a:r>
              <a:rPr lang="en-US" sz="1700" dirty="0">
                <a:solidFill>
                  <a:schemeClr val="tx1"/>
                </a:solidFill>
              </a:rPr>
              <a:t>A start-up reports AUC 0.95 for pneumonia on one hospital's X-ray archive. Which rung? Name two studies needed before deployment elsewhere.</a:t>
            </a:r>
            <a:endParaRPr lang="en-US" sz="1700" dirty="0"/>
          </a:p>
        </p:txBody>
      </p:sp>
      <p:sp>
        <p:nvSpPr>
          <p:cNvPr id="7" name="Shape 4"/>
          <p:cNvSpPr/>
          <p:nvPr/>
        </p:nvSpPr>
        <p:spPr>
          <a:xfrm>
            <a:off x="640080" y="2203704"/>
            <a:ext cx="438912" cy="438912"/>
          </a:xfrm>
          <a:prstGeom prst="ellipse">
            <a:avLst/>
          </a:prstGeom>
          <a:solidFill>
            <a:schemeClr val="accent1"/>
          </a:solidFill>
          <a:ln w="12700">
            <a:solidFill>
              <a:schemeClr val="accent1"/>
            </a:solidFill>
            <a:prstDash val="solid"/>
          </a:ln>
        </p:spPr>
      </p:sp>
      <p:sp>
        <p:nvSpPr>
          <p:cNvPr id="8" name="Text 5"/>
          <p:cNvSpPr txBox="1"/>
          <p:nvPr/>
        </p:nvSpPr>
        <p:spPr>
          <a:xfrm>
            <a:off x="640080" y="220370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6"/>
          <p:cNvSpPr txBox="1"/>
          <p:nvPr/>
        </p:nvSpPr>
        <p:spPr>
          <a:xfrm>
            <a:off x="1280160" y="2112264"/>
            <a:ext cx="10332720" cy="658368"/>
          </a:xfrm>
          <a:prstGeom prst="rect">
            <a:avLst/>
          </a:prstGeom>
          <a:noFill/>
          <a:ln/>
        </p:spPr>
        <p:txBody>
          <a:bodyPr wrap="square" lIns="0" tIns="0" rIns="0" bIns="0" rtlCol="0" anchor="ctr"/>
          <a:lstStyle/>
          <a:p>
            <a:pPr indent="0" marL="0">
              <a:buNone/>
            </a:pPr>
            <a:r>
              <a:rPr lang="en-US" sz="1700" dirty="0">
                <a:solidFill>
                  <a:schemeClr val="tx1"/>
                </a:solidFill>
              </a:rPr>
              <a:t>Why might a model's AUC fall at a different hospital? Give two reasons.</a:t>
            </a:r>
            <a:endParaRPr lang="en-US" sz="1700" dirty="0"/>
          </a:p>
        </p:txBody>
      </p:sp>
      <p:sp>
        <p:nvSpPr>
          <p:cNvPr id="10" name="Shape 7"/>
          <p:cNvSpPr/>
          <p:nvPr/>
        </p:nvSpPr>
        <p:spPr>
          <a:xfrm>
            <a:off x="640080" y="2990088"/>
            <a:ext cx="438912" cy="438912"/>
          </a:xfrm>
          <a:prstGeom prst="ellipse">
            <a:avLst/>
          </a:prstGeom>
          <a:solidFill>
            <a:schemeClr val="accent1"/>
          </a:solidFill>
          <a:ln w="12700">
            <a:solidFill>
              <a:schemeClr val="accent1"/>
            </a:solidFill>
            <a:prstDash val="solid"/>
          </a:ln>
        </p:spPr>
      </p:sp>
      <p:sp>
        <p:nvSpPr>
          <p:cNvPr id="11" name="Text 8"/>
          <p:cNvSpPr txBox="1"/>
          <p:nvPr/>
        </p:nvSpPr>
        <p:spPr>
          <a:xfrm>
            <a:off x="640080" y="2990088"/>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2" name="Text 9"/>
          <p:cNvSpPr txBox="1"/>
          <p:nvPr/>
        </p:nvSpPr>
        <p:spPr>
          <a:xfrm>
            <a:off x="1280160" y="2898648"/>
            <a:ext cx="10332720" cy="658368"/>
          </a:xfrm>
          <a:prstGeom prst="rect">
            <a:avLst/>
          </a:prstGeom>
          <a:noFill/>
          <a:ln/>
        </p:spPr>
        <p:txBody>
          <a:bodyPr wrap="square" lIns="0" tIns="0" rIns="0" bIns="0" rtlCol="0" anchor="ctr"/>
          <a:lstStyle/>
          <a:p>
            <a:pPr indent="0" marL="0">
              <a:buNone/>
            </a:pPr>
            <a:r>
              <a:rPr lang="en-US" sz="1700" dirty="0">
                <a:solidFill>
                  <a:schemeClr val="tx1"/>
                </a:solidFill>
              </a:rPr>
              <a:t>The sepsis model alerted on 18% of hospitalisations. What does this mean for nursing workload?</a:t>
            </a:r>
            <a:endParaRPr lang="en-US" sz="1700" dirty="0"/>
          </a:p>
        </p:txBody>
      </p:sp>
      <p:sp>
        <p:nvSpPr>
          <p:cNvPr id="13" name="Shape 10"/>
          <p:cNvSpPr/>
          <p:nvPr/>
        </p:nvSpPr>
        <p:spPr>
          <a:xfrm>
            <a:off x="640080" y="3776472"/>
            <a:ext cx="438912" cy="438912"/>
          </a:xfrm>
          <a:prstGeom prst="ellipse">
            <a:avLst/>
          </a:prstGeom>
          <a:solidFill>
            <a:schemeClr val="accent1"/>
          </a:solidFill>
          <a:ln w="12700">
            <a:solidFill>
              <a:schemeClr val="accent1"/>
            </a:solidFill>
            <a:prstDash val="solid"/>
          </a:ln>
        </p:spPr>
      </p:sp>
      <p:sp>
        <p:nvSpPr>
          <p:cNvPr id="14" name="Text 11"/>
          <p:cNvSpPr txBox="1"/>
          <p:nvPr/>
        </p:nvSpPr>
        <p:spPr>
          <a:xfrm>
            <a:off x="640080" y="377647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5" name="Text 12"/>
          <p:cNvSpPr txBox="1"/>
          <p:nvPr/>
        </p:nvSpPr>
        <p:spPr>
          <a:xfrm>
            <a:off x="1280160" y="3685032"/>
            <a:ext cx="10332720" cy="658368"/>
          </a:xfrm>
          <a:prstGeom prst="rect">
            <a:avLst/>
          </a:prstGeom>
          <a:noFill/>
          <a:ln/>
        </p:spPr>
        <p:txBody>
          <a:bodyPr wrap="square" lIns="0" tIns="0" rIns="0" bIns="0" rtlCol="0" anchor="ctr"/>
          <a:lstStyle/>
          <a:p>
            <a:pPr indent="0" marL="0">
              <a:buNone/>
            </a:pPr>
            <a:r>
              <a:rPr lang="en-US" sz="1700" dirty="0">
                <a:solidFill>
                  <a:schemeClr val="tx1"/>
                </a:solidFill>
              </a:rPr>
              <a:t>IDx-DR met its pre-set targets. What important question did the trial not answer?</a:t>
            </a:r>
            <a:endParaRPr lang="en-US" sz="1700" dirty="0"/>
          </a:p>
        </p:txBody>
      </p:sp>
      <p:sp>
        <p:nvSpPr>
          <p:cNvPr id="16" name="Shape 13"/>
          <p:cNvSpPr/>
          <p:nvPr/>
        </p:nvSpPr>
        <p:spPr>
          <a:xfrm>
            <a:off x="640080" y="4562856"/>
            <a:ext cx="438912" cy="438912"/>
          </a:xfrm>
          <a:prstGeom prst="ellipse">
            <a:avLst/>
          </a:prstGeom>
          <a:solidFill>
            <a:schemeClr val="accent1"/>
          </a:solidFill>
          <a:ln w="12700">
            <a:solidFill>
              <a:schemeClr val="accent1"/>
            </a:solidFill>
            <a:prstDash val="solid"/>
          </a:ln>
        </p:spPr>
      </p:sp>
      <p:sp>
        <p:nvSpPr>
          <p:cNvPr id="17" name="Text 14"/>
          <p:cNvSpPr txBox="1"/>
          <p:nvPr/>
        </p:nvSpPr>
        <p:spPr>
          <a:xfrm>
            <a:off x="640080" y="4562856"/>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8" name="Text 15"/>
          <p:cNvSpPr txBox="1"/>
          <p:nvPr/>
        </p:nvSpPr>
        <p:spPr>
          <a:xfrm>
            <a:off x="1280160" y="4471416"/>
            <a:ext cx="10332720" cy="658368"/>
          </a:xfrm>
          <a:prstGeom prst="rect">
            <a:avLst/>
          </a:prstGeom>
          <a:noFill/>
          <a:ln/>
        </p:spPr>
        <p:txBody>
          <a:bodyPr wrap="square" lIns="0" tIns="0" rIns="0" bIns="0" rtlCol="0" anchor="ctr"/>
          <a:lstStyle/>
          <a:p>
            <a:pPr indent="0" marL="0">
              <a:buNone/>
            </a:pPr>
            <a:r>
              <a:rPr lang="en-US" sz="1700" dirty="0">
                <a:solidFill>
                  <a:schemeClr val="tx1"/>
                </a:solidFill>
              </a:rPr>
              <a:t>Pick one row of the help/fail table and give a healthcare example of each column.</a:t>
            </a:r>
            <a:endParaRPr lang="en-US" sz="1700" dirty="0"/>
          </a:p>
        </p:txBody>
      </p:sp>
      <p:sp>
        <p:nvSpPr>
          <p:cNvPr id="19" name="Shape 16"/>
          <p:cNvSpPr/>
          <p:nvPr/>
        </p:nvSpPr>
        <p:spPr>
          <a:xfrm>
            <a:off x="640080" y="5349240"/>
            <a:ext cx="438912" cy="438912"/>
          </a:xfrm>
          <a:prstGeom prst="ellipse">
            <a:avLst/>
          </a:prstGeom>
          <a:solidFill>
            <a:schemeClr val="accent1"/>
          </a:solidFill>
          <a:ln w="12700">
            <a:solidFill>
              <a:schemeClr val="accent1"/>
            </a:solidFill>
            <a:prstDash val="solid"/>
          </a:ln>
        </p:spPr>
      </p:sp>
      <p:sp>
        <p:nvSpPr>
          <p:cNvPr id="20" name="Text 17"/>
          <p:cNvSpPr txBox="1"/>
          <p:nvPr/>
        </p:nvSpPr>
        <p:spPr>
          <a:xfrm>
            <a:off x="640080" y="534924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1" name="Text 18"/>
          <p:cNvSpPr txBox="1"/>
          <p:nvPr/>
        </p:nvSpPr>
        <p:spPr>
          <a:xfrm>
            <a:off x="1280160" y="5257800"/>
            <a:ext cx="10332720" cy="658368"/>
          </a:xfrm>
          <a:prstGeom prst="rect">
            <a:avLst/>
          </a:prstGeom>
          <a:noFill/>
          <a:ln/>
        </p:spPr>
        <p:txBody>
          <a:bodyPr wrap="square" lIns="0" tIns="0" rIns="0" bIns="0" rtlCol="0" anchor="ctr"/>
          <a:lstStyle/>
          <a:p>
            <a:pPr indent="0" marL="0">
              <a:buNone/>
            </a:pPr>
            <a:r>
              <a:rPr lang="en-US" sz="1700" dirty="0">
                <a:solidFill>
                  <a:schemeClr val="tx1"/>
                </a:solidFill>
              </a:rPr>
              <a:t>Why is a successful demo of an AI agent weak evidence that it is safe to use?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References</a:t>
            </a:r>
            <a:endParaRPr lang="en-US" sz="3200" dirty="0"/>
          </a:p>
        </p:txBody>
      </p:sp>
      <p:sp>
        <p:nvSpPr>
          <p:cNvPr id="4" name="Text 1"/>
          <p:cNvSpPr txBox="1"/>
          <p:nvPr/>
        </p:nvSpPr>
        <p:spPr>
          <a:xfrm>
            <a:off x="548640" y="1234440"/>
            <a:ext cx="11064240" cy="4983480"/>
          </a:xfrm>
          <a:prstGeom prst="rect">
            <a:avLst/>
          </a:prstGeom>
          <a:noFill/>
          <a:ln/>
        </p:spPr>
        <p:txBody>
          <a:bodyPr wrap="square" lIns="0" tIns="0" rIns="0" bIns="0" rtlCol="0" anchor="t"/>
          <a:lstStyle/>
          <a:p>
            <a:pPr marL="228600" indent="-228600">
              <a:spcAft>
                <a:spcPts val="800"/>
              </a:spcAft>
              <a:buSzPct val="100000"/>
              <a:buChar char="•"/>
            </a:pPr>
            <a:r>
              <a:rPr lang="en-US" sz="1250" dirty="0">
                <a:solidFill>
                  <a:schemeClr val="tx1"/>
                </a:solidFill>
              </a:rPr>
              <a:t>Wong A, et al. External validation of a widely implemented proprietary sepsis prediction model in hospitalized patients. JAMA Intern Med. 2021;181(8):1065–1070.</a:t>
            </a:r>
            <a:endParaRPr lang="en-US" sz="1250" dirty="0"/>
          </a:p>
          <a:p>
            <a:pPr marL="228600" indent="-228600">
              <a:spcAft>
                <a:spcPts val="800"/>
              </a:spcAft>
              <a:buSzPct val="100000"/>
              <a:buChar char="•"/>
            </a:pPr>
            <a:r>
              <a:rPr lang="en-US" sz="1250" dirty="0">
                <a:solidFill>
                  <a:schemeClr val="tx1"/>
                </a:solidFill>
              </a:rPr>
              <a:t>Abràmoff MD, et al. Pivotal trial of an autonomous AI-based diagnostic system for detection of diabetic retinopathy in primary care offices. npj Digit Med. 2018;1:39.</a:t>
            </a:r>
            <a:endParaRPr lang="en-US" sz="1250" dirty="0"/>
          </a:p>
          <a:p>
            <a:pPr marL="228600" indent="-228600">
              <a:spcAft>
                <a:spcPts val="800"/>
              </a:spcAft>
              <a:buSzPct val="100000"/>
              <a:buChar char="•"/>
            </a:pPr>
            <a:r>
              <a:rPr lang="en-US" sz="1250" dirty="0">
                <a:solidFill>
                  <a:schemeClr val="tx1"/>
                </a:solidFill>
              </a:rPr>
              <a:t>US FDA. FDA permits marketing of artificial intelligence-based device to detect certain diabetes-related eye problems. News release, 11 April 2018.</a:t>
            </a:r>
            <a:endParaRPr lang="en-US" sz="1250" dirty="0"/>
          </a:p>
          <a:p>
            <a:pPr marL="228600" indent="-228600">
              <a:spcAft>
                <a:spcPts val="800"/>
              </a:spcAft>
              <a:buSzPct val="100000"/>
              <a:buChar char="•"/>
            </a:pPr>
            <a:r>
              <a:rPr lang="en-US" sz="1250" dirty="0">
                <a:solidFill>
                  <a:schemeClr val="tx1"/>
                </a:solidFill>
              </a:rPr>
              <a:t>Beede E, et al. A human-centered evaluation of a deep learning system deployed in clinics for the detection of diabetic retinopathy. CHI 2020.</a:t>
            </a:r>
            <a:endParaRPr lang="en-US" sz="1250" dirty="0"/>
          </a:p>
          <a:p>
            <a:pPr marL="228600" indent="-228600">
              <a:spcAft>
                <a:spcPts val="800"/>
              </a:spcAft>
              <a:buSzPct val="100000"/>
              <a:buChar char="•"/>
            </a:pPr>
            <a:r>
              <a:rPr lang="en-US" sz="1250" dirty="0">
                <a:solidFill>
                  <a:schemeClr val="tx1"/>
                </a:solidFill>
              </a:rPr>
              <a:t>Beede E. Healthcare AI systems that put people at the center. Google, The Keyword blog, 25 April 2020.</a:t>
            </a:r>
            <a:endParaRPr lang="en-US" sz="1250" dirty="0"/>
          </a:p>
          <a:p>
            <a:pPr marL="228600" indent="-228600">
              <a:spcAft>
                <a:spcPts val="800"/>
              </a:spcAft>
              <a:buSzPct val="100000"/>
              <a:buChar char="•"/>
            </a:pPr>
            <a:r>
              <a:rPr lang="en-US" sz="1250" dirty="0">
                <a:solidFill>
                  <a:schemeClr val="tx1"/>
                </a:solidFill>
              </a:rPr>
              <a:t>Okolo CT. AI in the “real world”: examining the impact of AI deployment in low-resource contexts. arXiv:2012.01165; 2020.</a:t>
            </a:r>
            <a:endParaRPr lang="en-US" sz="1250" dirty="0"/>
          </a:p>
          <a:p>
            <a:pPr marL="228600" indent="-228600">
              <a:spcAft>
                <a:spcPts val="800"/>
              </a:spcAft>
              <a:buSzPct val="100000"/>
              <a:buChar char="•"/>
            </a:pPr>
            <a:r>
              <a:rPr lang="en-US" sz="1250" dirty="0">
                <a:solidFill>
                  <a:schemeClr val="tx1"/>
                </a:solidFill>
              </a:rPr>
              <a:t>Ross C, Swetlitz I. IBM's Watson supercomputer recommended “unsafe and incorrect” cancer treatments, internal documents show. STAT News, 25 July 2018.</a:t>
            </a:r>
            <a:endParaRPr lang="en-US" sz="1250" dirty="0"/>
          </a:p>
          <a:p>
            <a:pPr marL="228600" indent="-228600">
              <a:spcAft>
                <a:spcPts val="800"/>
              </a:spcAft>
              <a:buSzPct val="100000"/>
              <a:buChar char="•"/>
            </a:pPr>
            <a:r>
              <a:rPr lang="en-US" sz="1250" dirty="0">
                <a:solidFill>
                  <a:schemeClr val="tx1"/>
                </a:solidFill>
              </a:rPr>
              <a:t>Healthcare IT News. IBM to sell Watson Health assets to Francisco Partners. January 2022.</a:t>
            </a:r>
            <a:endParaRPr lang="en-US" sz="1250" dirty="0"/>
          </a:p>
          <a:p>
            <a:pPr marL="228600" indent="-228600">
              <a:spcAft>
                <a:spcPts val="800"/>
              </a:spcAft>
              <a:buSzPct val="100000"/>
              <a:buChar char="•"/>
            </a:pPr>
            <a:r>
              <a:rPr lang="en-US" sz="1250" dirty="0">
                <a:solidFill>
                  <a:schemeClr val="tx1"/>
                </a:solidFill>
              </a:rPr>
              <a:t>Nagendran M, et al. Artificial intelligence versus clinicians: systematic review of design, reporting standards, and claims of deep learning studies. BMJ. 2020;368:m689.</a:t>
            </a:r>
            <a:endParaRPr lang="en-US" sz="1250" dirty="0"/>
          </a:p>
          <a:p>
            <a:pPr marL="228600" indent="-228600">
              <a:spcAft>
                <a:spcPts val="800"/>
              </a:spcAft>
              <a:buSzPct val="100000"/>
              <a:buChar char="•"/>
            </a:pPr>
            <a:r>
              <a:rPr lang="en-US" sz="1250" dirty="0">
                <a:solidFill>
                  <a:schemeClr val="tx1"/>
                </a:solidFill>
              </a:rPr>
              <a:t>Plana D, et al. Randomized clinical trials of machine learning interventions in health care: a systematic review. JAMA Netw Open. 2022;5(9):e2233946.</a:t>
            </a:r>
            <a:endParaRPr lang="en-US" sz="1250" dirty="0"/>
          </a:p>
          <a:p>
            <a:pPr marL="228600" indent="-228600">
              <a:spcAft>
                <a:spcPts val="800"/>
              </a:spcAft>
              <a:buSzPct val="100000"/>
              <a:buChar char="•"/>
            </a:pPr>
            <a:r>
              <a:rPr lang="en-US" sz="1250" dirty="0">
                <a:solidFill>
                  <a:schemeClr val="tx1"/>
                </a:solidFill>
              </a:rPr>
              <a:t>World Health Organization. WHO consolidated guidelines on tuberculosis. Module 2: Screening. Geneva: WHO; 2021.</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Hype versus Hope">
      <a:dk1>
        <a:srgbClr val="1E2A33"/>
      </a:dk1>
      <a:lt1>
        <a:srgbClr val="FFFFFF"/>
      </a:lt1>
      <a:dk2>
        <a:srgbClr val="5F6B7A"/>
      </a:dk2>
      <a:lt2>
        <a:srgbClr val="EEF2F4"/>
      </a:lt2>
      <a:accent1>
        <a:srgbClr val="17717A"/>
      </a:accent1>
      <a:accent2>
        <a:srgbClr val="E0A93B"/>
      </a:accent2>
      <a:accent3>
        <a:srgbClr val="B4443C"/>
      </a:accent3>
      <a:accent4>
        <a:srgbClr val="3E7CB1"/>
      </a:accent4>
      <a:accent5>
        <a:srgbClr val="E3F1F0"/>
      </a:accent5>
      <a:accent6>
        <a:srgbClr val="F8E3E0"/>
      </a:accent6>
      <a:hlink>
        <a:srgbClr val="17717A"/>
      </a:hlink>
      <a:folHlink>
        <a:srgbClr val="6B46C1"/>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Hype versus Hope</dc:title>
  <dc:subject>PptxGenJS Presentation</dc:subject>
  <dc:creator>AI in Healthcare, Bennett University</dc:creator>
  <cp:lastModifiedBy>AI in Healthcare, Bennett University</cp:lastModifiedBy>
  <cp:revision>1</cp:revision>
  <dcterms:created xsi:type="dcterms:W3CDTF">2026-10-29T07:06:13Z</dcterms:created>
  <dcterms:modified xsi:type="dcterms:W3CDTF">2026-10-29T07:06:13Z</dcterms:modified>
</cp:coreProperties>
</file>